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group developed a browser-based prototype for patient records and a simulated urine-test workflow. The working title is editable. The website itself is branded UroScan AI, but this version does not contain a trained AI model.</a:t>
            </a:r>
          </a:p>
          <a:p>
            <a:endParaRPr/>
          </a:p>
          <a:p>
            <a:r>
              <a:t>Source evidence: Project HTML titles and prior recorded user details. Screenshots are actual local browser captures from the provided source, using synthetic demonstration records where patient information is shown. No clinical accuracy is claimed.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project demonstrates how a laboratory-style website can keep a patient record connected to a test and its report. The motivation is an organized workflow, not a proven improvement in medical outcomes. Intended users represented by the interface include laboratory staff and pathologists.</a:t>
            </a:r>
          </a:p>
          <a:p>
            <a:endParaRPr/>
          </a:p>
          <a:p>
            <a:r>
              <a:t>Source evidence: home.html; patients.html; new-test.html; reports.html. Screenshots are actual local browser captures from the provided source, using synthetic demonstration records where patient information is shown. No clinical accuracy is claimed.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these as objectives demonstrated by the delivered website. Patients and reports persist in the same browser. The diagnostic result is generated from fixed sample values, not measured from a urine strip. Accounts provide a local sign-in demonstration without secure server-side authentication.</a:t>
            </a:r>
          </a:p>
          <a:p>
            <a:endParaRPr/>
          </a:p>
          <a:p>
            <a:r>
              <a:t>Source evidence: js/app.js; js/patients.js; js/mockData.js; test-processing.html. Screenshots are actual local browser captures from the provided source, using synthetic demonstration records where patient information is shown. No clinical accuracy is claimed.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HTML creates page structure. CSS supplies appearance and layout. JavaScript controls behaviour, with jQuery helping events and page updates. Chart.js draws charts. Font Awesome supplies icons. JSON converts JavaScript objects to text for localStorage. External links deliver libraries, not patient data.</a:t>
            </a:r>
          </a:p>
          <a:p>
            <a:endParaRPr/>
          </a:p>
          <a:p>
            <a:r>
              <a:t>Source evidence: All HTML dependency tags; css/style.css; all ten js files. Screenshots are actual local browser captures from the provided source, using synthetic demonstration records where patient information is shown. No clinical accuracy is claimed.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Everything shown inside the browser runs on the user’s computer. Separate HTML pages load shared scripts. Those scripts read and write JSON strings in localStorage. Links pass patient and test IDs in the URL. Reports are built in the browser as HTML. A local HTTP server used during testing only served static files and is not a project backend.</a:t>
            </a:r>
          </a:p>
          <a:p>
            <a:endParaRPr/>
          </a:p>
          <a:p>
            <a:r>
              <a:t>Source evidence: js/app.js; js/mockData.js; js/test.js; js/results.js; js/reports.js. Screenshots are actual local browser captures from the provided source, using synthetic demonstration records where patient information is shown. No clinical accuracy is claimed.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Sign in or register a local account, create or choose a patient, and start the simulation. Processing saves a test and matching report before review. Results display the saved values. Submitting notes updates both test and report, but the current dropdown integration always saves Approved. The report can then be viewed and exported.</a:t>
            </a:r>
          </a:p>
          <a:p>
            <a:endParaRPr/>
          </a:p>
          <a:p>
            <a:r>
              <a:t>Source evidence: index.html inline script; js/test.js; test-processing.html inline script; js/mockData.js: saveTest and updateTestReview. Screenshots are actual local browser captures from the provided source, using synthetic demonstration records where patient information is shown. No clinical accuracy is claimed.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Home describes the proposed platform and its concept. The sidebar links to the main modules. The dashboard recent-test table reads stored tests and its status filter worked in the earlier browser check. The cropped screenshot shows fixed summary cards only, avoiding uncertain seeded patient identities. The numbers are illustrative and are not measured project results.</a:t>
            </a:r>
          </a:p>
          <a:p>
            <a:endParaRPr/>
          </a:p>
          <a:p>
            <a:r>
              <a:t>Source evidence: home.html; dashboard.html; js/dashboard.js; previous browser audit. Screenshots are actual local browser captures from the provided source, using synthetic demonstration records where patient information is shown. No clinical accuracy is claimed.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synthetic patient called Demo Patient A was created through the actual registration form. The earlier browser check confirmed that the patient remained after reloading. Search finds patient names and IDs, and Profile/Test links pass the selected patient to other pages. Profiles show saved history. An empty profile currently displays sample trend data, which is a limitation.</a:t>
            </a:r>
          </a:p>
          <a:p>
            <a:endParaRPr/>
          </a:p>
          <a:p>
            <a:r>
              <a:t>Source evidence: patients.html; js/patients.js; js/patient-profile.js; previous browser audit. Screenshots are actual local browser captures from the provided source, using synthetic demonstration records where patient information is shown. No clinical accuracy is claimed.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selected patient is carried to new-test.html through a URL parameter. Clicking Start Test stores current-test metadata. Processing advances by 4 percent every 350 milliseconds and then saves constant results. Its countdown labels describe a 120-second concept, but the code runs a much shorter simulation. No camera image is captured.</a:t>
            </a:r>
          </a:p>
          <a:p>
            <a:endParaRPr/>
          </a:p>
          <a:p>
            <a:r>
              <a:t>Source evidence: js/test.js; test-processing.html:103–186; previous browser audit. Screenshots are actual local browser captures from the provided source, using synthetic demonstration records where patient information is shown. No clinical accuracy is claimed.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result page shows ten stored analytes including glucose, protein, pH and specific gravity. Each new simulated test has the same values and 94 percent confidence, so this number is a preset label rather than measured AI accuracy. The screenshot is a cropped extract. The review dropdown offers options, but the JavaScript reads a missing button group and defaults to Approved. Notes do persist.</a:t>
            </a:r>
          </a:p>
          <a:p>
            <a:endParaRPr/>
          </a:p>
          <a:p>
            <a:r>
              <a:t>Source evidence: results.html; js/results.js; test-processing.html generatedTest; runtime check of Request Retest. Screenshots are actual local browser captures from the provided source, using synthetic demonstration records where patient information is shown. No clinical accuracy is claimed.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saveTest creates a matching report in localStorage. The archive can search by patient, test or report identifiers. The screenshot shows a synthetic report extract. Save File generates an HTML document, and Print Report invokes browser printing. Earlier checks confirmed HTML generation and a later isolated download, but no medical validation or full print-output verification is claimed.</a:t>
            </a:r>
          </a:p>
          <a:p>
            <a:endParaRPr/>
          </a:p>
          <a:p>
            <a:r>
              <a:t>Source evidence: js/mockData.js: saveTest, saveReport, downloadReportFile; js/reports.js; earlier runtime observations. Screenshots are actual local browser captures from the provided source, using synthetic demonstration records where patient information is shown. No clinical accuracy is claimed.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Analytics calculates some counts from stored tests, but most plotted series are hardcoded. The range selection slices a number of records instead of filtering dates. Missing chart canvases produced errors in browser checks. Device buttons only wait and change text, with no camera or Raspberry Pi connection. Do not present the graph or device labels as live measurements.</a:t>
            </a:r>
          </a:p>
          <a:p>
            <a:endParaRPr/>
          </a:p>
          <a:p>
            <a:r>
              <a:t>Source evidence: js/analytics.js; analytics.html; device.html; js/device.js; earlier runtime errors. Screenshots are actual local browser captures from the provided source, using synthetic demonstration records where patient information is shown. No clinical accuracy is claimed.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strongest implementation is the connected local workflow. These observations come from the previous browser checks and source review. Do not call this a complete automated test suite or clinical validation. Syntax checks covered ten standalone JavaScript files and two embedded scripts. The review defect and analytics errors were observed, not hypothetical.</a:t>
            </a:r>
          </a:p>
          <a:p>
            <a:endParaRPr/>
          </a:p>
          <a:p>
            <a:r>
              <a:t>Source evidence: js/app.js; js/mockData.js; previous js-check-results.json; runtime/partial-results.json; runtime/remaining-results.json; runtime-followup/observations.json. Screenshots are actual local browser captures from the provided source, using synthetic demonstration records where patient information is shown. No clinical accuracy is claimed.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next step should first repair the current frontend defects. For real deployment, the system would need server-side authentication, permission checks, a database and safer data handling. Hardware integration and validated diagnostic models would be separate future engineering work. None of those components are delivered in this ZIP.</a:t>
            </a:r>
          </a:p>
          <a:p>
            <a:endParaRPr/>
          </a:p>
          <a:p>
            <a:r>
              <a:t>Source evidence: Verified source limitations in js/app.js, js/test.js, js/results.js, js/analytics.js, js/patient-profile.js. Screenshots are actual local browser captures from the provided source, using synthetic demonstration records where patient information is shown. No clinical accuracy is claimed.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group built a frontend prototype that connects patient registration, a simulated urine-test journey and local reporting. Its educational value is demonstrating navigation, events, record relationships and browser persistence. The delivered version uses preset diagnostic values. I can explain the group’s work without claiming that I personally implemented every feature.</a:t>
            </a:r>
          </a:p>
          <a:p>
            <a:endParaRPr/>
          </a:p>
          <a:p>
            <a:r>
              <a:t>Source evidence: Healthcare_grp_3-main.zip; all inspected HTML/CSS/JavaScript; earlier runtime audit; HIS reference used only for presentation structure. Screenshots are actual local browser captures from the provided source, using synthetic demonstration records where patient information is shown. No clinical accuracy is claimed.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1ED29CF4-9CC7-4B2E-9391-F6CB77ACE7A0}"/>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Subtitle">
            <a:extLst>
              <a:ext uri="{FF2B5EF4-FFF2-40B4-BE49-F238E27FC236}">
                <a16:creationId xmlns:a16="http://schemas.microsoft.com/office/drawing/2014/main" id="{5730394D-0DB9-4DD3-B802-D1721B68F82C}"/>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022CC248-6824-4C1C-9145-AE80F85496C9}"/>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EA5AAFE6-539B-4962-A6A6-0B04E54C1E68}"/>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Body">
            <a:extLst>
              <a:ext uri="{FF2B5EF4-FFF2-40B4-BE49-F238E27FC236}">
                <a16:creationId xmlns:a16="http://schemas.microsoft.com/office/drawing/2014/main" id="{1A80A7C7-01B8-46E4-9B6B-18E4114A311D}"/>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81BC50FC-0DC3-470A-95AE-864B022E375C}"/>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Left column">
            <a:extLst>
              <a:ext uri="{FF2B5EF4-FFF2-40B4-BE49-F238E27FC236}">
                <a16:creationId xmlns:a16="http://schemas.microsoft.com/office/drawing/2014/main" id="{A18A4D73-0A45-4DD9-B9ED-5EFBD26281DB}"/>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
        <p:nvSpPr>
          <p:cNvPr id="3" name="Right column">
            <a:extLst>
              <a:ext uri="{FF2B5EF4-FFF2-40B4-BE49-F238E27FC236}">
                <a16:creationId xmlns:a16="http://schemas.microsoft.com/office/drawing/2014/main" id="{A6CF15CD-C817-42F2-B08C-40687A105BC5}"/>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76B6F409-91FB-47FE-9CAD-DE05D2046036}"/>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2" name="Left column">
            <a:extLst>
              <a:ext uri="{FF2B5EF4-FFF2-40B4-BE49-F238E27FC236}">
                <a16:creationId xmlns:a16="http://schemas.microsoft.com/office/drawing/2014/main" id="{F341DDDA-8734-4A52-98A3-0814EFEA0E10}"/>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6.xml"/><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hyperlink" Target="https://github.com/Asmit-64bit/Healthcare_grp_3"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26479246-420D-4E41-984F-C0F914B174EB}"/>
              </a:ext>
            </a:extLst>
          </p:cNvPr>
          <p:cNvPicPr>
            <a:picLocks noChangeAspect="1"/>
          </p:cNvPicPr>
          <p:nvPr/>
        </p:nvPicPr>
        <p:blipFill>
          <a:blip r:embed="rId3"/>
          <a:stretch/>
        </p:blipFill>
        <p:spPr>
          <a:xfrm>
            <a:off x="0" y="0"/>
            <a:ext cx="12192000" cy="6858000"/>
          </a:xfrm>
          <a:prstGeom prst="rect">
            <a:avLst/>
          </a:prstGeom>
        </p:spPr>
      </p:pic>
      <p:sp>
        <p:nvSpPr>
          <p:cNvPr id="17" name="Rectangle: Rounded Corners 16">
            <a:extLst>
              <a:ext uri="{FF2B5EF4-FFF2-40B4-BE49-F238E27FC236}">
                <a16:creationId xmlns:a16="http://schemas.microsoft.com/office/drawing/2014/main" id="{FE8A4F1A-2B37-43D8-BC98-AA89EF97A4AB}"/>
              </a:ext>
            </a:extLst>
          </p:cNvPr>
          <p:cNvSpPr>
            <a:spLocks noGrp="1"/>
          </p:cNvSpPr>
          <p:nvPr/>
        </p:nvSpPr>
        <p:spPr>
          <a:xfrm>
            <a:off x="7981950" y="4648200"/>
            <a:ext cx="3181350" cy="1009650"/>
          </a:xfrm>
          <a:prstGeom prst="roundRect">
            <a:avLst>
              <a:gd name="adj" fmla="val 9434"/>
            </a:avLst>
          </a:prstGeom>
          <a:solidFill>
            <a:srgbClr val="FFFFFF"/>
          </a:solidFill>
          <a:ln w="9525">
            <a:solidFill>
              <a:srgbClr val="E2E8F0"/>
            </a:solidFill>
          </a:ln>
        </p:spPr>
        <p:style>
          <a:lnRef idx="0">
            <a:scrgbClr r="0" g="0" b="0"/>
          </a:lnRef>
          <a:fillRef idx="0">
            <a:scrgbClr r="0" g="0" b="0"/>
          </a:fillRef>
          <a:effectRef idx="4">
            <a:scrgbClr r="0" g="0" b="0"/>
          </a:effectRef>
          <a:fontRef idx="major"/>
        </p:style>
      </p:sp>
      <p:sp>
        <p:nvSpPr>
          <p:cNvPr id="16" name="Rectangle: Rounded Corners 15">
            <a:extLst>
              <a:ext uri="{FF2B5EF4-FFF2-40B4-BE49-F238E27FC236}">
                <a16:creationId xmlns:a16="http://schemas.microsoft.com/office/drawing/2014/main" id="{F30BDFBB-9768-4904-BA6E-E655406DCD30}"/>
              </a:ext>
            </a:extLst>
          </p:cNvPr>
          <p:cNvSpPr>
            <a:spLocks noGrp="1"/>
          </p:cNvSpPr>
          <p:nvPr/>
        </p:nvSpPr>
        <p:spPr>
          <a:xfrm>
            <a:off x="4495800" y="4648200"/>
            <a:ext cx="3181350" cy="1009650"/>
          </a:xfrm>
          <a:prstGeom prst="roundRect">
            <a:avLst>
              <a:gd name="adj" fmla="val 9434"/>
            </a:avLst>
          </a:prstGeom>
          <a:solidFill>
            <a:srgbClr val="FFFFFF"/>
          </a:solidFill>
          <a:ln w="9525">
            <a:solidFill>
              <a:srgbClr val="E2E8F0"/>
            </a:solidFill>
          </a:ln>
        </p:spPr>
        <p:style>
          <a:lnRef idx="0">
            <a:scrgbClr r="0" g="0" b="0"/>
          </a:lnRef>
          <a:fillRef idx="0">
            <a:scrgbClr r="0" g="0" b="0"/>
          </a:fillRef>
          <a:effectRef idx="4">
            <a:scrgbClr r="0" g="0" b="0"/>
          </a:effectRef>
          <a:fontRef idx="major"/>
        </p:style>
      </p:sp>
      <p:sp>
        <p:nvSpPr>
          <p:cNvPr id="15" name="Rectangle: Rounded Corners 14">
            <a:extLst>
              <a:ext uri="{FF2B5EF4-FFF2-40B4-BE49-F238E27FC236}">
                <a16:creationId xmlns:a16="http://schemas.microsoft.com/office/drawing/2014/main" id="{C08732F5-11EB-46F3-A6B1-20BBDE97046D}"/>
              </a:ext>
            </a:extLst>
          </p:cNvPr>
          <p:cNvSpPr>
            <a:spLocks noGrp="1"/>
          </p:cNvSpPr>
          <p:nvPr/>
        </p:nvSpPr>
        <p:spPr>
          <a:xfrm>
            <a:off x="1009650" y="4648200"/>
            <a:ext cx="3181350" cy="1009650"/>
          </a:xfrm>
          <a:prstGeom prst="roundRect">
            <a:avLst>
              <a:gd name="adj" fmla="val 9434"/>
            </a:avLst>
          </a:prstGeom>
          <a:solidFill>
            <a:srgbClr val="FFFFFF"/>
          </a:solidFill>
          <a:ln w="9525">
            <a:solidFill>
              <a:srgbClr val="E2E8F0"/>
            </a:solidFill>
          </a:ln>
        </p:spPr>
        <p:style>
          <a:lnRef idx="0">
            <a:scrgbClr r="0" g="0" b="0"/>
          </a:lnRef>
          <a:fillRef idx="0">
            <a:scrgbClr r="0" g="0" b="0"/>
          </a:fillRef>
          <a:effectRef idx="4">
            <a:scrgbClr r="0" g="0" b="0"/>
          </a:effectRef>
          <a:fontRef idx="major"/>
        </p:style>
      </p:sp>
      <p:sp>
        <p:nvSpPr>
          <p:cNvPr id="2" name="Rectangle 1">
            <a:extLst>
              <a:ext uri="{FF2B5EF4-FFF2-40B4-BE49-F238E27FC236}">
                <a16:creationId xmlns:a16="http://schemas.microsoft.com/office/drawing/2014/main" id="{F50A9AFF-2CD2-45DC-B45D-BB84D235946B}"/>
              </a:ext>
            </a:extLst>
          </p:cNvPr>
          <p:cNvSpPr>
            <a:spLocks noGrp="1"/>
          </p:cNvSpPr>
          <p:nvPr/>
        </p:nvSpPr>
        <p:spPr>
          <a:xfrm>
            <a:off x="1009650" y="6086475"/>
            <a:ext cx="9048750" cy="209550"/>
          </a:xfrm>
          <a:prstGeom prst="rect">
            <a:avLst/>
          </a:prstGeom>
          <a:noFill/>
          <a:ln w="0">
            <a:noFill/>
          </a:ln>
        </p:spPr>
        <p:txBody>
          <a:bodyPr lIns="0" tIns="0" rIns="0" bIns="0" anchor="t"/>
          <a:lstStyle>
            <a:defPPr>
              <a:defRPr sz="1050" b="0">
                <a:solidFill>
                  <a:srgbClr val="64748B"/>
                </a:solidFill>
                <a:latin typeface="Calibri"/>
                <a:ea typeface="Calibri"/>
                <a:cs typeface="Calibri"/>
              </a:defRPr>
            </a:defPPr>
          </a:lstStyle>
          <a:p>
            <a:pPr>
              <a:buNone/>
              <a:defRPr sz="1050" b="0">
                <a:solidFill>
                  <a:srgbClr val="64748B"/>
                </a:solidFill>
                <a:latin typeface="Calibri"/>
                <a:ea typeface="Calibri"/>
                <a:cs typeface="Calibri"/>
              </a:defRPr>
            </a:pPr>
            <a:r>
              <a:rPr sz="1050" b="0" dirty="0" err="1">
                <a:solidFill>
                  <a:srgbClr val="64748B"/>
                </a:solidFill>
                <a:latin typeface="Calibri"/>
                <a:ea typeface="Calibri"/>
                <a:cs typeface="Calibri"/>
              </a:rPr>
              <a:t>UroScan</a:t>
            </a:r>
            <a:r>
              <a:rPr sz="1050" b="0" dirty="0">
                <a:solidFill>
                  <a:srgbClr val="64748B"/>
                </a:solidFill>
                <a:latin typeface="Calibri"/>
                <a:ea typeface="Calibri"/>
                <a:cs typeface="Calibri"/>
              </a:rPr>
              <a:t> AI  /  </a:t>
            </a:r>
            <a:r>
              <a:rPr lang="en-US" sz="1050" dirty="0">
                <a:solidFill>
                  <a:srgbClr val="64748B"/>
                </a:solidFill>
                <a:latin typeface="Calibri"/>
                <a:ea typeface="Calibri"/>
                <a:cs typeface="Calibri"/>
              </a:rPr>
              <a:t>Healthcare Group 3</a:t>
            </a:r>
            <a:endParaRPr sz="1050" b="0" dirty="0">
              <a:solidFill>
                <a:srgbClr val="64748B"/>
              </a:solidFill>
              <a:latin typeface="Calibri"/>
              <a:ea typeface="Calibri"/>
              <a:cs typeface="Calibri"/>
            </a:endParaRPr>
          </a:p>
        </p:txBody>
      </p:sp>
      <p:sp>
        <p:nvSpPr>
          <p:cNvPr id="3" name="Rectangle 2">
            <a:extLst>
              <a:ext uri="{FF2B5EF4-FFF2-40B4-BE49-F238E27FC236}">
                <a16:creationId xmlns:a16="http://schemas.microsoft.com/office/drawing/2014/main" id="{C2649857-CE58-47D6-A2BA-B6CFBE8CD511}"/>
              </a:ext>
            </a:extLst>
          </p:cNvPr>
          <p:cNvSpPr>
            <a:spLocks noGrp="1"/>
          </p:cNvSpPr>
          <p:nvPr/>
        </p:nvSpPr>
        <p:spPr>
          <a:xfrm>
            <a:off x="10810875" y="6086475"/>
            <a:ext cx="361950" cy="209550"/>
          </a:xfrm>
          <a:prstGeom prst="rect">
            <a:avLst/>
          </a:prstGeom>
          <a:noFill/>
          <a:ln w="0">
            <a:noFill/>
          </a:ln>
        </p:spPr>
        <p:txBody>
          <a:bodyPr lIns="0" tIns="0" rIns="0" bIns="0" anchor="t"/>
          <a:lstStyle>
            <a:defPPr>
              <a:defRPr sz="1200" b="1">
                <a:solidFill>
                  <a:srgbClr val="A32530"/>
                </a:solidFill>
                <a:latin typeface="Calibri"/>
                <a:ea typeface="Calibri"/>
                <a:cs typeface="Calibri"/>
              </a:defRPr>
            </a:defPPr>
          </a:lstStyle>
          <a:p>
            <a:pPr>
              <a:buNone/>
              <a:defRPr sz="1200" b="1">
                <a:solidFill>
                  <a:srgbClr val="A32530"/>
                </a:solidFill>
                <a:latin typeface="Calibri"/>
                <a:ea typeface="Calibri"/>
                <a:cs typeface="Calibri"/>
              </a:defRPr>
            </a:pPr>
            <a:r>
              <a:rPr sz="1200" b="1">
                <a:solidFill>
                  <a:srgbClr val="A32530"/>
                </a:solidFill>
                <a:latin typeface="Calibri"/>
                <a:ea typeface="Calibri"/>
                <a:cs typeface="Calibri"/>
              </a:rPr>
              <a:t>01</a:t>
            </a:r>
          </a:p>
        </p:txBody>
      </p:sp>
      <p:sp>
        <p:nvSpPr>
          <p:cNvPr id="4" name="Rectangle 3">
            <a:extLst>
              <a:ext uri="{FF2B5EF4-FFF2-40B4-BE49-F238E27FC236}">
                <a16:creationId xmlns:a16="http://schemas.microsoft.com/office/drawing/2014/main" id="{14749314-46F6-40C0-AD00-4F5D98FCD4FC}"/>
              </a:ext>
            </a:extLst>
          </p:cNvPr>
          <p:cNvSpPr>
            <a:spLocks noGrp="1"/>
          </p:cNvSpPr>
          <p:nvPr/>
        </p:nvSpPr>
        <p:spPr>
          <a:xfrm>
            <a:off x="1009650" y="1171575"/>
            <a:ext cx="10153650" cy="266700"/>
          </a:xfrm>
          <a:prstGeom prst="rect">
            <a:avLst/>
          </a:prstGeom>
          <a:noFill/>
          <a:ln w="0">
            <a:noFill/>
          </a:ln>
        </p:spPr>
        <p:txBody>
          <a:bodyPr lIns="0" tIns="0" rIns="0" bIns="0" anchor="t"/>
          <a:lstStyle>
            <a:defPPr>
              <a:defRPr sz="1500" b="1">
                <a:solidFill>
                  <a:srgbClr val="64748B"/>
                </a:solidFill>
                <a:latin typeface="Calibri"/>
                <a:ea typeface="Calibri"/>
                <a:cs typeface="Calibri"/>
              </a:defRPr>
            </a:defPPr>
          </a:lstStyle>
          <a:p>
            <a:pPr>
              <a:buNone/>
              <a:defRPr sz="1500" b="1">
                <a:solidFill>
                  <a:srgbClr val="64748B"/>
                </a:solidFill>
                <a:latin typeface="Calibri"/>
                <a:ea typeface="Calibri"/>
                <a:cs typeface="Calibri"/>
              </a:defRPr>
            </a:pPr>
            <a:r>
              <a:rPr sz="1500" b="1">
                <a:solidFill>
                  <a:srgbClr val="64748B"/>
                </a:solidFill>
                <a:latin typeface="Calibri"/>
                <a:ea typeface="Calibri"/>
                <a:cs typeface="Calibri"/>
              </a:rPr>
              <a:t>K.J. Somaiya School of Engineering</a:t>
            </a:r>
          </a:p>
        </p:txBody>
      </p:sp>
      <p:sp>
        <p:nvSpPr>
          <p:cNvPr id="5" name="Rectangle 4">
            <a:extLst>
              <a:ext uri="{FF2B5EF4-FFF2-40B4-BE49-F238E27FC236}">
                <a16:creationId xmlns:a16="http://schemas.microsoft.com/office/drawing/2014/main" id="{4632D091-ECD4-4D47-A304-D39E02587914}"/>
              </a:ext>
            </a:extLst>
          </p:cNvPr>
          <p:cNvSpPr>
            <a:spLocks noGrp="1"/>
          </p:cNvSpPr>
          <p:nvPr/>
        </p:nvSpPr>
        <p:spPr>
          <a:xfrm>
            <a:off x="1009650" y="3962400"/>
            <a:ext cx="10153650" cy="323850"/>
          </a:xfrm>
          <a:prstGeom prst="rect">
            <a:avLst/>
          </a:prstGeom>
          <a:noFill/>
          <a:ln w="0">
            <a:noFill/>
          </a:ln>
        </p:spPr>
        <p:txBody>
          <a:bodyPr lIns="0" tIns="0" rIns="0" bIns="0" anchor="t"/>
          <a:lstStyle>
            <a:defPPr>
              <a:defRPr sz="1650" b="0">
                <a:solidFill>
                  <a:srgbClr val="64748B"/>
                </a:solidFill>
                <a:latin typeface="Calibri"/>
                <a:ea typeface="Calibri"/>
                <a:cs typeface="Calibri"/>
              </a:defRPr>
            </a:defPPr>
          </a:lstStyle>
          <a:p>
            <a:pPr>
              <a:buNone/>
              <a:defRPr sz="1650" b="0">
                <a:solidFill>
                  <a:srgbClr val="64748B"/>
                </a:solidFill>
                <a:latin typeface="Calibri"/>
                <a:ea typeface="Calibri"/>
                <a:cs typeface="Calibri"/>
              </a:defRPr>
            </a:pPr>
            <a:r>
              <a:rPr sz="1650" b="0">
                <a:solidFill>
                  <a:srgbClr val="64748B"/>
                </a:solidFill>
                <a:latin typeface="Calibri"/>
                <a:ea typeface="Calibri"/>
                <a:cs typeface="Calibri"/>
              </a:rPr>
              <a:t>Computer Engineering  /  Second-year B.Tech Mini-project</a:t>
            </a:r>
          </a:p>
        </p:txBody>
      </p:sp>
      <p:sp>
        <p:nvSpPr>
          <p:cNvPr id="6" name="Rectangle 5">
            <a:extLst>
              <a:ext uri="{FF2B5EF4-FFF2-40B4-BE49-F238E27FC236}">
                <a16:creationId xmlns:a16="http://schemas.microsoft.com/office/drawing/2014/main" id="{B1053E02-D8CE-4617-884B-4FEA65BB2F4F}"/>
              </a:ext>
            </a:extLst>
          </p:cNvPr>
          <p:cNvSpPr>
            <a:spLocks noGrp="1"/>
          </p:cNvSpPr>
          <p:nvPr/>
        </p:nvSpPr>
        <p:spPr>
          <a:xfrm>
            <a:off x="1009650" y="1552575"/>
            <a:ext cx="10153650" cy="1323975"/>
          </a:xfrm>
          <a:prstGeom prst="rect">
            <a:avLst/>
          </a:prstGeom>
          <a:noFill/>
          <a:ln w="0">
            <a:noFill/>
          </a:ln>
        </p:spPr>
        <p:txBody>
          <a:bodyPr lIns="0" tIns="0" rIns="0" bIns="0" anchor="t"/>
          <a:lstStyle>
            <a:defPPr>
              <a:defRPr sz="4200" b="1">
                <a:solidFill>
                  <a:srgbClr val="A32530"/>
                </a:solidFill>
                <a:latin typeface="Cambria"/>
                <a:ea typeface="Cambria"/>
                <a:cs typeface="Cambria"/>
              </a:defRPr>
            </a:defPPr>
          </a:lstStyle>
          <a:p>
            <a:pPr>
              <a:buNone/>
              <a:defRPr sz="4200" b="1">
                <a:solidFill>
                  <a:srgbClr val="A32530"/>
                </a:solidFill>
                <a:latin typeface="Cambria"/>
                <a:ea typeface="Cambria"/>
                <a:cs typeface="Cambria"/>
              </a:defRPr>
            </a:pPr>
            <a:r>
              <a:rPr sz="4200" b="1">
                <a:solidFill>
                  <a:srgbClr val="A32530"/>
                </a:solidFill>
                <a:latin typeface="Cambria"/>
                <a:ea typeface="Cambria"/>
                <a:cs typeface="Cambria"/>
              </a:rPr>
              <a:t>Patient Records &amp;</a:t>
            </a:r>
          </a:p>
          <a:p>
            <a:pPr>
              <a:buNone/>
              <a:defRPr sz="4200" b="1">
                <a:solidFill>
                  <a:srgbClr val="A32530"/>
                </a:solidFill>
                <a:latin typeface="Cambria"/>
                <a:ea typeface="Cambria"/>
                <a:cs typeface="Cambria"/>
              </a:defRPr>
            </a:pPr>
            <a:r>
              <a:rPr sz="4200" b="1">
                <a:solidFill>
                  <a:srgbClr val="A32530"/>
                </a:solidFill>
                <a:latin typeface="Cambria"/>
                <a:ea typeface="Cambria"/>
                <a:cs typeface="Cambria"/>
              </a:rPr>
              <a:t>Urinalysis Workflow</a:t>
            </a:r>
          </a:p>
        </p:txBody>
      </p:sp>
      <p:sp>
        <p:nvSpPr>
          <p:cNvPr id="7" name="Rectangle 6">
            <a:extLst>
              <a:ext uri="{FF2B5EF4-FFF2-40B4-BE49-F238E27FC236}">
                <a16:creationId xmlns:a16="http://schemas.microsoft.com/office/drawing/2014/main" id="{D496A9D0-76B1-4AE0-B228-2A7D213E9FC5}"/>
              </a:ext>
            </a:extLst>
          </p:cNvPr>
          <p:cNvSpPr>
            <a:spLocks noGrp="1"/>
          </p:cNvSpPr>
          <p:nvPr/>
        </p:nvSpPr>
        <p:spPr>
          <a:xfrm>
            <a:off x="1009650" y="3019425"/>
            <a:ext cx="10153650" cy="419100"/>
          </a:xfrm>
          <a:prstGeom prst="rect">
            <a:avLst/>
          </a:prstGeom>
          <a:noFill/>
          <a:ln w="0">
            <a:noFill/>
          </a:ln>
        </p:spPr>
        <p:txBody>
          <a:bodyPr lIns="0" tIns="0" rIns="0" bIns="0" anchor="t"/>
          <a:lstStyle>
            <a:defPPr>
              <a:defRPr sz="2550" b="1">
                <a:solidFill>
                  <a:srgbClr val="A32530"/>
                </a:solidFill>
                <a:latin typeface="Calibri"/>
                <a:ea typeface="Calibri"/>
                <a:cs typeface="Calibri"/>
              </a:defRPr>
            </a:defPPr>
          </a:lstStyle>
          <a:p>
            <a:pPr>
              <a:buNone/>
              <a:defRPr sz="2550" b="1">
                <a:solidFill>
                  <a:srgbClr val="A32530"/>
                </a:solidFill>
                <a:latin typeface="Calibri"/>
                <a:ea typeface="Calibri"/>
                <a:cs typeface="Calibri"/>
              </a:defRPr>
            </a:pPr>
            <a:r>
              <a:rPr sz="2550" b="1">
                <a:solidFill>
                  <a:srgbClr val="A32530"/>
                </a:solidFill>
                <a:latin typeface="Calibri"/>
                <a:ea typeface="Calibri"/>
                <a:cs typeface="Calibri"/>
              </a:rPr>
              <a:t>UroScan AI</a:t>
            </a:r>
          </a:p>
        </p:txBody>
      </p:sp>
      <p:sp>
        <p:nvSpPr>
          <p:cNvPr id="8" name="Rectangle 7">
            <a:extLst>
              <a:ext uri="{FF2B5EF4-FFF2-40B4-BE49-F238E27FC236}">
                <a16:creationId xmlns:a16="http://schemas.microsoft.com/office/drawing/2014/main" id="{2B34ACEE-CE8F-4189-8FFA-1439811F0BA2}"/>
              </a:ext>
            </a:extLst>
          </p:cNvPr>
          <p:cNvSpPr>
            <a:spLocks noGrp="1"/>
          </p:cNvSpPr>
          <p:nvPr/>
        </p:nvSpPr>
        <p:spPr>
          <a:xfrm>
            <a:off x="1009650" y="3505200"/>
            <a:ext cx="10153650" cy="419100"/>
          </a:xfrm>
          <a:prstGeom prst="rect">
            <a:avLst/>
          </a:prstGeom>
          <a:noFill/>
          <a:ln w="0">
            <a:noFill/>
          </a:ln>
        </p:spPr>
        <p:txBody>
          <a:bodyPr lIns="0" tIns="0" rIns="0" bIns="0" anchor="t"/>
          <a:lstStyle>
            <a:defPPr>
              <a:defRPr sz="2025" b="0">
                <a:solidFill>
                  <a:srgbClr val="1F2937"/>
                </a:solidFill>
                <a:latin typeface="Calibri"/>
                <a:ea typeface="Calibri"/>
                <a:cs typeface="Calibri"/>
              </a:defRPr>
            </a:defPPr>
          </a:lstStyle>
          <a:p>
            <a:pPr>
              <a:buNone/>
              <a:defRPr sz="2025" b="0">
                <a:solidFill>
                  <a:srgbClr val="1F2937"/>
                </a:solidFill>
                <a:latin typeface="Calibri"/>
                <a:ea typeface="Calibri"/>
                <a:cs typeface="Calibri"/>
              </a:defRPr>
            </a:pPr>
            <a:r>
              <a:rPr sz="2025" b="0" dirty="0">
                <a:solidFill>
                  <a:srgbClr val="1F2937"/>
                </a:solidFill>
                <a:latin typeface="Calibri"/>
                <a:ea typeface="Calibri"/>
                <a:cs typeface="Calibri"/>
              </a:rPr>
              <a:t>Browser-based academic prototype using simulated data</a:t>
            </a:r>
          </a:p>
        </p:txBody>
      </p:sp>
      <p:sp>
        <p:nvSpPr>
          <p:cNvPr id="9" name="Rectangle 8">
            <a:extLst>
              <a:ext uri="{FF2B5EF4-FFF2-40B4-BE49-F238E27FC236}">
                <a16:creationId xmlns:a16="http://schemas.microsoft.com/office/drawing/2014/main" id="{6415ADEA-7F83-4423-8B95-D5BBE086F64F}"/>
              </a:ext>
            </a:extLst>
          </p:cNvPr>
          <p:cNvSpPr>
            <a:spLocks noGrp="1"/>
          </p:cNvSpPr>
          <p:nvPr/>
        </p:nvSpPr>
        <p:spPr>
          <a:xfrm>
            <a:off x="1219200" y="4819650"/>
            <a:ext cx="2781300" cy="323850"/>
          </a:xfrm>
          <a:prstGeom prst="rect">
            <a:avLst/>
          </a:prstGeom>
          <a:noFill/>
          <a:ln w="0">
            <a:noFill/>
          </a:ln>
        </p:spPr>
        <p:txBody>
          <a:bodyPr lIns="0" tIns="0" rIns="0" bIns="0" anchor="t"/>
          <a:lstStyle>
            <a:defPPr>
              <a:defRPr sz="2025" b="1">
                <a:solidFill>
                  <a:srgbClr val="1F2937"/>
                </a:solidFill>
                <a:latin typeface="Calibri"/>
                <a:ea typeface="Calibri"/>
                <a:cs typeface="Calibri"/>
              </a:defRPr>
            </a:defPPr>
          </a:lstStyle>
          <a:p>
            <a:pPr>
              <a:buNone/>
              <a:defRPr sz="2025" b="1">
                <a:solidFill>
                  <a:srgbClr val="1F2937"/>
                </a:solidFill>
                <a:latin typeface="Calibri"/>
                <a:ea typeface="Calibri"/>
                <a:cs typeface="Calibri"/>
              </a:defRPr>
            </a:pPr>
            <a:r>
              <a:rPr sz="2025" b="1">
                <a:solidFill>
                  <a:srgbClr val="1F2937"/>
                </a:solidFill>
                <a:latin typeface="Calibri"/>
                <a:ea typeface="Calibri"/>
                <a:cs typeface="Calibri"/>
              </a:rPr>
              <a:t>Om Rode</a:t>
            </a:r>
          </a:p>
        </p:txBody>
      </p:sp>
      <p:sp>
        <p:nvSpPr>
          <p:cNvPr id="10" name="Rectangle 9">
            <a:extLst>
              <a:ext uri="{FF2B5EF4-FFF2-40B4-BE49-F238E27FC236}">
                <a16:creationId xmlns:a16="http://schemas.microsoft.com/office/drawing/2014/main" id="{A5F2215A-0CC6-4DDE-803E-201039B99411}"/>
              </a:ext>
            </a:extLst>
          </p:cNvPr>
          <p:cNvSpPr>
            <a:spLocks noGrp="1"/>
          </p:cNvSpPr>
          <p:nvPr/>
        </p:nvSpPr>
        <p:spPr>
          <a:xfrm>
            <a:off x="1219200" y="5200650"/>
            <a:ext cx="2781300" cy="285750"/>
          </a:xfrm>
          <a:prstGeom prst="rect">
            <a:avLst/>
          </a:prstGeom>
          <a:noFill/>
          <a:ln w="0">
            <a:noFill/>
          </a:ln>
        </p:spPr>
        <p:txBody>
          <a:bodyPr lIns="0" tIns="0" rIns="0" bIns="0" anchor="t"/>
          <a:lstStyle>
            <a:defPPr>
              <a:defRPr sz="1650" b="0">
                <a:solidFill>
                  <a:srgbClr val="64748B"/>
                </a:solidFill>
                <a:latin typeface="Calibri"/>
                <a:ea typeface="Calibri"/>
                <a:cs typeface="Calibri"/>
              </a:defRPr>
            </a:defPPr>
          </a:lstStyle>
          <a:p>
            <a:pPr>
              <a:buNone/>
              <a:defRPr sz="1650" b="0">
                <a:solidFill>
                  <a:srgbClr val="64748B"/>
                </a:solidFill>
                <a:latin typeface="Calibri"/>
                <a:ea typeface="Calibri"/>
                <a:cs typeface="Calibri"/>
              </a:defRPr>
            </a:pPr>
            <a:r>
              <a:rPr sz="1650" b="0">
                <a:solidFill>
                  <a:srgbClr val="64748B"/>
                </a:solidFill>
                <a:latin typeface="Calibri"/>
                <a:ea typeface="Calibri"/>
                <a:cs typeface="Calibri"/>
              </a:rPr>
              <a:t>16010125212</a:t>
            </a:r>
          </a:p>
        </p:txBody>
      </p:sp>
      <p:sp>
        <p:nvSpPr>
          <p:cNvPr id="11" name="Rectangle 10">
            <a:extLst>
              <a:ext uri="{FF2B5EF4-FFF2-40B4-BE49-F238E27FC236}">
                <a16:creationId xmlns:a16="http://schemas.microsoft.com/office/drawing/2014/main" id="{F2A214A8-4C9A-4548-9CA8-5000DDFE543A}"/>
              </a:ext>
            </a:extLst>
          </p:cNvPr>
          <p:cNvSpPr>
            <a:spLocks noGrp="1"/>
          </p:cNvSpPr>
          <p:nvPr/>
        </p:nvSpPr>
        <p:spPr>
          <a:xfrm>
            <a:off x="4705350" y="4819650"/>
            <a:ext cx="2781300" cy="323850"/>
          </a:xfrm>
          <a:prstGeom prst="rect">
            <a:avLst/>
          </a:prstGeom>
          <a:noFill/>
          <a:ln w="0">
            <a:noFill/>
          </a:ln>
        </p:spPr>
        <p:txBody>
          <a:bodyPr lIns="0" tIns="0" rIns="0" bIns="0" anchor="t"/>
          <a:lstStyle>
            <a:defPPr>
              <a:defRPr sz="2025" b="1">
                <a:solidFill>
                  <a:srgbClr val="1F2937"/>
                </a:solidFill>
                <a:latin typeface="Calibri"/>
                <a:ea typeface="Calibri"/>
                <a:cs typeface="Calibri"/>
              </a:defRPr>
            </a:defPPr>
          </a:lstStyle>
          <a:p>
            <a:pPr>
              <a:buNone/>
              <a:defRPr sz="2025" b="1">
                <a:solidFill>
                  <a:srgbClr val="1F2937"/>
                </a:solidFill>
                <a:latin typeface="Calibri"/>
                <a:ea typeface="Calibri"/>
                <a:cs typeface="Calibri"/>
              </a:defRPr>
            </a:pPr>
            <a:r>
              <a:rPr sz="2025" b="1">
                <a:solidFill>
                  <a:srgbClr val="1F2937"/>
                </a:solidFill>
                <a:latin typeface="Calibri"/>
                <a:ea typeface="Calibri"/>
                <a:cs typeface="Calibri"/>
              </a:rPr>
              <a:t>Asmit Samanta</a:t>
            </a:r>
          </a:p>
        </p:txBody>
      </p:sp>
      <p:sp>
        <p:nvSpPr>
          <p:cNvPr id="12" name="Rectangle 11">
            <a:extLst>
              <a:ext uri="{FF2B5EF4-FFF2-40B4-BE49-F238E27FC236}">
                <a16:creationId xmlns:a16="http://schemas.microsoft.com/office/drawing/2014/main" id="{7E874CD2-DB53-4BF1-B636-5EAB28CDB9DE}"/>
              </a:ext>
            </a:extLst>
          </p:cNvPr>
          <p:cNvSpPr>
            <a:spLocks noGrp="1"/>
          </p:cNvSpPr>
          <p:nvPr/>
        </p:nvSpPr>
        <p:spPr>
          <a:xfrm>
            <a:off x="4705350" y="5200650"/>
            <a:ext cx="2781300" cy="285750"/>
          </a:xfrm>
          <a:prstGeom prst="rect">
            <a:avLst/>
          </a:prstGeom>
          <a:noFill/>
          <a:ln w="0">
            <a:noFill/>
          </a:ln>
        </p:spPr>
        <p:txBody>
          <a:bodyPr lIns="0" tIns="0" rIns="0" bIns="0" anchor="t"/>
          <a:lstStyle>
            <a:defPPr>
              <a:defRPr sz="1650" b="0">
                <a:solidFill>
                  <a:srgbClr val="64748B"/>
                </a:solidFill>
                <a:latin typeface="Calibri"/>
                <a:ea typeface="Calibri"/>
                <a:cs typeface="Calibri"/>
              </a:defRPr>
            </a:defPPr>
          </a:lstStyle>
          <a:p>
            <a:pPr>
              <a:buNone/>
              <a:defRPr sz="1650" b="0">
                <a:solidFill>
                  <a:srgbClr val="64748B"/>
                </a:solidFill>
                <a:latin typeface="Calibri"/>
                <a:ea typeface="Calibri"/>
                <a:cs typeface="Calibri"/>
              </a:defRPr>
            </a:pPr>
            <a:r>
              <a:rPr sz="1650" b="0">
                <a:solidFill>
                  <a:srgbClr val="64748B"/>
                </a:solidFill>
                <a:latin typeface="Calibri"/>
                <a:ea typeface="Calibri"/>
                <a:cs typeface="Calibri"/>
              </a:rPr>
              <a:t>16010125221</a:t>
            </a:r>
          </a:p>
        </p:txBody>
      </p:sp>
      <p:sp>
        <p:nvSpPr>
          <p:cNvPr id="13" name="Rectangle 12">
            <a:extLst>
              <a:ext uri="{FF2B5EF4-FFF2-40B4-BE49-F238E27FC236}">
                <a16:creationId xmlns:a16="http://schemas.microsoft.com/office/drawing/2014/main" id="{AF7221E4-8B0C-4AFC-975F-48F422B7909F}"/>
              </a:ext>
            </a:extLst>
          </p:cNvPr>
          <p:cNvSpPr>
            <a:spLocks noGrp="1"/>
          </p:cNvSpPr>
          <p:nvPr/>
        </p:nvSpPr>
        <p:spPr>
          <a:xfrm>
            <a:off x="8191500" y="4819650"/>
            <a:ext cx="2781300" cy="323850"/>
          </a:xfrm>
          <a:prstGeom prst="rect">
            <a:avLst/>
          </a:prstGeom>
          <a:noFill/>
          <a:ln w="0">
            <a:noFill/>
          </a:ln>
        </p:spPr>
        <p:txBody>
          <a:bodyPr lIns="0" tIns="0" rIns="0" bIns="0" anchor="t"/>
          <a:lstStyle>
            <a:defPPr>
              <a:defRPr sz="2025" b="1">
                <a:solidFill>
                  <a:srgbClr val="1F2937"/>
                </a:solidFill>
                <a:latin typeface="Calibri"/>
                <a:ea typeface="Calibri"/>
                <a:cs typeface="Calibri"/>
              </a:defRPr>
            </a:defPPr>
          </a:lstStyle>
          <a:p>
            <a:pPr>
              <a:buNone/>
              <a:defRPr sz="2025" b="1">
                <a:solidFill>
                  <a:srgbClr val="1F2937"/>
                </a:solidFill>
                <a:latin typeface="Calibri"/>
                <a:ea typeface="Calibri"/>
                <a:cs typeface="Calibri"/>
              </a:defRPr>
            </a:pPr>
            <a:r>
              <a:rPr sz="2025" b="1">
                <a:solidFill>
                  <a:srgbClr val="1F2937"/>
                </a:solidFill>
                <a:latin typeface="Calibri"/>
                <a:ea typeface="Calibri"/>
                <a:cs typeface="Calibri"/>
              </a:rPr>
              <a:t>Rudraksh Sahane</a:t>
            </a:r>
          </a:p>
        </p:txBody>
      </p:sp>
      <p:sp>
        <p:nvSpPr>
          <p:cNvPr id="14" name="Rectangle 13">
            <a:extLst>
              <a:ext uri="{FF2B5EF4-FFF2-40B4-BE49-F238E27FC236}">
                <a16:creationId xmlns:a16="http://schemas.microsoft.com/office/drawing/2014/main" id="{BB95E8D7-76F5-4AA2-82B3-B42FAAC6BC0C}"/>
              </a:ext>
            </a:extLst>
          </p:cNvPr>
          <p:cNvSpPr>
            <a:spLocks noGrp="1"/>
          </p:cNvSpPr>
          <p:nvPr/>
        </p:nvSpPr>
        <p:spPr>
          <a:xfrm>
            <a:off x="8191500" y="5200650"/>
            <a:ext cx="2781300" cy="285750"/>
          </a:xfrm>
          <a:prstGeom prst="rect">
            <a:avLst/>
          </a:prstGeom>
          <a:noFill/>
          <a:ln w="0">
            <a:noFill/>
          </a:ln>
        </p:spPr>
        <p:txBody>
          <a:bodyPr lIns="0" tIns="0" rIns="0" bIns="0" anchor="t"/>
          <a:lstStyle>
            <a:defPPr>
              <a:defRPr sz="1650" b="0">
                <a:solidFill>
                  <a:srgbClr val="64748B"/>
                </a:solidFill>
                <a:latin typeface="Calibri"/>
                <a:ea typeface="Calibri"/>
                <a:cs typeface="Calibri"/>
              </a:defRPr>
            </a:defPPr>
          </a:lstStyle>
          <a:p>
            <a:pPr>
              <a:buNone/>
              <a:defRPr sz="1650" b="0">
                <a:solidFill>
                  <a:srgbClr val="64748B"/>
                </a:solidFill>
                <a:latin typeface="Calibri"/>
                <a:ea typeface="Calibri"/>
                <a:cs typeface="Calibri"/>
              </a:defRPr>
            </a:pPr>
            <a:r>
              <a:rPr sz="1650" b="0">
                <a:solidFill>
                  <a:srgbClr val="64748B"/>
                </a:solidFill>
                <a:latin typeface="Calibri"/>
                <a:ea typeface="Calibri"/>
                <a:cs typeface="Calibri"/>
              </a:rPr>
              <a:t>16010125217</a:t>
            </a:r>
          </a:p>
        </p:txBody>
      </p:sp>
    </p:spTree>
    <p:extLst>
      <p:ext uri="{BB962C8B-B14F-4D97-AF65-F5344CB8AC3E}">
        <p14:creationId xmlns:p14="http://schemas.microsoft.com/office/powerpoint/2010/main" val="10375987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21BDDA26-CBE9-4D43-9F47-853944F5275B}"/>
              </a:ext>
            </a:extLst>
          </p:cNvPr>
          <p:cNvPicPr>
            <a:picLocks noChangeAspect="1"/>
          </p:cNvPicPr>
          <p:nvPr/>
        </p:nvPicPr>
        <p:blipFill>
          <a:blip r:embed="rId3"/>
          <a:stretch/>
        </p:blipFill>
        <p:spPr>
          <a:xfrm>
            <a:off x="0" y="0"/>
            <a:ext cx="12192000" cy="6858000"/>
          </a:xfrm>
          <a:prstGeom prst="rect">
            <a:avLst/>
          </a:prstGeom>
        </p:spPr>
      </p:pic>
      <p:sp>
        <p:nvSpPr>
          <p:cNvPr id="11" name="Rectangle 10">
            <a:extLst>
              <a:ext uri="{FF2B5EF4-FFF2-40B4-BE49-F238E27FC236}">
                <a16:creationId xmlns:a16="http://schemas.microsoft.com/office/drawing/2014/main" id="{E4EE7A87-6C37-43F9-BB02-56E263884ED1}"/>
              </a:ext>
            </a:extLst>
          </p:cNvPr>
          <p:cNvSpPr>
            <a:spLocks noGrp="1"/>
          </p:cNvSpPr>
          <p:nvPr/>
        </p:nvSpPr>
        <p:spPr>
          <a:xfrm>
            <a:off x="1009650" y="1190625"/>
            <a:ext cx="10287000" cy="638175"/>
          </a:xfrm>
          <a:prstGeom prst="rect">
            <a:avLst/>
          </a:prstGeom>
          <a:noFill/>
          <a:ln w="0">
            <a:noFill/>
          </a:ln>
        </p:spPr>
        <p:txBody>
          <a:bodyPr lIns="0" tIns="0" rIns="0" bIns="0" anchor="t"/>
          <a:lstStyle>
            <a:defPPr>
              <a:defRPr sz="3400" b="1">
                <a:solidFill>
                  <a:srgbClr val="A32530"/>
                </a:solidFill>
                <a:latin typeface="Cambria"/>
                <a:ea typeface="Cambria"/>
                <a:cs typeface="Cambria"/>
              </a:defRPr>
            </a:defPPr>
          </a:lstStyle>
          <a:p>
            <a:pPr>
              <a:buNone/>
              <a:defRPr sz="3400" b="1">
                <a:solidFill>
                  <a:srgbClr val="A32530"/>
                </a:solidFill>
                <a:latin typeface="Cambria"/>
                <a:ea typeface="Cambria"/>
                <a:cs typeface="Cambria"/>
              </a:defRPr>
            </a:pPr>
            <a:r>
              <a:rPr sz="3400" b="1">
                <a:solidFill>
                  <a:srgbClr val="A32530"/>
                </a:solidFill>
                <a:latin typeface="Cambria"/>
                <a:ea typeface="Cambria"/>
                <a:cs typeface="Cambria"/>
              </a:rPr>
              <a:t>Project context and problem</a:t>
            </a:r>
          </a:p>
        </p:txBody>
      </p:sp>
      <p:sp>
        <p:nvSpPr>
          <p:cNvPr id="2" name="Rectangle 1">
            <a:extLst>
              <a:ext uri="{FF2B5EF4-FFF2-40B4-BE49-F238E27FC236}">
                <a16:creationId xmlns:a16="http://schemas.microsoft.com/office/drawing/2014/main" id="{7B65B815-8981-44C4-A47C-0DF75CB3C4AC}"/>
              </a:ext>
            </a:extLst>
          </p:cNvPr>
          <p:cNvSpPr>
            <a:spLocks noGrp="1"/>
          </p:cNvSpPr>
          <p:nvPr/>
        </p:nvSpPr>
        <p:spPr>
          <a:xfrm>
            <a:off x="1009650" y="6086475"/>
            <a:ext cx="9048750" cy="209550"/>
          </a:xfrm>
          <a:prstGeom prst="rect">
            <a:avLst/>
          </a:prstGeom>
          <a:noFill/>
          <a:ln w="0">
            <a:noFill/>
          </a:ln>
        </p:spPr>
        <p:txBody>
          <a:bodyPr lIns="0" tIns="0" rIns="0" bIns="0" anchor="t"/>
          <a:lstStyle>
            <a:defPPr>
              <a:defRPr sz="1050" b="0">
                <a:solidFill>
                  <a:srgbClr val="64748B"/>
                </a:solidFill>
                <a:latin typeface="Calibri"/>
                <a:ea typeface="Calibri"/>
                <a:cs typeface="Calibri"/>
              </a:defRPr>
            </a:defPPr>
          </a:lstStyle>
          <a:p>
            <a:pPr>
              <a:buNone/>
              <a:defRPr sz="1050" b="0">
                <a:solidFill>
                  <a:srgbClr val="64748B"/>
                </a:solidFill>
                <a:latin typeface="Calibri"/>
                <a:ea typeface="Calibri"/>
                <a:cs typeface="Calibri"/>
              </a:defRPr>
            </a:pPr>
            <a:r>
              <a:rPr lang="en-US" sz="1050" dirty="0" err="1">
                <a:solidFill>
                  <a:srgbClr val="64748B"/>
                </a:solidFill>
                <a:latin typeface="Calibri"/>
                <a:ea typeface="Calibri"/>
                <a:cs typeface="Calibri"/>
              </a:rPr>
              <a:t>UroScan</a:t>
            </a:r>
            <a:r>
              <a:rPr lang="en-US" sz="1050" dirty="0">
                <a:solidFill>
                  <a:srgbClr val="64748B"/>
                </a:solidFill>
                <a:latin typeface="Calibri"/>
                <a:ea typeface="Calibri"/>
                <a:cs typeface="Calibri"/>
              </a:rPr>
              <a:t> AI  /  Healthcare Group 3</a:t>
            </a:r>
          </a:p>
        </p:txBody>
      </p:sp>
      <p:sp>
        <p:nvSpPr>
          <p:cNvPr id="3" name="Rectangle 2">
            <a:extLst>
              <a:ext uri="{FF2B5EF4-FFF2-40B4-BE49-F238E27FC236}">
                <a16:creationId xmlns:a16="http://schemas.microsoft.com/office/drawing/2014/main" id="{937738E3-F79B-4F8C-B1E1-A19B683E6B8B}"/>
              </a:ext>
            </a:extLst>
          </p:cNvPr>
          <p:cNvSpPr>
            <a:spLocks noGrp="1"/>
          </p:cNvSpPr>
          <p:nvPr/>
        </p:nvSpPr>
        <p:spPr>
          <a:xfrm>
            <a:off x="10810875" y="6086475"/>
            <a:ext cx="361950" cy="209550"/>
          </a:xfrm>
          <a:prstGeom prst="rect">
            <a:avLst/>
          </a:prstGeom>
          <a:noFill/>
          <a:ln w="0">
            <a:noFill/>
          </a:ln>
        </p:spPr>
        <p:txBody>
          <a:bodyPr lIns="0" tIns="0" rIns="0" bIns="0" anchor="t"/>
          <a:lstStyle>
            <a:defPPr>
              <a:defRPr sz="1200" b="1">
                <a:solidFill>
                  <a:srgbClr val="A32530"/>
                </a:solidFill>
                <a:latin typeface="Calibri"/>
                <a:ea typeface="Calibri"/>
                <a:cs typeface="Calibri"/>
              </a:defRPr>
            </a:defPPr>
          </a:lstStyle>
          <a:p>
            <a:pPr>
              <a:buNone/>
              <a:defRPr sz="1200" b="1">
                <a:solidFill>
                  <a:srgbClr val="A32530"/>
                </a:solidFill>
                <a:latin typeface="Calibri"/>
                <a:ea typeface="Calibri"/>
                <a:cs typeface="Calibri"/>
              </a:defRPr>
            </a:pPr>
            <a:r>
              <a:rPr sz="1200" b="1">
                <a:solidFill>
                  <a:srgbClr val="A32530"/>
                </a:solidFill>
                <a:latin typeface="Calibri"/>
                <a:ea typeface="Calibri"/>
                <a:cs typeface="Calibri"/>
              </a:rPr>
              <a:t>02</a:t>
            </a:r>
          </a:p>
        </p:txBody>
      </p:sp>
      <p:sp>
        <p:nvSpPr>
          <p:cNvPr id="4" name="Rectangle 3">
            <a:extLst>
              <a:ext uri="{FF2B5EF4-FFF2-40B4-BE49-F238E27FC236}">
                <a16:creationId xmlns:a16="http://schemas.microsoft.com/office/drawing/2014/main" id="{079D47D9-CCE0-4A78-B735-6CDA07AAC6D9}"/>
              </a:ext>
            </a:extLst>
          </p:cNvPr>
          <p:cNvSpPr>
            <a:spLocks noGrp="1"/>
          </p:cNvSpPr>
          <p:nvPr/>
        </p:nvSpPr>
        <p:spPr>
          <a:xfrm>
            <a:off x="1009650" y="2022196"/>
            <a:ext cx="9859137" cy="438912"/>
          </a:xfrm>
          <a:prstGeom prst="rect">
            <a:avLst/>
          </a:prstGeom>
          <a:noFill/>
          <a:ln w="0">
            <a:noFill/>
          </a:ln>
        </p:spPr>
        <p:txBody>
          <a:bodyPr lIns="0" tIns="0" rIns="0" bIns="0" anchor="t"/>
          <a:lstStyle>
            <a:defPPr>
              <a:defRPr sz="2376" b="1">
                <a:solidFill>
                  <a:srgbClr val="A32530"/>
                </a:solidFill>
                <a:latin typeface="Calibri"/>
                <a:ea typeface="Calibri"/>
                <a:cs typeface="Calibri"/>
              </a:defRPr>
            </a:defPPr>
          </a:lstStyle>
          <a:p>
            <a:pPr>
              <a:buNone/>
              <a:defRPr sz="2376" b="1">
                <a:solidFill>
                  <a:srgbClr val="A32530"/>
                </a:solidFill>
                <a:latin typeface="Calibri"/>
                <a:ea typeface="Calibri"/>
                <a:cs typeface="Calibri"/>
              </a:defRPr>
            </a:pPr>
            <a:r>
              <a:rPr sz="2376" b="1">
                <a:solidFill>
                  <a:srgbClr val="A32530"/>
                </a:solidFill>
                <a:latin typeface="Calibri"/>
                <a:ea typeface="Calibri"/>
                <a:cs typeface="Calibri"/>
              </a:rPr>
              <a:t>A connected record for each patient and test</a:t>
            </a:r>
          </a:p>
        </p:txBody>
      </p:sp>
      <p:sp>
        <p:nvSpPr>
          <p:cNvPr id="5" name="Rectangle 4">
            <a:extLst>
              <a:ext uri="{FF2B5EF4-FFF2-40B4-BE49-F238E27FC236}">
                <a16:creationId xmlns:a16="http://schemas.microsoft.com/office/drawing/2014/main" id="{28CF4010-EBB8-476A-BCC2-F195D7B94F31}"/>
              </a:ext>
            </a:extLst>
          </p:cNvPr>
          <p:cNvSpPr>
            <a:spLocks noGrp="1"/>
          </p:cNvSpPr>
          <p:nvPr/>
        </p:nvSpPr>
        <p:spPr>
          <a:xfrm>
            <a:off x="1009650" y="2804922"/>
            <a:ext cx="4449699" cy="277978"/>
          </a:xfrm>
          <a:prstGeom prst="rect">
            <a:avLst/>
          </a:prstGeom>
          <a:noFill/>
          <a:ln w="0">
            <a:noFill/>
          </a:ln>
        </p:spPr>
        <p:txBody>
          <a:bodyPr lIns="0" tIns="0" rIns="0" bIns="0" anchor="t"/>
          <a:lstStyle>
            <a:defPPr>
              <a:defRPr sz="1848" b="1">
                <a:solidFill>
                  <a:srgbClr val="A32530"/>
                </a:solidFill>
                <a:latin typeface="Calibri"/>
                <a:ea typeface="Calibri"/>
                <a:cs typeface="Calibri"/>
              </a:defRPr>
            </a:defPPr>
          </a:lstStyle>
          <a:p>
            <a:pPr>
              <a:buNone/>
              <a:defRPr sz="1848" b="1">
                <a:solidFill>
                  <a:srgbClr val="A32530"/>
                </a:solidFill>
                <a:latin typeface="Calibri"/>
                <a:ea typeface="Calibri"/>
                <a:cs typeface="Calibri"/>
              </a:defRPr>
            </a:pPr>
            <a:r>
              <a:rPr sz="1848" b="1">
                <a:solidFill>
                  <a:srgbClr val="A32530"/>
                </a:solidFill>
                <a:latin typeface="Calibri"/>
                <a:ea typeface="Calibri"/>
                <a:cs typeface="Calibri"/>
              </a:rPr>
              <a:t>Workflow problem</a:t>
            </a:r>
          </a:p>
        </p:txBody>
      </p:sp>
      <p:sp>
        <p:nvSpPr>
          <p:cNvPr id="6" name="Rectangle 5">
            <a:extLst>
              <a:ext uri="{FF2B5EF4-FFF2-40B4-BE49-F238E27FC236}">
                <a16:creationId xmlns:a16="http://schemas.microsoft.com/office/drawing/2014/main" id="{7E0DE742-FB83-4847-9526-E864DD56B541}"/>
              </a:ext>
            </a:extLst>
          </p:cNvPr>
          <p:cNvSpPr>
            <a:spLocks noGrp="1"/>
          </p:cNvSpPr>
          <p:nvPr/>
        </p:nvSpPr>
        <p:spPr>
          <a:xfrm>
            <a:off x="1009650" y="3156052"/>
            <a:ext cx="4449699" cy="1097280"/>
          </a:xfrm>
          <a:prstGeom prst="rect">
            <a:avLst/>
          </a:prstGeom>
          <a:noFill/>
          <a:ln w="0">
            <a:noFill/>
          </a:ln>
        </p:spPr>
        <p:txBody>
          <a:bodyPr lIns="0" tIns="0" rIns="0" bIns="0" anchor="t"/>
          <a:lstStyle>
            <a:defPPr>
              <a:defRPr sz="1716" b="0">
                <a:solidFill>
                  <a:srgbClr val="1F2937"/>
                </a:solidFill>
                <a:latin typeface="Calibri"/>
                <a:ea typeface="Calibri"/>
                <a:cs typeface="Calibri"/>
              </a:defRPr>
            </a:defPPr>
          </a:lstStyle>
          <a:p>
            <a:pPr>
              <a:buNone/>
              <a:defRPr sz="1716" b="0">
                <a:solidFill>
                  <a:srgbClr val="1F2937"/>
                </a:solidFill>
                <a:latin typeface="Calibri"/>
                <a:ea typeface="Calibri"/>
                <a:cs typeface="Calibri"/>
              </a:defRPr>
            </a:pPr>
            <a:r>
              <a:rPr sz="1716" b="0">
                <a:solidFill>
                  <a:srgbClr val="1F2937"/>
                </a:solidFill>
                <a:latin typeface="Calibri"/>
                <a:ea typeface="Calibri"/>
                <a:cs typeface="Calibri"/>
              </a:rPr>
              <a:t>Patient details, test status and reports need a clear, linked place in the interface.</a:t>
            </a:r>
          </a:p>
        </p:txBody>
      </p:sp>
      <p:sp>
        <p:nvSpPr>
          <p:cNvPr id="7" name="Rectangle 6">
            <a:extLst>
              <a:ext uri="{FF2B5EF4-FFF2-40B4-BE49-F238E27FC236}">
                <a16:creationId xmlns:a16="http://schemas.microsoft.com/office/drawing/2014/main" id="{6AA11FE6-FFA0-4ACA-B6BC-9AFFD220DC59}"/>
              </a:ext>
            </a:extLst>
          </p:cNvPr>
          <p:cNvSpPr>
            <a:spLocks noGrp="1"/>
          </p:cNvSpPr>
          <p:nvPr/>
        </p:nvSpPr>
        <p:spPr>
          <a:xfrm>
            <a:off x="6384188" y="2804922"/>
            <a:ext cx="4711446" cy="277978"/>
          </a:xfrm>
          <a:prstGeom prst="rect">
            <a:avLst/>
          </a:prstGeom>
          <a:noFill/>
          <a:ln w="0">
            <a:noFill/>
          </a:ln>
        </p:spPr>
        <p:txBody>
          <a:bodyPr lIns="0" tIns="0" rIns="0" bIns="0" anchor="t"/>
          <a:lstStyle>
            <a:defPPr>
              <a:defRPr sz="1848" b="1">
                <a:solidFill>
                  <a:srgbClr val="A32530"/>
                </a:solidFill>
                <a:latin typeface="Calibri"/>
                <a:ea typeface="Calibri"/>
                <a:cs typeface="Calibri"/>
              </a:defRPr>
            </a:defPPr>
          </a:lstStyle>
          <a:p>
            <a:pPr>
              <a:buNone/>
              <a:defRPr sz="1848" b="1">
                <a:solidFill>
                  <a:srgbClr val="A32530"/>
                </a:solidFill>
                <a:latin typeface="Calibri"/>
                <a:ea typeface="Calibri"/>
                <a:cs typeface="Calibri"/>
              </a:defRPr>
            </a:pPr>
            <a:r>
              <a:rPr sz="1848" b="1">
                <a:solidFill>
                  <a:srgbClr val="A32530"/>
                </a:solidFill>
                <a:latin typeface="Calibri"/>
                <a:ea typeface="Calibri"/>
                <a:cs typeface="Calibri"/>
              </a:rPr>
              <a:t>Proposed solution</a:t>
            </a:r>
          </a:p>
        </p:txBody>
      </p:sp>
      <p:sp>
        <p:nvSpPr>
          <p:cNvPr id="8" name="Rectangle 7">
            <a:extLst>
              <a:ext uri="{FF2B5EF4-FFF2-40B4-BE49-F238E27FC236}">
                <a16:creationId xmlns:a16="http://schemas.microsoft.com/office/drawing/2014/main" id="{A003534F-2ABB-4D53-9AFA-9071506E2397}"/>
              </a:ext>
            </a:extLst>
          </p:cNvPr>
          <p:cNvSpPr>
            <a:spLocks noGrp="1"/>
          </p:cNvSpPr>
          <p:nvPr/>
        </p:nvSpPr>
        <p:spPr>
          <a:xfrm>
            <a:off x="6384188" y="3156052"/>
            <a:ext cx="4711446" cy="1097280"/>
          </a:xfrm>
          <a:prstGeom prst="rect">
            <a:avLst/>
          </a:prstGeom>
          <a:noFill/>
          <a:ln w="0">
            <a:noFill/>
          </a:ln>
        </p:spPr>
        <p:txBody>
          <a:bodyPr lIns="0" tIns="0" rIns="0" bIns="0" anchor="t"/>
          <a:lstStyle>
            <a:defPPr>
              <a:defRPr sz="1716" b="0">
                <a:solidFill>
                  <a:srgbClr val="1F2937"/>
                </a:solidFill>
                <a:latin typeface="Calibri"/>
                <a:ea typeface="Calibri"/>
                <a:cs typeface="Calibri"/>
              </a:defRPr>
            </a:defPPr>
          </a:lstStyle>
          <a:p>
            <a:pPr>
              <a:buNone/>
              <a:defRPr sz="1716" b="0">
                <a:solidFill>
                  <a:srgbClr val="1F2937"/>
                </a:solidFill>
                <a:latin typeface="Calibri"/>
                <a:ea typeface="Calibri"/>
                <a:cs typeface="Calibri"/>
              </a:defRPr>
            </a:pPr>
            <a:r>
              <a:rPr sz="1716" b="0">
                <a:solidFill>
                  <a:srgbClr val="1F2937"/>
                </a:solidFill>
                <a:latin typeface="Calibri"/>
                <a:ea typeface="Calibri"/>
                <a:cs typeface="Calibri"/>
              </a:rPr>
              <a:t>A multi-page website that demonstrates patient registration, simulated testing and report review.</a:t>
            </a:r>
          </a:p>
        </p:txBody>
      </p:sp>
      <p:sp>
        <p:nvSpPr>
          <p:cNvPr id="9" name="Rectangle 8">
            <a:extLst>
              <a:ext uri="{FF2B5EF4-FFF2-40B4-BE49-F238E27FC236}">
                <a16:creationId xmlns:a16="http://schemas.microsoft.com/office/drawing/2014/main" id="{E83AABD8-1F97-4AD3-A7F2-0F5654B69CE1}"/>
              </a:ext>
            </a:extLst>
          </p:cNvPr>
          <p:cNvSpPr>
            <a:spLocks noGrp="1"/>
          </p:cNvSpPr>
          <p:nvPr/>
        </p:nvSpPr>
        <p:spPr>
          <a:xfrm>
            <a:off x="1009650" y="4377690"/>
            <a:ext cx="9597390" cy="292608"/>
          </a:xfrm>
          <a:prstGeom prst="rect">
            <a:avLst/>
          </a:prstGeom>
          <a:noFill/>
          <a:ln w="0">
            <a:noFill/>
          </a:ln>
        </p:spPr>
        <p:txBody>
          <a:bodyPr lIns="0" tIns="0" rIns="0" bIns="0" anchor="t"/>
          <a:lstStyle>
            <a:defPPr>
              <a:defRPr sz="1914" b="1">
                <a:solidFill>
                  <a:srgbClr val="A32530"/>
                </a:solidFill>
                <a:latin typeface="Calibri"/>
                <a:ea typeface="Calibri"/>
                <a:cs typeface="Calibri"/>
              </a:defRPr>
            </a:defPPr>
          </a:lstStyle>
          <a:p>
            <a:pPr>
              <a:buNone/>
              <a:defRPr sz="1914" b="1">
                <a:solidFill>
                  <a:srgbClr val="A32530"/>
                </a:solidFill>
                <a:latin typeface="Calibri"/>
                <a:ea typeface="Calibri"/>
                <a:cs typeface="Calibri"/>
              </a:defRPr>
            </a:pPr>
            <a:r>
              <a:rPr sz="1914" b="1">
                <a:solidFill>
                  <a:srgbClr val="A32530"/>
                </a:solidFill>
                <a:latin typeface="Calibri"/>
                <a:ea typeface="Calibri"/>
                <a:cs typeface="Calibri"/>
              </a:rPr>
              <a:t>Intended users</a:t>
            </a:r>
          </a:p>
        </p:txBody>
      </p:sp>
      <p:sp>
        <p:nvSpPr>
          <p:cNvPr id="10" name="Rectangle 9">
            <a:extLst>
              <a:ext uri="{FF2B5EF4-FFF2-40B4-BE49-F238E27FC236}">
                <a16:creationId xmlns:a16="http://schemas.microsoft.com/office/drawing/2014/main" id="{0C8D09BA-B195-4275-A577-A6FD2CFDCE14}"/>
              </a:ext>
            </a:extLst>
          </p:cNvPr>
          <p:cNvSpPr>
            <a:spLocks noGrp="1"/>
          </p:cNvSpPr>
          <p:nvPr/>
        </p:nvSpPr>
        <p:spPr>
          <a:xfrm>
            <a:off x="1009650" y="4780026"/>
            <a:ext cx="9422892" cy="621792"/>
          </a:xfrm>
          <a:prstGeom prst="rect">
            <a:avLst/>
          </a:prstGeom>
          <a:noFill/>
          <a:ln w="0">
            <a:noFill/>
          </a:ln>
        </p:spPr>
        <p:txBody>
          <a:bodyPr lIns="0" tIns="0" rIns="0" bIns="0" anchor="t"/>
          <a:lstStyle>
            <a:defPPr>
              <a:defRPr sz="1914" b="0">
                <a:solidFill>
                  <a:srgbClr val="1F2937"/>
                </a:solidFill>
                <a:latin typeface="Calibri"/>
                <a:ea typeface="Calibri"/>
                <a:cs typeface="Calibri"/>
              </a:defRPr>
            </a:defPPr>
          </a:lstStyle>
          <a:p>
            <a:pPr>
              <a:buNone/>
              <a:defRPr sz="1914" b="0">
                <a:solidFill>
                  <a:srgbClr val="1F2937"/>
                </a:solidFill>
                <a:latin typeface="Calibri"/>
                <a:ea typeface="Calibri"/>
                <a:cs typeface="Calibri"/>
              </a:defRPr>
            </a:pPr>
            <a:r>
              <a:rPr sz="1914" b="0">
                <a:solidFill>
                  <a:srgbClr val="1F2937"/>
                </a:solidFill>
                <a:latin typeface="Calibri"/>
                <a:ea typeface="Calibri"/>
                <a:cs typeface="Calibri"/>
              </a:rPr>
              <a:t>Laboratory staff and pathologists represented through local demo accounts</a:t>
            </a:r>
          </a:p>
        </p:txBody>
      </p:sp>
    </p:spTree>
    <p:extLst>
      <p:ext uri="{BB962C8B-B14F-4D97-AF65-F5344CB8AC3E}">
        <p14:creationId xmlns:p14="http://schemas.microsoft.com/office/powerpoint/2010/main" val="14525511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D0DD27FF-631C-4B57-ACF5-FAE348ED7312}"/>
              </a:ext>
            </a:extLst>
          </p:cNvPr>
          <p:cNvPicPr>
            <a:picLocks noChangeAspect="1"/>
          </p:cNvPicPr>
          <p:nvPr/>
        </p:nvPicPr>
        <p:blipFill>
          <a:blip r:embed="rId3"/>
          <a:stretch/>
        </p:blipFill>
        <p:spPr>
          <a:xfrm>
            <a:off x="0" y="0"/>
            <a:ext cx="12192000" cy="6858000"/>
          </a:xfrm>
          <a:prstGeom prst="rect">
            <a:avLst/>
          </a:prstGeom>
        </p:spPr>
      </p:pic>
      <p:sp>
        <p:nvSpPr>
          <p:cNvPr id="17" name="Rectangle 16">
            <a:extLst>
              <a:ext uri="{FF2B5EF4-FFF2-40B4-BE49-F238E27FC236}">
                <a16:creationId xmlns:a16="http://schemas.microsoft.com/office/drawing/2014/main" id="{2792C4DA-7D88-46E0-BB7A-89B67AEE432A}"/>
              </a:ext>
            </a:extLst>
          </p:cNvPr>
          <p:cNvSpPr>
            <a:spLocks noGrp="1"/>
          </p:cNvSpPr>
          <p:nvPr/>
        </p:nvSpPr>
        <p:spPr>
          <a:xfrm>
            <a:off x="1009650" y="1190625"/>
            <a:ext cx="10287000" cy="638175"/>
          </a:xfrm>
          <a:prstGeom prst="rect">
            <a:avLst/>
          </a:prstGeom>
          <a:noFill/>
          <a:ln w="0">
            <a:noFill/>
          </a:ln>
        </p:spPr>
        <p:txBody>
          <a:bodyPr lIns="0" tIns="0" rIns="0" bIns="0" anchor="t"/>
          <a:lstStyle>
            <a:defPPr>
              <a:defRPr sz="3400" b="1">
                <a:solidFill>
                  <a:srgbClr val="A32530"/>
                </a:solidFill>
                <a:latin typeface="Cambria"/>
                <a:ea typeface="Cambria"/>
                <a:cs typeface="Cambria"/>
              </a:defRPr>
            </a:defPPr>
          </a:lstStyle>
          <a:p>
            <a:pPr>
              <a:buNone/>
              <a:defRPr sz="3400" b="1">
                <a:solidFill>
                  <a:srgbClr val="A32530"/>
                </a:solidFill>
                <a:latin typeface="Cambria"/>
                <a:ea typeface="Cambria"/>
                <a:cs typeface="Cambria"/>
              </a:defRPr>
            </a:pPr>
            <a:r>
              <a:rPr sz="3400" b="1">
                <a:solidFill>
                  <a:srgbClr val="A32530"/>
                </a:solidFill>
                <a:latin typeface="Cambria"/>
                <a:ea typeface="Cambria"/>
                <a:cs typeface="Cambria"/>
              </a:rPr>
              <a:t>Objectives and project scope</a:t>
            </a:r>
          </a:p>
        </p:txBody>
      </p:sp>
      <p:sp>
        <p:nvSpPr>
          <p:cNvPr id="2" name="Rectangle 1">
            <a:extLst>
              <a:ext uri="{FF2B5EF4-FFF2-40B4-BE49-F238E27FC236}">
                <a16:creationId xmlns:a16="http://schemas.microsoft.com/office/drawing/2014/main" id="{63982D66-5DC9-4C35-B496-44F4DC64DAB9}"/>
              </a:ext>
            </a:extLst>
          </p:cNvPr>
          <p:cNvSpPr>
            <a:spLocks noGrp="1"/>
          </p:cNvSpPr>
          <p:nvPr/>
        </p:nvSpPr>
        <p:spPr>
          <a:xfrm>
            <a:off x="1009650" y="6086475"/>
            <a:ext cx="9048750" cy="209550"/>
          </a:xfrm>
          <a:prstGeom prst="rect">
            <a:avLst/>
          </a:prstGeom>
          <a:noFill/>
          <a:ln w="0">
            <a:noFill/>
          </a:ln>
        </p:spPr>
        <p:txBody>
          <a:bodyPr lIns="0" tIns="0" rIns="0" bIns="0" anchor="t"/>
          <a:lstStyle>
            <a:defPPr>
              <a:defRPr sz="1050" b="0">
                <a:solidFill>
                  <a:srgbClr val="64748B"/>
                </a:solidFill>
                <a:latin typeface="Calibri"/>
                <a:ea typeface="Calibri"/>
                <a:cs typeface="Calibri"/>
              </a:defRPr>
            </a:defPPr>
          </a:lstStyle>
          <a:p>
            <a:pPr>
              <a:buNone/>
              <a:defRPr sz="1050" b="0">
                <a:solidFill>
                  <a:srgbClr val="64748B"/>
                </a:solidFill>
                <a:latin typeface="Calibri"/>
                <a:ea typeface="Calibri"/>
                <a:cs typeface="Calibri"/>
              </a:defRPr>
            </a:pPr>
            <a:r>
              <a:rPr sz="1050" b="0" dirty="0" err="1">
                <a:solidFill>
                  <a:srgbClr val="64748B"/>
                </a:solidFill>
                <a:latin typeface="Calibri"/>
                <a:ea typeface="Calibri"/>
                <a:cs typeface="Calibri"/>
              </a:rPr>
              <a:t>UroScan</a:t>
            </a:r>
            <a:r>
              <a:rPr sz="1050" b="0" dirty="0">
                <a:solidFill>
                  <a:srgbClr val="64748B"/>
                </a:solidFill>
                <a:latin typeface="Calibri"/>
                <a:ea typeface="Calibri"/>
                <a:cs typeface="Calibri"/>
              </a:rPr>
              <a:t> AI  /  </a:t>
            </a:r>
            <a:r>
              <a:rPr lang="en-IN" sz="1050" b="0" dirty="0">
                <a:solidFill>
                  <a:srgbClr val="64748B"/>
                </a:solidFill>
                <a:latin typeface="Calibri"/>
                <a:ea typeface="Calibri"/>
                <a:cs typeface="Calibri"/>
              </a:rPr>
              <a:t>Healthcare Group 3</a:t>
            </a:r>
            <a:endParaRPr sz="1050" b="0" dirty="0">
              <a:solidFill>
                <a:srgbClr val="64748B"/>
              </a:solidFill>
              <a:latin typeface="Calibri"/>
              <a:ea typeface="Calibri"/>
              <a:cs typeface="Calibri"/>
            </a:endParaRPr>
          </a:p>
        </p:txBody>
      </p:sp>
      <p:sp>
        <p:nvSpPr>
          <p:cNvPr id="3" name="Rectangle 2">
            <a:extLst>
              <a:ext uri="{FF2B5EF4-FFF2-40B4-BE49-F238E27FC236}">
                <a16:creationId xmlns:a16="http://schemas.microsoft.com/office/drawing/2014/main" id="{2BF8DF4E-9833-4504-A428-3E1D135EECFD}"/>
              </a:ext>
            </a:extLst>
          </p:cNvPr>
          <p:cNvSpPr>
            <a:spLocks noGrp="1"/>
          </p:cNvSpPr>
          <p:nvPr/>
        </p:nvSpPr>
        <p:spPr>
          <a:xfrm>
            <a:off x="10810875" y="6086475"/>
            <a:ext cx="361950" cy="209550"/>
          </a:xfrm>
          <a:prstGeom prst="rect">
            <a:avLst/>
          </a:prstGeom>
          <a:noFill/>
          <a:ln w="0">
            <a:noFill/>
          </a:ln>
        </p:spPr>
        <p:txBody>
          <a:bodyPr lIns="0" tIns="0" rIns="0" bIns="0" anchor="t"/>
          <a:lstStyle>
            <a:defPPr>
              <a:defRPr sz="1200" b="1">
                <a:solidFill>
                  <a:srgbClr val="A32530"/>
                </a:solidFill>
                <a:latin typeface="Calibri"/>
                <a:ea typeface="Calibri"/>
                <a:cs typeface="Calibri"/>
              </a:defRPr>
            </a:defPPr>
          </a:lstStyle>
          <a:p>
            <a:pPr>
              <a:buNone/>
              <a:defRPr sz="1200" b="1">
                <a:solidFill>
                  <a:srgbClr val="A32530"/>
                </a:solidFill>
                <a:latin typeface="Calibri"/>
                <a:ea typeface="Calibri"/>
                <a:cs typeface="Calibri"/>
              </a:defRPr>
            </a:pPr>
            <a:r>
              <a:rPr sz="1200" b="1">
                <a:solidFill>
                  <a:srgbClr val="A32530"/>
                </a:solidFill>
                <a:latin typeface="Calibri"/>
                <a:ea typeface="Calibri"/>
                <a:cs typeface="Calibri"/>
              </a:rPr>
              <a:t>03</a:t>
            </a:r>
          </a:p>
        </p:txBody>
      </p:sp>
      <p:sp>
        <p:nvSpPr>
          <p:cNvPr id="4" name="Rectangle 3">
            <a:extLst>
              <a:ext uri="{FF2B5EF4-FFF2-40B4-BE49-F238E27FC236}">
                <a16:creationId xmlns:a16="http://schemas.microsoft.com/office/drawing/2014/main" id="{284A9429-455B-4325-A1B5-35DE449EB99A}"/>
              </a:ext>
            </a:extLst>
          </p:cNvPr>
          <p:cNvSpPr>
            <a:spLocks noGrp="1"/>
          </p:cNvSpPr>
          <p:nvPr/>
        </p:nvSpPr>
        <p:spPr>
          <a:xfrm>
            <a:off x="1009650" y="2109978"/>
            <a:ext cx="453695" cy="365760"/>
          </a:xfrm>
          <a:prstGeom prst="rect">
            <a:avLst/>
          </a:prstGeom>
          <a:noFill/>
          <a:ln w="0">
            <a:noFill/>
          </a:ln>
        </p:spPr>
        <p:txBody>
          <a:bodyPr lIns="0" tIns="0" rIns="0" bIns="0" anchor="t"/>
          <a:lstStyle>
            <a:defPPr>
              <a:defRPr sz="2178" b="1">
                <a:solidFill>
                  <a:srgbClr val="A32530"/>
                </a:solidFill>
                <a:latin typeface="Calibri"/>
                <a:ea typeface="Calibri"/>
                <a:cs typeface="Calibri"/>
              </a:defRPr>
            </a:defPPr>
          </a:lstStyle>
          <a:p>
            <a:pPr>
              <a:buNone/>
              <a:defRPr sz="2178" b="1">
                <a:solidFill>
                  <a:srgbClr val="A32530"/>
                </a:solidFill>
                <a:latin typeface="Calibri"/>
                <a:ea typeface="Calibri"/>
                <a:cs typeface="Calibri"/>
              </a:defRPr>
            </a:pPr>
            <a:r>
              <a:rPr sz="2178" b="1">
                <a:solidFill>
                  <a:srgbClr val="A32530"/>
                </a:solidFill>
                <a:latin typeface="Calibri"/>
                <a:ea typeface="Calibri"/>
                <a:cs typeface="Calibri"/>
              </a:rPr>
              <a:t>01</a:t>
            </a:r>
          </a:p>
        </p:txBody>
      </p:sp>
      <p:sp>
        <p:nvSpPr>
          <p:cNvPr id="5" name="Rectangle 4">
            <a:extLst>
              <a:ext uri="{FF2B5EF4-FFF2-40B4-BE49-F238E27FC236}">
                <a16:creationId xmlns:a16="http://schemas.microsoft.com/office/drawing/2014/main" id="{64F7DDB9-C650-4900-9339-7FC248EB1F10}"/>
              </a:ext>
            </a:extLst>
          </p:cNvPr>
          <p:cNvSpPr>
            <a:spLocks noGrp="1"/>
          </p:cNvSpPr>
          <p:nvPr/>
        </p:nvSpPr>
        <p:spPr>
          <a:xfrm>
            <a:off x="1602943" y="2109978"/>
            <a:ext cx="4074528" cy="292608"/>
          </a:xfrm>
          <a:prstGeom prst="rect">
            <a:avLst/>
          </a:prstGeom>
          <a:noFill/>
          <a:ln w="0">
            <a:noFill/>
          </a:ln>
        </p:spPr>
        <p:txBody>
          <a:bodyPr lIns="0" tIns="0" rIns="0" bIns="0" anchor="t"/>
          <a:lstStyle>
            <a:defPPr>
              <a:defRPr sz="1848" b="1">
                <a:solidFill>
                  <a:srgbClr val="A32530"/>
                </a:solidFill>
                <a:latin typeface="Calibri"/>
                <a:ea typeface="Calibri"/>
                <a:cs typeface="Calibri"/>
              </a:defRPr>
            </a:defPPr>
          </a:lstStyle>
          <a:p>
            <a:pPr>
              <a:buNone/>
              <a:defRPr sz="1848" b="1">
                <a:solidFill>
                  <a:srgbClr val="A32530"/>
                </a:solidFill>
                <a:latin typeface="Calibri"/>
                <a:ea typeface="Calibri"/>
                <a:cs typeface="Calibri"/>
              </a:defRPr>
            </a:pPr>
            <a:r>
              <a:rPr sz="1848" b="1">
                <a:solidFill>
                  <a:srgbClr val="A32530"/>
                </a:solidFill>
                <a:latin typeface="Calibri"/>
                <a:ea typeface="Calibri"/>
                <a:cs typeface="Calibri"/>
              </a:rPr>
              <a:t>Organize patient records</a:t>
            </a:r>
          </a:p>
        </p:txBody>
      </p:sp>
      <p:sp>
        <p:nvSpPr>
          <p:cNvPr id="6" name="Rectangle 5">
            <a:extLst>
              <a:ext uri="{FF2B5EF4-FFF2-40B4-BE49-F238E27FC236}">
                <a16:creationId xmlns:a16="http://schemas.microsoft.com/office/drawing/2014/main" id="{BDCB566A-2E6D-4C81-B889-D71AE03E06A5}"/>
              </a:ext>
            </a:extLst>
          </p:cNvPr>
          <p:cNvSpPr>
            <a:spLocks noGrp="1"/>
          </p:cNvSpPr>
          <p:nvPr/>
        </p:nvSpPr>
        <p:spPr>
          <a:xfrm>
            <a:off x="1602943" y="2461108"/>
            <a:ext cx="4074528" cy="694944"/>
          </a:xfrm>
          <a:prstGeom prst="rect">
            <a:avLst/>
          </a:prstGeom>
          <a:noFill/>
          <a:ln w="0">
            <a:noFill/>
          </a:ln>
        </p:spPr>
        <p:txBody>
          <a:bodyPr lIns="0" tIns="0" rIns="0" bIns="0" anchor="t"/>
          <a:lstStyle>
            <a:defPPr>
              <a:defRPr sz="1650" b="0">
                <a:solidFill>
                  <a:srgbClr val="1F2937"/>
                </a:solidFill>
                <a:latin typeface="Calibri"/>
                <a:ea typeface="Calibri"/>
                <a:cs typeface="Calibri"/>
              </a:defRPr>
            </a:defPPr>
          </a:lstStyle>
          <a:p>
            <a:pPr>
              <a:buNone/>
              <a:defRPr sz="1650" b="0">
                <a:solidFill>
                  <a:srgbClr val="1F2937"/>
                </a:solidFill>
                <a:latin typeface="Calibri"/>
                <a:ea typeface="Calibri"/>
                <a:cs typeface="Calibri"/>
              </a:defRPr>
            </a:pPr>
            <a:r>
              <a:rPr sz="1650" b="0" dirty="0">
                <a:solidFill>
                  <a:srgbClr val="1F2937"/>
                </a:solidFill>
                <a:latin typeface="Calibri"/>
                <a:ea typeface="Calibri"/>
                <a:cs typeface="Calibri"/>
              </a:rPr>
              <a:t>Register patients and find records by name or ID.</a:t>
            </a:r>
          </a:p>
        </p:txBody>
      </p:sp>
      <p:sp>
        <p:nvSpPr>
          <p:cNvPr id="7" name="Rectangle 6">
            <a:extLst>
              <a:ext uri="{FF2B5EF4-FFF2-40B4-BE49-F238E27FC236}">
                <a16:creationId xmlns:a16="http://schemas.microsoft.com/office/drawing/2014/main" id="{58C09B3E-7269-4ED6-B263-37BC98D8337F}"/>
              </a:ext>
            </a:extLst>
          </p:cNvPr>
          <p:cNvSpPr>
            <a:spLocks noGrp="1"/>
          </p:cNvSpPr>
          <p:nvPr/>
        </p:nvSpPr>
        <p:spPr>
          <a:xfrm>
            <a:off x="6384188" y="2109978"/>
            <a:ext cx="453695" cy="365760"/>
          </a:xfrm>
          <a:prstGeom prst="rect">
            <a:avLst/>
          </a:prstGeom>
          <a:noFill/>
          <a:ln w="0">
            <a:noFill/>
          </a:ln>
        </p:spPr>
        <p:txBody>
          <a:bodyPr lIns="0" tIns="0" rIns="0" bIns="0" anchor="t"/>
          <a:lstStyle>
            <a:defPPr>
              <a:defRPr sz="2178" b="1">
                <a:solidFill>
                  <a:srgbClr val="A32530"/>
                </a:solidFill>
                <a:latin typeface="Calibri"/>
                <a:ea typeface="Calibri"/>
                <a:cs typeface="Calibri"/>
              </a:defRPr>
            </a:defPPr>
          </a:lstStyle>
          <a:p>
            <a:pPr>
              <a:buNone/>
              <a:defRPr sz="2178" b="1">
                <a:solidFill>
                  <a:srgbClr val="A32530"/>
                </a:solidFill>
                <a:latin typeface="Calibri"/>
                <a:ea typeface="Calibri"/>
                <a:cs typeface="Calibri"/>
              </a:defRPr>
            </a:pPr>
            <a:r>
              <a:rPr sz="2178" b="1">
                <a:solidFill>
                  <a:srgbClr val="A32530"/>
                </a:solidFill>
                <a:latin typeface="Calibri"/>
                <a:ea typeface="Calibri"/>
                <a:cs typeface="Calibri"/>
              </a:rPr>
              <a:t>02</a:t>
            </a:r>
          </a:p>
        </p:txBody>
      </p:sp>
      <p:sp>
        <p:nvSpPr>
          <p:cNvPr id="8" name="Rectangle 7">
            <a:extLst>
              <a:ext uri="{FF2B5EF4-FFF2-40B4-BE49-F238E27FC236}">
                <a16:creationId xmlns:a16="http://schemas.microsoft.com/office/drawing/2014/main" id="{C3D25213-4AA9-4BBB-86B1-DF26FBBE84B4}"/>
              </a:ext>
            </a:extLst>
          </p:cNvPr>
          <p:cNvSpPr>
            <a:spLocks noGrp="1"/>
          </p:cNvSpPr>
          <p:nvPr/>
        </p:nvSpPr>
        <p:spPr>
          <a:xfrm>
            <a:off x="6977482" y="2109978"/>
            <a:ext cx="4074528" cy="292608"/>
          </a:xfrm>
          <a:prstGeom prst="rect">
            <a:avLst/>
          </a:prstGeom>
          <a:noFill/>
          <a:ln w="0">
            <a:noFill/>
          </a:ln>
        </p:spPr>
        <p:txBody>
          <a:bodyPr lIns="0" tIns="0" rIns="0" bIns="0" anchor="t"/>
          <a:lstStyle>
            <a:defPPr>
              <a:defRPr sz="1848" b="1">
                <a:solidFill>
                  <a:srgbClr val="A32530"/>
                </a:solidFill>
                <a:latin typeface="Calibri"/>
                <a:ea typeface="Calibri"/>
                <a:cs typeface="Calibri"/>
              </a:defRPr>
            </a:defPPr>
          </a:lstStyle>
          <a:p>
            <a:pPr>
              <a:buNone/>
              <a:defRPr sz="1848" b="1">
                <a:solidFill>
                  <a:srgbClr val="A32530"/>
                </a:solidFill>
                <a:latin typeface="Calibri"/>
                <a:ea typeface="Calibri"/>
                <a:cs typeface="Calibri"/>
              </a:defRPr>
            </a:pPr>
            <a:r>
              <a:rPr sz="1848" b="1">
                <a:solidFill>
                  <a:srgbClr val="A32530"/>
                </a:solidFill>
                <a:latin typeface="Calibri"/>
                <a:ea typeface="Calibri"/>
                <a:cs typeface="Calibri"/>
              </a:rPr>
              <a:t>Demonstrate a test journey</a:t>
            </a:r>
          </a:p>
        </p:txBody>
      </p:sp>
      <p:sp>
        <p:nvSpPr>
          <p:cNvPr id="9" name="Rectangle 8">
            <a:extLst>
              <a:ext uri="{FF2B5EF4-FFF2-40B4-BE49-F238E27FC236}">
                <a16:creationId xmlns:a16="http://schemas.microsoft.com/office/drawing/2014/main" id="{904A15D9-57DF-4618-8349-838C47ADE140}"/>
              </a:ext>
            </a:extLst>
          </p:cNvPr>
          <p:cNvSpPr>
            <a:spLocks noGrp="1"/>
          </p:cNvSpPr>
          <p:nvPr/>
        </p:nvSpPr>
        <p:spPr>
          <a:xfrm>
            <a:off x="6977482" y="2461108"/>
            <a:ext cx="4074528" cy="694944"/>
          </a:xfrm>
          <a:prstGeom prst="rect">
            <a:avLst/>
          </a:prstGeom>
          <a:noFill/>
          <a:ln w="0">
            <a:noFill/>
          </a:ln>
        </p:spPr>
        <p:txBody>
          <a:bodyPr lIns="0" tIns="0" rIns="0" bIns="0" anchor="t"/>
          <a:lstStyle>
            <a:defPPr>
              <a:defRPr sz="1650" b="0">
                <a:solidFill>
                  <a:srgbClr val="1F2937"/>
                </a:solidFill>
                <a:latin typeface="Calibri"/>
                <a:ea typeface="Calibri"/>
                <a:cs typeface="Calibri"/>
              </a:defRPr>
            </a:defPPr>
          </a:lstStyle>
          <a:p>
            <a:pPr>
              <a:buNone/>
              <a:defRPr sz="1650" b="0">
                <a:solidFill>
                  <a:srgbClr val="1F2937"/>
                </a:solidFill>
                <a:latin typeface="Calibri"/>
                <a:ea typeface="Calibri"/>
                <a:cs typeface="Calibri"/>
              </a:defRPr>
            </a:pPr>
            <a:r>
              <a:rPr sz="1650" b="0">
                <a:solidFill>
                  <a:srgbClr val="1F2937"/>
                </a:solidFill>
                <a:latin typeface="Calibri"/>
                <a:ea typeface="Calibri"/>
                <a:cs typeface="Calibri"/>
              </a:rPr>
              <a:t>Select a patient and follow a timed simulation.</a:t>
            </a:r>
          </a:p>
        </p:txBody>
      </p:sp>
      <p:sp>
        <p:nvSpPr>
          <p:cNvPr id="10" name="Rectangle 9">
            <a:extLst>
              <a:ext uri="{FF2B5EF4-FFF2-40B4-BE49-F238E27FC236}">
                <a16:creationId xmlns:a16="http://schemas.microsoft.com/office/drawing/2014/main" id="{D21BF9C8-8F48-44A7-86EE-2D1139110512}"/>
              </a:ext>
            </a:extLst>
          </p:cNvPr>
          <p:cNvSpPr>
            <a:spLocks noGrp="1"/>
          </p:cNvSpPr>
          <p:nvPr/>
        </p:nvSpPr>
        <p:spPr>
          <a:xfrm>
            <a:off x="1009650" y="3682746"/>
            <a:ext cx="453695" cy="365760"/>
          </a:xfrm>
          <a:prstGeom prst="rect">
            <a:avLst/>
          </a:prstGeom>
          <a:noFill/>
          <a:ln w="0">
            <a:noFill/>
          </a:ln>
        </p:spPr>
        <p:txBody>
          <a:bodyPr lIns="0" tIns="0" rIns="0" bIns="0" anchor="t"/>
          <a:lstStyle>
            <a:defPPr>
              <a:defRPr sz="2178" b="1">
                <a:solidFill>
                  <a:srgbClr val="A32530"/>
                </a:solidFill>
                <a:latin typeface="Calibri"/>
                <a:ea typeface="Calibri"/>
                <a:cs typeface="Calibri"/>
              </a:defRPr>
            </a:defPPr>
          </a:lstStyle>
          <a:p>
            <a:pPr>
              <a:buNone/>
              <a:defRPr sz="2178" b="1">
                <a:solidFill>
                  <a:srgbClr val="A32530"/>
                </a:solidFill>
                <a:latin typeface="Calibri"/>
                <a:ea typeface="Calibri"/>
                <a:cs typeface="Calibri"/>
              </a:defRPr>
            </a:pPr>
            <a:r>
              <a:rPr sz="2178" b="1">
                <a:solidFill>
                  <a:srgbClr val="A32530"/>
                </a:solidFill>
                <a:latin typeface="Calibri"/>
                <a:ea typeface="Calibri"/>
                <a:cs typeface="Calibri"/>
              </a:rPr>
              <a:t>03</a:t>
            </a:r>
          </a:p>
        </p:txBody>
      </p:sp>
      <p:sp>
        <p:nvSpPr>
          <p:cNvPr id="11" name="Rectangle 10">
            <a:extLst>
              <a:ext uri="{FF2B5EF4-FFF2-40B4-BE49-F238E27FC236}">
                <a16:creationId xmlns:a16="http://schemas.microsoft.com/office/drawing/2014/main" id="{33F6D82B-62C9-45C6-9BF9-8F52C45BB598}"/>
              </a:ext>
            </a:extLst>
          </p:cNvPr>
          <p:cNvSpPr>
            <a:spLocks noGrp="1"/>
          </p:cNvSpPr>
          <p:nvPr/>
        </p:nvSpPr>
        <p:spPr>
          <a:xfrm>
            <a:off x="1602943" y="3682746"/>
            <a:ext cx="4074528" cy="292608"/>
          </a:xfrm>
          <a:prstGeom prst="rect">
            <a:avLst/>
          </a:prstGeom>
          <a:noFill/>
          <a:ln w="0">
            <a:noFill/>
          </a:ln>
        </p:spPr>
        <p:txBody>
          <a:bodyPr lIns="0" tIns="0" rIns="0" bIns="0" anchor="t"/>
          <a:lstStyle>
            <a:defPPr>
              <a:defRPr sz="1848" b="1">
                <a:solidFill>
                  <a:srgbClr val="A32530"/>
                </a:solidFill>
                <a:latin typeface="Calibri"/>
                <a:ea typeface="Calibri"/>
                <a:cs typeface="Calibri"/>
              </a:defRPr>
            </a:defPPr>
          </a:lstStyle>
          <a:p>
            <a:pPr>
              <a:buNone/>
              <a:defRPr sz="1848" b="1">
                <a:solidFill>
                  <a:srgbClr val="A32530"/>
                </a:solidFill>
                <a:latin typeface="Calibri"/>
                <a:ea typeface="Calibri"/>
                <a:cs typeface="Calibri"/>
              </a:defRPr>
            </a:pPr>
            <a:r>
              <a:rPr sz="1848" b="1">
                <a:solidFill>
                  <a:srgbClr val="A32530"/>
                </a:solidFill>
                <a:latin typeface="Calibri"/>
                <a:ea typeface="Calibri"/>
                <a:cs typeface="Calibri"/>
              </a:rPr>
              <a:t>Present linked results</a:t>
            </a:r>
          </a:p>
        </p:txBody>
      </p:sp>
      <p:sp>
        <p:nvSpPr>
          <p:cNvPr id="12" name="Rectangle 11">
            <a:extLst>
              <a:ext uri="{FF2B5EF4-FFF2-40B4-BE49-F238E27FC236}">
                <a16:creationId xmlns:a16="http://schemas.microsoft.com/office/drawing/2014/main" id="{C8B70244-2B2F-442C-992F-4BE5D3B4C548}"/>
              </a:ext>
            </a:extLst>
          </p:cNvPr>
          <p:cNvSpPr>
            <a:spLocks noGrp="1"/>
          </p:cNvSpPr>
          <p:nvPr/>
        </p:nvSpPr>
        <p:spPr>
          <a:xfrm>
            <a:off x="1602943" y="4033876"/>
            <a:ext cx="4074528" cy="694944"/>
          </a:xfrm>
          <a:prstGeom prst="rect">
            <a:avLst/>
          </a:prstGeom>
          <a:noFill/>
          <a:ln w="0">
            <a:noFill/>
          </a:ln>
        </p:spPr>
        <p:txBody>
          <a:bodyPr lIns="0" tIns="0" rIns="0" bIns="0" anchor="t"/>
          <a:lstStyle>
            <a:defPPr>
              <a:defRPr sz="1650" b="0">
                <a:solidFill>
                  <a:srgbClr val="1F2937"/>
                </a:solidFill>
                <a:latin typeface="Calibri"/>
                <a:ea typeface="Calibri"/>
                <a:cs typeface="Calibri"/>
              </a:defRPr>
            </a:defPPr>
          </a:lstStyle>
          <a:p>
            <a:pPr>
              <a:buNone/>
              <a:defRPr sz="1650" b="0">
                <a:solidFill>
                  <a:srgbClr val="1F2937"/>
                </a:solidFill>
                <a:latin typeface="Calibri"/>
                <a:ea typeface="Calibri"/>
                <a:cs typeface="Calibri"/>
              </a:defRPr>
            </a:pPr>
            <a:r>
              <a:rPr sz="1650" b="0">
                <a:solidFill>
                  <a:srgbClr val="1F2937"/>
                </a:solidFill>
                <a:latin typeface="Calibri"/>
                <a:ea typeface="Calibri"/>
                <a:cs typeface="Calibri"/>
              </a:rPr>
              <a:t>Display ten analytes, notes and a report for each test.</a:t>
            </a:r>
          </a:p>
        </p:txBody>
      </p:sp>
      <p:sp>
        <p:nvSpPr>
          <p:cNvPr id="13" name="Rectangle 12">
            <a:extLst>
              <a:ext uri="{FF2B5EF4-FFF2-40B4-BE49-F238E27FC236}">
                <a16:creationId xmlns:a16="http://schemas.microsoft.com/office/drawing/2014/main" id="{A55BB33E-C827-4D4B-B06F-ABE0E6BE44B2}"/>
              </a:ext>
            </a:extLst>
          </p:cNvPr>
          <p:cNvSpPr>
            <a:spLocks noGrp="1"/>
          </p:cNvSpPr>
          <p:nvPr/>
        </p:nvSpPr>
        <p:spPr>
          <a:xfrm>
            <a:off x="6384188" y="3682746"/>
            <a:ext cx="453695" cy="365760"/>
          </a:xfrm>
          <a:prstGeom prst="rect">
            <a:avLst/>
          </a:prstGeom>
          <a:noFill/>
          <a:ln w="0">
            <a:noFill/>
          </a:ln>
        </p:spPr>
        <p:txBody>
          <a:bodyPr lIns="0" tIns="0" rIns="0" bIns="0" anchor="t"/>
          <a:lstStyle>
            <a:defPPr>
              <a:defRPr sz="2178" b="1">
                <a:solidFill>
                  <a:srgbClr val="A32530"/>
                </a:solidFill>
                <a:latin typeface="Calibri"/>
                <a:ea typeface="Calibri"/>
                <a:cs typeface="Calibri"/>
              </a:defRPr>
            </a:defPPr>
          </a:lstStyle>
          <a:p>
            <a:pPr>
              <a:buNone/>
              <a:defRPr sz="2178" b="1">
                <a:solidFill>
                  <a:srgbClr val="A32530"/>
                </a:solidFill>
                <a:latin typeface="Calibri"/>
                <a:ea typeface="Calibri"/>
                <a:cs typeface="Calibri"/>
              </a:defRPr>
            </a:pPr>
            <a:r>
              <a:rPr sz="2178" b="1">
                <a:solidFill>
                  <a:srgbClr val="A32530"/>
                </a:solidFill>
                <a:latin typeface="Calibri"/>
                <a:ea typeface="Calibri"/>
                <a:cs typeface="Calibri"/>
              </a:rPr>
              <a:t>04</a:t>
            </a:r>
          </a:p>
        </p:txBody>
      </p:sp>
      <p:sp>
        <p:nvSpPr>
          <p:cNvPr id="14" name="Rectangle 13">
            <a:extLst>
              <a:ext uri="{FF2B5EF4-FFF2-40B4-BE49-F238E27FC236}">
                <a16:creationId xmlns:a16="http://schemas.microsoft.com/office/drawing/2014/main" id="{3EF245F9-B68B-44B2-B7E2-AB8DBD1C4B9C}"/>
              </a:ext>
            </a:extLst>
          </p:cNvPr>
          <p:cNvSpPr>
            <a:spLocks noGrp="1"/>
          </p:cNvSpPr>
          <p:nvPr/>
        </p:nvSpPr>
        <p:spPr>
          <a:xfrm>
            <a:off x="6977482" y="3682746"/>
            <a:ext cx="4074528" cy="292608"/>
          </a:xfrm>
          <a:prstGeom prst="rect">
            <a:avLst/>
          </a:prstGeom>
          <a:noFill/>
          <a:ln w="0">
            <a:noFill/>
          </a:ln>
        </p:spPr>
        <p:txBody>
          <a:bodyPr lIns="0" tIns="0" rIns="0" bIns="0" anchor="t"/>
          <a:lstStyle>
            <a:defPPr>
              <a:defRPr sz="1848" b="1">
                <a:solidFill>
                  <a:srgbClr val="A32530"/>
                </a:solidFill>
                <a:latin typeface="Calibri"/>
                <a:ea typeface="Calibri"/>
                <a:cs typeface="Calibri"/>
              </a:defRPr>
            </a:defPPr>
          </a:lstStyle>
          <a:p>
            <a:pPr>
              <a:buNone/>
              <a:defRPr sz="1848" b="1">
                <a:solidFill>
                  <a:srgbClr val="A32530"/>
                </a:solidFill>
                <a:latin typeface="Calibri"/>
                <a:ea typeface="Calibri"/>
                <a:cs typeface="Calibri"/>
              </a:defRPr>
            </a:pPr>
            <a:r>
              <a:rPr sz="1848" b="1">
                <a:solidFill>
                  <a:srgbClr val="A32530"/>
                </a:solidFill>
                <a:latin typeface="Calibri"/>
                <a:ea typeface="Calibri"/>
                <a:cs typeface="Calibri"/>
              </a:rPr>
              <a:t>Retain local records</a:t>
            </a:r>
          </a:p>
        </p:txBody>
      </p:sp>
      <p:sp>
        <p:nvSpPr>
          <p:cNvPr id="15" name="Rectangle 14">
            <a:extLst>
              <a:ext uri="{FF2B5EF4-FFF2-40B4-BE49-F238E27FC236}">
                <a16:creationId xmlns:a16="http://schemas.microsoft.com/office/drawing/2014/main" id="{12C60FAF-9E06-4B35-BE66-0803BCD49E23}"/>
              </a:ext>
            </a:extLst>
          </p:cNvPr>
          <p:cNvSpPr>
            <a:spLocks noGrp="1"/>
          </p:cNvSpPr>
          <p:nvPr/>
        </p:nvSpPr>
        <p:spPr>
          <a:xfrm>
            <a:off x="6977482" y="4033876"/>
            <a:ext cx="4074528" cy="694944"/>
          </a:xfrm>
          <a:prstGeom prst="rect">
            <a:avLst/>
          </a:prstGeom>
          <a:noFill/>
          <a:ln w="0">
            <a:noFill/>
          </a:ln>
        </p:spPr>
        <p:txBody>
          <a:bodyPr lIns="0" tIns="0" rIns="0" bIns="0" anchor="t"/>
          <a:lstStyle>
            <a:defPPr>
              <a:defRPr sz="1650" b="0">
                <a:solidFill>
                  <a:srgbClr val="1F2937"/>
                </a:solidFill>
                <a:latin typeface="Calibri"/>
                <a:ea typeface="Calibri"/>
                <a:cs typeface="Calibri"/>
              </a:defRPr>
            </a:defPPr>
          </a:lstStyle>
          <a:p>
            <a:pPr>
              <a:buNone/>
              <a:defRPr sz="1650" b="0">
                <a:solidFill>
                  <a:srgbClr val="1F2937"/>
                </a:solidFill>
                <a:latin typeface="Calibri"/>
                <a:ea typeface="Calibri"/>
                <a:cs typeface="Calibri"/>
              </a:defRPr>
            </a:pPr>
            <a:r>
              <a:rPr sz="1650" b="0">
                <a:solidFill>
                  <a:srgbClr val="1F2937"/>
                </a:solidFill>
                <a:latin typeface="Calibri"/>
                <a:ea typeface="Calibri"/>
                <a:cs typeface="Calibri"/>
              </a:rPr>
              <a:t>Save records in browser storage for later viewing.</a:t>
            </a:r>
          </a:p>
        </p:txBody>
      </p:sp>
      <p:sp>
        <p:nvSpPr>
          <p:cNvPr id="16" name="Rectangle 15">
            <a:extLst>
              <a:ext uri="{FF2B5EF4-FFF2-40B4-BE49-F238E27FC236}">
                <a16:creationId xmlns:a16="http://schemas.microsoft.com/office/drawing/2014/main" id="{270B7CC2-45D7-494C-9589-5A07BC3D7B5A}"/>
              </a:ext>
            </a:extLst>
          </p:cNvPr>
          <p:cNvSpPr>
            <a:spLocks noGrp="1"/>
          </p:cNvSpPr>
          <p:nvPr/>
        </p:nvSpPr>
        <p:spPr>
          <a:xfrm>
            <a:off x="1009650" y="5299405"/>
            <a:ext cx="10033635" cy="482803"/>
          </a:xfrm>
          <a:prstGeom prst="rect">
            <a:avLst/>
          </a:prstGeom>
          <a:noFill/>
          <a:ln w="0">
            <a:noFill/>
          </a:ln>
        </p:spPr>
        <p:txBody>
          <a:bodyPr lIns="0" tIns="0" rIns="0" bIns="0" anchor="t"/>
          <a:lstStyle>
            <a:defPPr>
              <a:defRPr sz="1716" b="1">
                <a:solidFill>
                  <a:srgbClr val="A32530"/>
                </a:solidFill>
                <a:latin typeface="Calibri"/>
                <a:ea typeface="Calibri"/>
                <a:cs typeface="Calibri"/>
              </a:defRPr>
            </a:defPPr>
          </a:lstStyle>
          <a:p>
            <a:pPr>
              <a:buNone/>
              <a:defRPr sz="1716" b="1">
                <a:solidFill>
                  <a:srgbClr val="A32530"/>
                </a:solidFill>
                <a:latin typeface="Calibri"/>
                <a:ea typeface="Calibri"/>
                <a:cs typeface="Calibri"/>
              </a:defRPr>
            </a:pPr>
            <a:r>
              <a:rPr sz="1716" b="1">
                <a:solidFill>
                  <a:srgbClr val="A32530"/>
                </a:solidFill>
                <a:latin typeface="Calibri"/>
                <a:ea typeface="Calibri"/>
                <a:cs typeface="Calibri"/>
              </a:rPr>
              <a:t>Scope: frontend prototype. AI analysis, physical sensing and a backend are future work.</a:t>
            </a:r>
          </a:p>
        </p:txBody>
      </p:sp>
    </p:spTree>
    <p:extLst>
      <p:ext uri="{BB962C8B-B14F-4D97-AF65-F5344CB8AC3E}">
        <p14:creationId xmlns:p14="http://schemas.microsoft.com/office/powerpoint/2010/main" val="8088518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DC493D70-C893-44FD-960B-4550D85EBF51}"/>
              </a:ext>
            </a:extLst>
          </p:cNvPr>
          <p:cNvPicPr>
            <a:picLocks noChangeAspect="1"/>
          </p:cNvPicPr>
          <p:nvPr/>
        </p:nvPicPr>
        <p:blipFill>
          <a:blip r:embed="rId3"/>
          <a:stretch/>
        </p:blipFill>
        <p:spPr>
          <a:xfrm>
            <a:off x="0" y="0"/>
            <a:ext cx="12192000" cy="6858000"/>
          </a:xfrm>
          <a:prstGeom prst="rect">
            <a:avLst/>
          </a:prstGeom>
        </p:spPr>
      </p:pic>
      <p:sp>
        <p:nvSpPr>
          <p:cNvPr id="15" name="Rectangle 14">
            <a:extLst>
              <a:ext uri="{FF2B5EF4-FFF2-40B4-BE49-F238E27FC236}">
                <a16:creationId xmlns:a16="http://schemas.microsoft.com/office/drawing/2014/main" id="{C7B0D6E6-67B6-4126-8F8C-4F36B3403DFC}"/>
              </a:ext>
            </a:extLst>
          </p:cNvPr>
          <p:cNvSpPr>
            <a:spLocks noGrp="1"/>
          </p:cNvSpPr>
          <p:nvPr/>
        </p:nvSpPr>
        <p:spPr>
          <a:xfrm>
            <a:off x="1009650" y="1190625"/>
            <a:ext cx="10287000" cy="638175"/>
          </a:xfrm>
          <a:prstGeom prst="rect">
            <a:avLst/>
          </a:prstGeom>
          <a:noFill/>
          <a:ln w="0">
            <a:noFill/>
          </a:ln>
        </p:spPr>
        <p:txBody>
          <a:bodyPr lIns="0" tIns="0" rIns="0" bIns="0" anchor="t"/>
          <a:lstStyle>
            <a:defPPr>
              <a:defRPr sz="3400" b="1">
                <a:solidFill>
                  <a:srgbClr val="A32530"/>
                </a:solidFill>
                <a:latin typeface="Cambria"/>
                <a:ea typeface="Cambria"/>
                <a:cs typeface="Cambria"/>
              </a:defRPr>
            </a:defPPr>
          </a:lstStyle>
          <a:p>
            <a:pPr>
              <a:buNone/>
              <a:defRPr sz="3400" b="1">
                <a:solidFill>
                  <a:srgbClr val="A32530"/>
                </a:solidFill>
                <a:latin typeface="Cambria"/>
                <a:ea typeface="Cambria"/>
                <a:cs typeface="Cambria"/>
              </a:defRPr>
            </a:pPr>
            <a:r>
              <a:rPr sz="3400" b="1">
                <a:solidFill>
                  <a:srgbClr val="A32530"/>
                </a:solidFill>
                <a:latin typeface="Cambria"/>
                <a:ea typeface="Cambria"/>
                <a:cs typeface="Cambria"/>
              </a:rPr>
              <a:t>Technology stack</a:t>
            </a:r>
          </a:p>
        </p:txBody>
      </p:sp>
      <p:sp>
        <p:nvSpPr>
          <p:cNvPr id="2" name="Rectangle 1">
            <a:extLst>
              <a:ext uri="{FF2B5EF4-FFF2-40B4-BE49-F238E27FC236}">
                <a16:creationId xmlns:a16="http://schemas.microsoft.com/office/drawing/2014/main" id="{D7B087DF-E69C-4692-8A27-BD72446F9E47}"/>
              </a:ext>
            </a:extLst>
          </p:cNvPr>
          <p:cNvSpPr>
            <a:spLocks noGrp="1"/>
          </p:cNvSpPr>
          <p:nvPr/>
        </p:nvSpPr>
        <p:spPr>
          <a:xfrm>
            <a:off x="1009650" y="6086475"/>
            <a:ext cx="9048750" cy="209550"/>
          </a:xfrm>
          <a:prstGeom prst="rect">
            <a:avLst/>
          </a:prstGeom>
          <a:noFill/>
          <a:ln w="0">
            <a:noFill/>
          </a:ln>
        </p:spPr>
        <p:txBody>
          <a:bodyPr lIns="0" tIns="0" rIns="0" bIns="0" anchor="t"/>
          <a:lstStyle>
            <a:defPPr>
              <a:defRPr sz="1050" b="0">
                <a:solidFill>
                  <a:srgbClr val="64748B"/>
                </a:solidFill>
                <a:latin typeface="Calibri"/>
                <a:ea typeface="Calibri"/>
                <a:cs typeface="Calibri"/>
              </a:defRPr>
            </a:defPPr>
          </a:lstStyle>
          <a:p>
            <a:pPr>
              <a:buNone/>
              <a:defRPr sz="1050" b="0">
                <a:solidFill>
                  <a:srgbClr val="64748B"/>
                </a:solidFill>
                <a:latin typeface="Calibri"/>
                <a:ea typeface="Calibri"/>
                <a:cs typeface="Calibri"/>
              </a:defRPr>
            </a:pPr>
            <a:r>
              <a:rPr sz="1050" b="0" dirty="0" err="1">
                <a:solidFill>
                  <a:srgbClr val="64748B"/>
                </a:solidFill>
                <a:latin typeface="Calibri"/>
                <a:ea typeface="Calibri"/>
                <a:cs typeface="Calibri"/>
              </a:rPr>
              <a:t>UroScan</a:t>
            </a:r>
            <a:r>
              <a:rPr sz="1050" b="0" dirty="0">
                <a:solidFill>
                  <a:srgbClr val="64748B"/>
                </a:solidFill>
                <a:latin typeface="Calibri"/>
                <a:ea typeface="Calibri"/>
                <a:cs typeface="Calibri"/>
              </a:rPr>
              <a:t> AI  /  </a:t>
            </a:r>
            <a:r>
              <a:rPr lang="en-IN" sz="1050" b="0" dirty="0">
                <a:solidFill>
                  <a:srgbClr val="64748B"/>
                </a:solidFill>
                <a:latin typeface="Calibri"/>
                <a:ea typeface="Calibri"/>
                <a:cs typeface="Calibri"/>
              </a:rPr>
              <a:t>Healthcare Group 3</a:t>
            </a:r>
            <a:endParaRPr sz="1050" b="0" dirty="0">
              <a:solidFill>
                <a:srgbClr val="64748B"/>
              </a:solidFill>
              <a:latin typeface="Calibri"/>
              <a:ea typeface="Calibri"/>
              <a:cs typeface="Calibri"/>
            </a:endParaRPr>
          </a:p>
        </p:txBody>
      </p:sp>
      <p:sp>
        <p:nvSpPr>
          <p:cNvPr id="3" name="Rectangle 2">
            <a:extLst>
              <a:ext uri="{FF2B5EF4-FFF2-40B4-BE49-F238E27FC236}">
                <a16:creationId xmlns:a16="http://schemas.microsoft.com/office/drawing/2014/main" id="{BC96555B-8FBA-4B13-A074-1BFBCBFE11F8}"/>
              </a:ext>
            </a:extLst>
          </p:cNvPr>
          <p:cNvSpPr>
            <a:spLocks noGrp="1"/>
          </p:cNvSpPr>
          <p:nvPr/>
        </p:nvSpPr>
        <p:spPr>
          <a:xfrm>
            <a:off x="10810875" y="6086475"/>
            <a:ext cx="361950" cy="209550"/>
          </a:xfrm>
          <a:prstGeom prst="rect">
            <a:avLst/>
          </a:prstGeom>
          <a:noFill/>
          <a:ln w="0">
            <a:noFill/>
          </a:ln>
        </p:spPr>
        <p:txBody>
          <a:bodyPr lIns="0" tIns="0" rIns="0" bIns="0" anchor="t"/>
          <a:lstStyle>
            <a:defPPr>
              <a:defRPr sz="1200" b="1">
                <a:solidFill>
                  <a:srgbClr val="A32530"/>
                </a:solidFill>
                <a:latin typeface="Calibri"/>
                <a:ea typeface="Calibri"/>
                <a:cs typeface="Calibri"/>
              </a:defRPr>
            </a:defPPr>
          </a:lstStyle>
          <a:p>
            <a:pPr>
              <a:buNone/>
              <a:defRPr sz="1200" b="1">
                <a:solidFill>
                  <a:srgbClr val="A32530"/>
                </a:solidFill>
                <a:latin typeface="Calibri"/>
                <a:ea typeface="Calibri"/>
                <a:cs typeface="Calibri"/>
              </a:defRPr>
            </a:pPr>
            <a:r>
              <a:rPr sz="1200" b="1">
                <a:solidFill>
                  <a:srgbClr val="A32530"/>
                </a:solidFill>
                <a:latin typeface="Calibri"/>
                <a:ea typeface="Calibri"/>
                <a:cs typeface="Calibri"/>
              </a:rPr>
              <a:t>04</a:t>
            </a:r>
          </a:p>
        </p:txBody>
      </p:sp>
      <p:sp>
        <p:nvSpPr>
          <p:cNvPr id="4" name="Rectangle 3">
            <a:extLst>
              <a:ext uri="{FF2B5EF4-FFF2-40B4-BE49-F238E27FC236}">
                <a16:creationId xmlns:a16="http://schemas.microsoft.com/office/drawing/2014/main" id="{8FC47268-21A4-4BED-ABBC-7CF63E0963CD}"/>
              </a:ext>
            </a:extLst>
          </p:cNvPr>
          <p:cNvSpPr>
            <a:spLocks noGrp="1"/>
          </p:cNvSpPr>
          <p:nvPr/>
        </p:nvSpPr>
        <p:spPr>
          <a:xfrm>
            <a:off x="1009650" y="2095348"/>
            <a:ext cx="3184589" cy="329184"/>
          </a:xfrm>
          <a:prstGeom prst="rect">
            <a:avLst/>
          </a:prstGeom>
          <a:noFill/>
          <a:ln w="0">
            <a:noFill/>
          </a:ln>
        </p:spPr>
        <p:txBody>
          <a:bodyPr lIns="0" tIns="0" rIns="0" bIns="0" anchor="t"/>
          <a:lstStyle>
            <a:defPPr>
              <a:defRPr sz="1848" b="1">
                <a:solidFill>
                  <a:srgbClr val="A32530"/>
                </a:solidFill>
                <a:latin typeface="Calibri"/>
                <a:ea typeface="Calibri"/>
                <a:cs typeface="Calibri"/>
              </a:defRPr>
            </a:defPPr>
          </a:lstStyle>
          <a:p>
            <a:pPr>
              <a:buNone/>
              <a:defRPr sz="1848" b="1">
                <a:solidFill>
                  <a:srgbClr val="A32530"/>
                </a:solidFill>
                <a:latin typeface="Calibri"/>
                <a:ea typeface="Calibri"/>
                <a:cs typeface="Calibri"/>
              </a:defRPr>
            </a:pPr>
            <a:r>
              <a:rPr sz="1848" b="1">
                <a:solidFill>
                  <a:srgbClr val="A32530"/>
                </a:solidFill>
                <a:latin typeface="Calibri"/>
                <a:ea typeface="Calibri"/>
                <a:cs typeface="Calibri"/>
              </a:rPr>
              <a:t>HTML5 + CSS</a:t>
            </a:r>
          </a:p>
        </p:txBody>
      </p:sp>
      <p:sp>
        <p:nvSpPr>
          <p:cNvPr id="5" name="Rectangle 4">
            <a:extLst>
              <a:ext uri="{FF2B5EF4-FFF2-40B4-BE49-F238E27FC236}">
                <a16:creationId xmlns:a16="http://schemas.microsoft.com/office/drawing/2014/main" id="{A997DD31-9AA8-420B-8C55-F4C5EC9348F9}"/>
              </a:ext>
            </a:extLst>
          </p:cNvPr>
          <p:cNvSpPr>
            <a:spLocks noGrp="1"/>
          </p:cNvSpPr>
          <p:nvPr/>
        </p:nvSpPr>
        <p:spPr>
          <a:xfrm>
            <a:off x="4386186" y="2095348"/>
            <a:ext cx="6587300" cy="438912"/>
          </a:xfrm>
          <a:prstGeom prst="rect">
            <a:avLst/>
          </a:prstGeom>
          <a:noFill/>
          <a:ln w="0">
            <a:noFill/>
          </a:ln>
        </p:spPr>
        <p:txBody>
          <a:bodyPr lIns="0" tIns="0" rIns="0" bIns="0" anchor="t"/>
          <a:lstStyle>
            <a:defPPr>
              <a:defRPr sz="1782" b="0">
                <a:solidFill>
                  <a:srgbClr val="1F2937"/>
                </a:solidFill>
                <a:latin typeface="Calibri"/>
                <a:ea typeface="Calibri"/>
                <a:cs typeface="Calibri"/>
              </a:defRPr>
            </a:defPPr>
          </a:lstStyle>
          <a:p>
            <a:pPr>
              <a:buNone/>
              <a:defRPr sz="1782" b="0">
                <a:solidFill>
                  <a:srgbClr val="1F2937"/>
                </a:solidFill>
                <a:latin typeface="Calibri"/>
                <a:ea typeface="Calibri"/>
                <a:cs typeface="Calibri"/>
              </a:defRPr>
            </a:pPr>
            <a:r>
              <a:rPr sz="1782" b="0">
                <a:solidFill>
                  <a:srgbClr val="1F2937"/>
                </a:solidFill>
                <a:latin typeface="Calibri"/>
                <a:ea typeface="Calibri"/>
                <a:cs typeface="Calibri"/>
              </a:rPr>
              <a:t>Pages, forms, tables, styling, Flexbox and Grid</a:t>
            </a:r>
          </a:p>
        </p:txBody>
      </p:sp>
      <p:sp>
        <p:nvSpPr>
          <p:cNvPr id="6" name="Rectangle 5">
            <a:extLst>
              <a:ext uri="{FF2B5EF4-FFF2-40B4-BE49-F238E27FC236}">
                <a16:creationId xmlns:a16="http://schemas.microsoft.com/office/drawing/2014/main" id="{FF752A16-23BC-4A3D-8CE1-852F7E212FA6}"/>
              </a:ext>
            </a:extLst>
          </p:cNvPr>
          <p:cNvSpPr>
            <a:spLocks noGrp="1"/>
          </p:cNvSpPr>
          <p:nvPr/>
        </p:nvSpPr>
        <p:spPr>
          <a:xfrm>
            <a:off x="1009650" y="2702509"/>
            <a:ext cx="3184589" cy="329184"/>
          </a:xfrm>
          <a:prstGeom prst="rect">
            <a:avLst/>
          </a:prstGeom>
          <a:noFill/>
          <a:ln w="0">
            <a:noFill/>
          </a:ln>
        </p:spPr>
        <p:txBody>
          <a:bodyPr lIns="0" tIns="0" rIns="0" bIns="0" anchor="t"/>
          <a:lstStyle>
            <a:defPPr>
              <a:defRPr sz="1848" b="1">
                <a:solidFill>
                  <a:srgbClr val="A32530"/>
                </a:solidFill>
                <a:latin typeface="Calibri"/>
                <a:ea typeface="Calibri"/>
                <a:cs typeface="Calibri"/>
              </a:defRPr>
            </a:defPPr>
          </a:lstStyle>
          <a:p>
            <a:pPr>
              <a:buNone/>
              <a:defRPr sz="1848" b="1">
                <a:solidFill>
                  <a:srgbClr val="A32530"/>
                </a:solidFill>
                <a:latin typeface="Calibri"/>
                <a:ea typeface="Calibri"/>
                <a:cs typeface="Calibri"/>
              </a:defRPr>
            </a:pPr>
            <a:r>
              <a:rPr sz="1848" b="1">
                <a:solidFill>
                  <a:srgbClr val="A32530"/>
                </a:solidFill>
                <a:latin typeface="Calibri"/>
                <a:ea typeface="Calibri"/>
                <a:cs typeface="Calibri"/>
              </a:rPr>
              <a:t>JavaScript + jQuery 3.7.1</a:t>
            </a:r>
          </a:p>
        </p:txBody>
      </p:sp>
      <p:sp>
        <p:nvSpPr>
          <p:cNvPr id="7" name="Rectangle 6">
            <a:extLst>
              <a:ext uri="{FF2B5EF4-FFF2-40B4-BE49-F238E27FC236}">
                <a16:creationId xmlns:a16="http://schemas.microsoft.com/office/drawing/2014/main" id="{03D09F78-1D6C-4439-9F4A-880CC2732E49}"/>
              </a:ext>
            </a:extLst>
          </p:cNvPr>
          <p:cNvSpPr>
            <a:spLocks noGrp="1"/>
          </p:cNvSpPr>
          <p:nvPr/>
        </p:nvSpPr>
        <p:spPr>
          <a:xfrm>
            <a:off x="4386186" y="2702509"/>
            <a:ext cx="6587300" cy="438912"/>
          </a:xfrm>
          <a:prstGeom prst="rect">
            <a:avLst/>
          </a:prstGeom>
          <a:noFill/>
          <a:ln w="0">
            <a:noFill/>
          </a:ln>
        </p:spPr>
        <p:txBody>
          <a:bodyPr lIns="0" tIns="0" rIns="0" bIns="0" anchor="t"/>
          <a:lstStyle>
            <a:defPPr>
              <a:defRPr sz="1782" b="0">
                <a:solidFill>
                  <a:srgbClr val="1F2937"/>
                </a:solidFill>
                <a:latin typeface="Calibri"/>
                <a:ea typeface="Calibri"/>
                <a:cs typeface="Calibri"/>
              </a:defRPr>
            </a:defPPr>
          </a:lstStyle>
          <a:p>
            <a:pPr>
              <a:buNone/>
              <a:defRPr sz="1782" b="0">
                <a:solidFill>
                  <a:srgbClr val="1F2937"/>
                </a:solidFill>
                <a:latin typeface="Calibri"/>
                <a:ea typeface="Calibri"/>
                <a:cs typeface="Calibri"/>
              </a:defRPr>
            </a:pPr>
            <a:r>
              <a:rPr sz="1782" b="0">
                <a:solidFill>
                  <a:srgbClr val="1F2937"/>
                </a:solidFill>
                <a:latin typeface="Calibri"/>
                <a:ea typeface="Calibri"/>
                <a:cs typeface="Calibri"/>
              </a:rPr>
              <a:t>Input handling, search, navigation and DOM updates</a:t>
            </a:r>
          </a:p>
        </p:txBody>
      </p:sp>
      <p:sp>
        <p:nvSpPr>
          <p:cNvPr id="8" name="Rectangle 7">
            <a:extLst>
              <a:ext uri="{FF2B5EF4-FFF2-40B4-BE49-F238E27FC236}">
                <a16:creationId xmlns:a16="http://schemas.microsoft.com/office/drawing/2014/main" id="{C86753E3-2F9A-4846-AF1B-84C26335798B}"/>
              </a:ext>
            </a:extLst>
          </p:cNvPr>
          <p:cNvSpPr>
            <a:spLocks noGrp="1"/>
          </p:cNvSpPr>
          <p:nvPr/>
        </p:nvSpPr>
        <p:spPr>
          <a:xfrm>
            <a:off x="1009650" y="3309671"/>
            <a:ext cx="3184589" cy="329184"/>
          </a:xfrm>
          <a:prstGeom prst="rect">
            <a:avLst/>
          </a:prstGeom>
          <a:noFill/>
          <a:ln w="0">
            <a:noFill/>
          </a:ln>
        </p:spPr>
        <p:txBody>
          <a:bodyPr lIns="0" tIns="0" rIns="0" bIns="0" anchor="t"/>
          <a:lstStyle>
            <a:defPPr>
              <a:defRPr sz="1848" b="1">
                <a:solidFill>
                  <a:srgbClr val="A32530"/>
                </a:solidFill>
                <a:latin typeface="Calibri"/>
                <a:ea typeface="Calibri"/>
                <a:cs typeface="Calibri"/>
              </a:defRPr>
            </a:defPPr>
          </a:lstStyle>
          <a:p>
            <a:pPr>
              <a:buNone/>
              <a:defRPr sz="1848" b="1">
                <a:solidFill>
                  <a:srgbClr val="A32530"/>
                </a:solidFill>
                <a:latin typeface="Calibri"/>
                <a:ea typeface="Calibri"/>
                <a:cs typeface="Calibri"/>
              </a:defRPr>
            </a:pPr>
            <a:r>
              <a:rPr sz="1848" b="1">
                <a:solidFill>
                  <a:srgbClr val="A32530"/>
                </a:solidFill>
                <a:latin typeface="Calibri"/>
                <a:ea typeface="Calibri"/>
                <a:cs typeface="Calibri"/>
              </a:rPr>
              <a:t>Chart.js</a:t>
            </a:r>
          </a:p>
        </p:txBody>
      </p:sp>
      <p:sp>
        <p:nvSpPr>
          <p:cNvPr id="9" name="Rectangle 8">
            <a:extLst>
              <a:ext uri="{FF2B5EF4-FFF2-40B4-BE49-F238E27FC236}">
                <a16:creationId xmlns:a16="http://schemas.microsoft.com/office/drawing/2014/main" id="{36BA1864-6E77-429A-86A1-A547AE654BC8}"/>
              </a:ext>
            </a:extLst>
          </p:cNvPr>
          <p:cNvSpPr>
            <a:spLocks noGrp="1"/>
          </p:cNvSpPr>
          <p:nvPr/>
        </p:nvSpPr>
        <p:spPr>
          <a:xfrm>
            <a:off x="4386186" y="3309671"/>
            <a:ext cx="6587300" cy="438912"/>
          </a:xfrm>
          <a:prstGeom prst="rect">
            <a:avLst/>
          </a:prstGeom>
          <a:noFill/>
          <a:ln w="0">
            <a:noFill/>
          </a:ln>
        </p:spPr>
        <p:txBody>
          <a:bodyPr lIns="0" tIns="0" rIns="0" bIns="0" anchor="t"/>
          <a:lstStyle>
            <a:defPPr>
              <a:defRPr sz="1782" b="0">
                <a:solidFill>
                  <a:srgbClr val="1F2937"/>
                </a:solidFill>
                <a:latin typeface="Calibri"/>
                <a:ea typeface="Calibri"/>
                <a:cs typeface="Calibri"/>
              </a:defRPr>
            </a:defPPr>
          </a:lstStyle>
          <a:p>
            <a:pPr>
              <a:buNone/>
              <a:defRPr sz="1782" b="0">
                <a:solidFill>
                  <a:srgbClr val="1F2937"/>
                </a:solidFill>
                <a:latin typeface="Calibri"/>
                <a:ea typeface="Calibri"/>
                <a:cs typeface="Calibri"/>
              </a:defRPr>
            </a:pPr>
            <a:r>
              <a:rPr sz="1782" b="0">
                <a:solidFill>
                  <a:srgbClr val="1F2937"/>
                </a:solidFill>
                <a:latin typeface="Calibri"/>
                <a:ea typeface="Calibri"/>
                <a:cs typeface="Calibri"/>
              </a:rPr>
              <a:t>Dashboard, patient-trend and analytics charts</a:t>
            </a:r>
          </a:p>
        </p:txBody>
      </p:sp>
      <p:sp>
        <p:nvSpPr>
          <p:cNvPr id="10" name="Rectangle 9">
            <a:extLst>
              <a:ext uri="{FF2B5EF4-FFF2-40B4-BE49-F238E27FC236}">
                <a16:creationId xmlns:a16="http://schemas.microsoft.com/office/drawing/2014/main" id="{1B4CD401-8BC7-4B4F-A98B-804E30A59765}"/>
              </a:ext>
            </a:extLst>
          </p:cNvPr>
          <p:cNvSpPr>
            <a:spLocks noGrp="1"/>
          </p:cNvSpPr>
          <p:nvPr/>
        </p:nvSpPr>
        <p:spPr>
          <a:xfrm>
            <a:off x="1009650" y="3916832"/>
            <a:ext cx="3184589" cy="329184"/>
          </a:xfrm>
          <a:prstGeom prst="rect">
            <a:avLst/>
          </a:prstGeom>
          <a:noFill/>
          <a:ln w="0">
            <a:noFill/>
          </a:ln>
        </p:spPr>
        <p:txBody>
          <a:bodyPr lIns="0" tIns="0" rIns="0" bIns="0" anchor="t"/>
          <a:lstStyle>
            <a:defPPr>
              <a:defRPr sz="1848" b="1">
                <a:solidFill>
                  <a:srgbClr val="A32530"/>
                </a:solidFill>
                <a:latin typeface="Calibri"/>
                <a:ea typeface="Calibri"/>
                <a:cs typeface="Calibri"/>
              </a:defRPr>
            </a:defPPr>
          </a:lstStyle>
          <a:p>
            <a:pPr>
              <a:buNone/>
              <a:defRPr sz="1848" b="1">
                <a:solidFill>
                  <a:srgbClr val="A32530"/>
                </a:solidFill>
                <a:latin typeface="Calibri"/>
                <a:ea typeface="Calibri"/>
                <a:cs typeface="Calibri"/>
              </a:defRPr>
            </a:pPr>
            <a:r>
              <a:rPr sz="1848" b="1">
                <a:solidFill>
                  <a:srgbClr val="A32530"/>
                </a:solidFill>
                <a:latin typeface="Calibri"/>
                <a:ea typeface="Calibri"/>
                <a:cs typeface="Calibri"/>
              </a:rPr>
              <a:t>Font Awesome 6.4.2</a:t>
            </a:r>
          </a:p>
        </p:txBody>
      </p:sp>
      <p:sp>
        <p:nvSpPr>
          <p:cNvPr id="11" name="Rectangle 10">
            <a:extLst>
              <a:ext uri="{FF2B5EF4-FFF2-40B4-BE49-F238E27FC236}">
                <a16:creationId xmlns:a16="http://schemas.microsoft.com/office/drawing/2014/main" id="{AD4038E4-D3C2-4CF8-8EBB-50C455CFA23A}"/>
              </a:ext>
            </a:extLst>
          </p:cNvPr>
          <p:cNvSpPr>
            <a:spLocks noGrp="1"/>
          </p:cNvSpPr>
          <p:nvPr/>
        </p:nvSpPr>
        <p:spPr>
          <a:xfrm>
            <a:off x="4386186" y="3916832"/>
            <a:ext cx="6587300" cy="438912"/>
          </a:xfrm>
          <a:prstGeom prst="rect">
            <a:avLst/>
          </a:prstGeom>
          <a:noFill/>
          <a:ln w="0">
            <a:noFill/>
          </a:ln>
        </p:spPr>
        <p:txBody>
          <a:bodyPr lIns="0" tIns="0" rIns="0" bIns="0" anchor="t"/>
          <a:lstStyle>
            <a:defPPr>
              <a:defRPr sz="1782" b="0">
                <a:solidFill>
                  <a:srgbClr val="1F2937"/>
                </a:solidFill>
                <a:latin typeface="Calibri"/>
                <a:ea typeface="Calibri"/>
                <a:cs typeface="Calibri"/>
              </a:defRPr>
            </a:defPPr>
          </a:lstStyle>
          <a:p>
            <a:pPr>
              <a:buNone/>
              <a:defRPr sz="1782" b="0">
                <a:solidFill>
                  <a:srgbClr val="1F2937"/>
                </a:solidFill>
                <a:latin typeface="Calibri"/>
                <a:ea typeface="Calibri"/>
                <a:cs typeface="Calibri"/>
              </a:defRPr>
            </a:pPr>
            <a:r>
              <a:rPr sz="1782" b="0">
                <a:solidFill>
                  <a:srgbClr val="1F2937"/>
                </a:solidFill>
                <a:latin typeface="Calibri"/>
                <a:ea typeface="Calibri"/>
                <a:cs typeface="Calibri"/>
              </a:rPr>
              <a:t>Interface icons</a:t>
            </a:r>
          </a:p>
        </p:txBody>
      </p:sp>
      <p:sp>
        <p:nvSpPr>
          <p:cNvPr id="12" name="Rectangle 11">
            <a:extLst>
              <a:ext uri="{FF2B5EF4-FFF2-40B4-BE49-F238E27FC236}">
                <a16:creationId xmlns:a16="http://schemas.microsoft.com/office/drawing/2014/main" id="{8637C8E4-0AFF-4F23-AE00-C6AEB49C9A4A}"/>
              </a:ext>
            </a:extLst>
          </p:cNvPr>
          <p:cNvSpPr>
            <a:spLocks noGrp="1"/>
          </p:cNvSpPr>
          <p:nvPr/>
        </p:nvSpPr>
        <p:spPr>
          <a:xfrm>
            <a:off x="1009650" y="4523994"/>
            <a:ext cx="3184589" cy="329184"/>
          </a:xfrm>
          <a:prstGeom prst="rect">
            <a:avLst/>
          </a:prstGeom>
          <a:noFill/>
          <a:ln w="0">
            <a:noFill/>
          </a:ln>
        </p:spPr>
        <p:txBody>
          <a:bodyPr lIns="0" tIns="0" rIns="0" bIns="0" anchor="t"/>
          <a:lstStyle>
            <a:defPPr>
              <a:defRPr sz="1848" b="1">
                <a:solidFill>
                  <a:srgbClr val="A32530"/>
                </a:solidFill>
                <a:latin typeface="Calibri"/>
                <a:ea typeface="Calibri"/>
                <a:cs typeface="Calibri"/>
              </a:defRPr>
            </a:defPPr>
          </a:lstStyle>
          <a:p>
            <a:pPr>
              <a:buNone/>
              <a:defRPr sz="1848" b="1">
                <a:solidFill>
                  <a:srgbClr val="A32530"/>
                </a:solidFill>
                <a:latin typeface="Calibri"/>
                <a:ea typeface="Calibri"/>
                <a:cs typeface="Calibri"/>
              </a:defRPr>
            </a:pPr>
            <a:r>
              <a:rPr sz="1848" b="1">
                <a:solidFill>
                  <a:srgbClr val="A32530"/>
                </a:solidFill>
                <a:latin typeface="Calibri"/>
                <a:ea typeface="Calibri"/>
                <a:cs typeface="Calibri"/>
              </a:rPr>
              <a:t>localStorage + JSON</a:t>
            </a:r>
          </a:p>
        </p:txBody>
      </p:sp>
      <p:sp>
        <p:nvSpPr>
          <p:cNvPr id="13" name="Rectangle 12">
            <a:extLst>
              <a:ext uri="{FF2B5EF4-FFF2-40B4-BE49-F238E27FC236}">
                <a16:creationId xmlns:a16="http://schemas.microsoft.com/office/drawing/2014/main" id="{6D9D4735-A90E-4CC6-9345-49A1BE20E9AF}"/>
              </a:ext>
            </a:extLst>
          </p:cNvPr>
          <p:cNvSpPr>
            <a:spLocks noGrp="1"/>
          </p:cNvSpPr>
          <p:nvPr/>
        </p:nvSpPr>
        <p:spPr>
          <a:xfrm>
            <a:off x="4386186" y="4523994"/>
            <a:ext cx="6587300" cy="438912"/>
          </a:xfrm>
          <a:prstGeom prst="rect">
            <a:avLst/>
          </a:prstGeom>
          <a:noFill/>
          <a:ln w="0">
            <a:noFill/>
          </a:ln>
        </p:spPr>
        <p:txBody>
          <a:bodyPr lIns="0" tIns="0" rIns="0" bIns="0" anchor="t"/>
          <a:lstStyle>
            <a:defPPr>
              <a:defRPr sz="1782" b="0">
                <a:solidFill>
                  <a:srgbClr val="1F2937"/>
                </a:solidFill>
                <a:latin typeface="Calibri"/>
                <a:ea typeface="Calibri"/>
                <a:cs typeface="Calibri"/>
              </a:defRPr>
            </a:defPPr>
          </a:lstStyle>
          <a:p>
            <a:pPr>
              <a:buNone/>
              <a:defRPr sz="1782" b="0">
                <a:solidFill>
                  <a:srgbClr val="1F2937"/>
                </a:solidFill>
                <a:latin typeface="Calibri"/>
                <a:ea typeface="Calibri"/>
                <a:cs typeface="Calibri"/>
              </a:defRPr>
            </a:pPr>
            <a:r>
              <a:rPr sz="1782" b="0">
                <a:solidFill>
                  <a:srgbClr val="1F2937"/>
                </a:solidFill>
                <a:latin typeface="Calibri"/>
                <a:ea typeface="Calibri"/>
                <a:cs typeface="Calibri"/>
              </a:rPr>
              <a:t>Records retained in the same browser origin</a:t>
            </a:r>
          </a:p>
        </p:txBody>
      </p:sp>
      <p:sp>
        <p:nvSpPr>
          <p:cNvPr id="14" name="Rectangle 13">
            <a:extLst>
              <a:ext uri="{FF2B5EF4-FFF2-40B4-BE49-F238E27FC236}">
                <a16:creationId xmlns:a16="http://schemas.microsoft.com/office/drawing/2014/main" id="{53FFFD71-F52B-47F6-8298-BEAB1C0B6EC0}"/>
              </a:ext>
            </a:extLst>
          </p:cNvPr>
          <p:cNvSpPr>
            <a:spLocks noGrp="1"/>
          </p:cNvSpPr>
          <p:nvPr/>
        </p:nvSpPr>
        <p:spPr>
          <a:xfrm>
            <a:off x="1009650" y="5379872"/>
            <a:ext cx="10033635" cy="438912"/>
          </a:xfrm>
          <a:prstGeom prst="rect">
            <a:avLst/>
          </a:prstGeom>
          <a:noFill/>
          <a:ln w="0">
            <a:noFill/>
          </a:ln>
        </p:spPr>
        <p:txBody>
          <a:bodyPr lIns="0" tIns="0" rIns="0" bIns="0" anchor="t"/>
          <a:lstStyle>
            <a:defPPr>
              <a:defRPr sz="1650" b="1">
                <a:solidFill>
                  <a:srgbClr val="A32530"/>
                </a:solidFill>
                <a:latin typeface="Calibri"/>
                <a:ea typeface="Calibri"/>
                <a:cs typeface="Calibri"/>
              </a:defRPr>
            </a:defPPr>
          </a:lstStyle>
          <a:p>
            <a:pPr>
              <a:buNone/>
              <a:defRPr sz="1650" b="1">
                <a:solidFill>
                  <a:srgbClr val="A32530"/>
                </a:solidFill>
                <a:latin typeface="Calibri"/>
                <a:ea typeface="Calibri"/>
                <a:cs typeface="Calibri"/>
              </a:defRPr>
            </a:pPr>
            <a:r>
              <a:rPr sz="1650" b="1">
                <a:solidFill>
                  <a:srgbClr val="A32530"/>
                </a:solidFill>
                <a:latin typeface="Calibri"/>
                <a:ea typeface="Calibri"/>
                <a:cs typeface="Calibri"/>
              </a:rPr>
              <a:t>No backend, database server, diagnostic API or AI model is included in the ZIP.</a:t>
            </a:r>
          </a:p>
        </p:txBody>
      </p:sp>
    </p:spTree>
    <p:extLst>
      <p:ext uri="{BB962C8B-B14F-4D97-AF65-F5344CB8AC3E}">
        <p14:creationId xmlns:p14="http://schemas.microsoft.com/office/powerpoint/2010/main" val="2712386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6" name="Picture 25">
            <a:extLst>
              <a:ext uri="{FF2B5EF4-FFF2-40B4-BE49-F238E27FC236}">
                <a16:creationId xmlns:a16="http://schemas.microsoft.com/office/drawing/2014/main" id="{AED1C19E-16B2-4DA6-9746-65D34D4E6DC4}"/>
              </a:ext>
            </a:extLst>
          </p:cNvPr>
          <p:cNvPicPr>
            <a:picLocks noChangeAspect="1"/>
          </p:cNvPicPr>
          <p:nvPr/>
        </p:nvPicPr>
        <p:blipFill>
          <a:blip r:embed="rId3"/>
          <a:stretch/>
        </p:blipFill>
        <p:spPr>
          <a:xfrm>
            <a:off x="0" y="0"/>
            <a:ext cx="12192000" cy="6858000"/>
          </a:xfrm>
          <a:prstGeom prst="rect">
            <a:avLst/>
          </a:prstGeom>
        </p:spPr>
      </p:pic>
      <p:sp>
        <p:nvSpPr>
          <p:cNvPr id="25" name="Rectangle 24">
            <a:extLst>
              <a:ext uri="{FF2B5EF4-FFF2-40B4-BE49-F238E27FC236}">
                <a16:creationId xmlns:a16="http://schemas.microsoft.com/office/drawing/2014/main" id="{3934C53E-891F-446D-9956-50BB31D8B6EA}"/>
              </a:ext>
            </a:extLst>
          </p:cNvPr>
          <p:cNvSpPr>
            <a:spLocks noGrp="1"/>
          </p:cNvSpPr>
          <p:nvPr/>
        </p:nvSpPr>
        <p:spPr>
          <a:xfrm>
            <a:off x="1009650" y="1190625"/>
            <a:ext cx="10287000" cy="638175"/>
          </a:xfrm>
          <a:prstGeom prst="rect">
            <a:avLst/>
          </a:prstGeom>
          <a:noFill/>
          <a:ln w="0">
            <a:noFill/>
          </a:ln>
        </p:spPr>
        <p:txBody>
          <a:bodyPr lIns="0" tIns="0" rIns="0" bIns="0" anchor="t"/>
          <a:lstStyle>
            <a:defPPr>
              <a:defRPr sz="3400" b="1">
                <a:solidFill>
                  <a:srgbClr val="A32530"/>
                </a:solidFill>
                <a:latin typeface="Cambria"/>
                <a:ea typeface="Cambria"/>
                <a:cs typeface="Cambria"/>
              </a:defRPr>
            </a:defPPr>
          </a:lstStyle>
          <a:p>
            <a:pPr>
              <a:buNone/>
              <a:defRPr sz="3400" b="1">
                <a:solidFill>
                  <a:srgbClr val="A32530"/>
                </a:solidFill>
                <a:latin typeface="Cambria"/>
                <a:ea typeface="Cambria"/>
                <a:cs typeface="Cambria"/>
              </a:defRPr>
            </a:pPr>
            <a:r>
              <a:rPr sz="3400" b="1">
                <a:solidFill>
                  <a:srgbClr val="A32530"/>
                </a:solidFill>
                <a:latin typeface="Cambria"/>
                <a:ea typeface="Cambria"/>
                <a:cs typeface="Cambria"/>
              </a:rPr>
              <a:t>Actual system architecture</a:t>
            </a:r>
          </a:p>
        </p:txBody>
      </p:sp>
      <p:sp>
        <p:nvSpPr>
          <p:cNvPr id="2" name="Rectangle 1">
            <a:extLst>
              <a:ext uri="{FF2B5EF4-FFF2-40B4-BE49-F238E27FC236}">
                <a16:creationId xmlns:a16="http://schemas.microsoft.com/office/drawing/2014/main" id="{B40ADDFF-C0F2-425D-AD03-ADC976B61775}"/>
              </a:ext>
            </a:extLst>
          </p:cNvPr>
          <p:cNvSpPr>
            <a:spLocks noGrp="1"/>
          </p:cNvSpPr>
          <p:nvPr/>
        </p:nvSpPr>
        <p:spPr>
          <a:xfrm>
            <a:off x="1009650" y="6086475"/>
            <a:ext cx="9048750" cy="209550"/>
          </a:xfrm>
          <a:prstGeom prst="rect">
            <a:avLst/>
          </a:prstGeom>
          <a:noFill/>
          <a:ln w="0">
            <a:noFill/>
          </a:ln>
        </p:spPr>
        <p:txBody>
          <a:bodyPr lIns="0" tIns="0" rIns="0" bIns="0" anchor="t"/>
          <a:lstStyle>
            <a:defPPr>
              <a:defRPr sz="1050" b="0">
                <a:solidFill>
                  <a:srgbClr val="64748B"/>
                </a:solidFill>
                <a:latin typeface="Calibri"/>
                <a:ea typeface="Calibri"/>
                <a:cs typeface="Calibri"/>
              </a:defRPr>
            </a:defPPr>
          </a:lstStyle>
          <a:p>
            <a:pPr>
              <a:buNone/>
              <a:defRPr sz="1050" b="0">
                <a:solidFill>
                  <a:srgbClr val="64748B"/>
                </a:solidFill>
                <a:latin typeface="Calibri"/>
                <a:ea typeface="Calibri"/>
                <a:cs typeface="Calibri"/>
              </a:defRPr>
            </a:pPr>
            <a:r>
              <a:rPr sz="1050" b="0" dirty="0" err="1">
                <a:solidFill>
                  <a:srgbClr val="64748B"/>
                </a:solidFill>
                <a:latin typeface="Calibri"/>
                <a:ea typeface="Calibri"/>
                <a:cs typeface="Calibri"/>
              </a:rPr>
              <a:t>UroScan</a:t>
            </a:r>
            <a:r>
              <a:rPr sz="1050" b="0" dirty="0">
                <a:solidFill>
                  <a:srgbClr val="64748B"/>
                </a:solidFill>
                <a:latin typeface="Calibri"/>
                <a:ea typeface="Calibri"/>
                <a:cs typeface="Calibri"/>
              </a:rPr>
              <a:t> AI  /  </a:t>
            </a:r>
            <a:r>
              <a:rPr lang="en-IN" sz="1050" b="0" dirty="0">
                <a:solidFill>
                  <a:srgbClr val="64748B"/>
                </a:solidFill>
                <a:latin typeface="Calibri"/>
                <a:ea typeface="Calibri"/>
                <a:cs typeface="Calibri"/>
              </a:rPr>
              <a:t>Healthcare Group 3</a:t>
            </a:r>
            <a:endParaRPr sz="1050" b="0" dirty="0">
              <a:solidFill>
                <a:srgbClr val="64748B"/>
              </a:solidFill>
              <a:latin typeface="Calibri"/>
              <a:ea typeface="Calibri"/>
              <a:cs typeface="Calibri"/>
            </a:endParaRPr>
          </a:p>
        </p:txBody>
      </p:sp>
      <p:sp>
        <p:nvSpPr>
          <p:cNvPr id="3" name="Rectangle 2">
            <a:extLst>
              <a:ext uri="{FF2B5EF4-FFF2-40B4-BE49-F238E27FC236}">
                <a16:creationId xmlns:a16="http://schemas.microsoft.com/office/drawing/2014/main" id="{A4285B5A-F503-4C43-A177-4B832F024C6D}"/>
              </a:ext>
            </a:extLst>
          </p:cNvPr>
          <p:cNvSpPr>
            <a:spLocks noGrp="1"/>
          </p:cNvSpPr>
          <p:nvPr/>
        </p:nvSpPr>
        <p:spPr>
          <a:xfrm>
            <a:off x="10810875" y="6086475"/>
            <a:ext cx="361950" cy="209550"/>
          </a:xfrm>
          <a:prstGeom prst="rect">
            <a:avLst/>
          </a:prstGeom>
          <a:noFill/>
          <a:ln w="0">
            <a:noFill/>
          </a:ln>
        </p:spPr>
        <p:txBody>
          <a:bodyPr lIns="0" tIns="0" rIns="0" bIns="0" anchor="t"/>
          <a:lstStyle>
            <a:defPPr>
              <a:defRPr sz="1200" b="1">
                <a:solidFill>
                  <a:srgbClr val="A32530"/>
                </a:solidFill>
                <a:latin typeface="Calibri"/>
                <a:ea typeface="Calibri"/>
                <a:cs typeface="Calibri"/>
              </a:defRPr>
            </a:defPPr>
          </a:lstStyle>
          <a:p>
            <a:pPr>
              <a:buNone/>
              <a:defRPr sz="1200" b="1">
                <a:solidFill>
                  <a:srgbClr val="A32530"/>
                </a:solidFill>
                <a:latin typeface="Calibri"/>
                <a:ea typeface="Calibri"/>
                <a:cs typeface="Calibri"/>
              </a:defRPr>
            </a:pPr>
            <a:r>
              <a:rPr sz="1200" b="1">
                <a:solidFill>
                  <a:srgbClr val="A32530"/>
                </a:solidFill>
                <a:latin typeface="Calibri"/>
                <a:ea typeface="Calibri"/>
                <a:cs typeface="Calibri"/>
              </a:rPr>
              <a:t>05</a:t>
            </a:r>
          </a:p>
        </p:txBody>
      </p:sp>
      <p:sp>
        <p:nvSpPr>
          <p:cNvPr id="4" name="Rectangle 3">
            <a:extLst>
              <a:ext uri="{FF2B5EF4-FFF2-40B4-BE49-F238E27FC236}">
                <a16:creationId xmlns:a16="http://schemas.microsoft.com/office/drawing/2014/main" id="{96727186-EDDB-4D94-8BA8-32914FB4A46F}"/>
              </a:ext>
            </a:extLst>
          </p:cNvPr>
          <p:cNvSpPr>
            <a:spLocks noGrp="1"/>
          </p:cNvSpPr>
          <p:nvPr/>
        </p:nvSpPr>
        <p:spPr>
          <a:xfrm>
            <a:off x="1009650" y="2000250"/>
            <a:ext cx="9946386" cy="307238"/>
          </a:xfrm>
          <a:prstGeom prst="rect">
            <a:avLst/>
          </a:prstGeom>
          <a:noFill/>
          <a:ln w="0">
            <a:noFill/>
          </a:ln>
        </p:spPr>
        <p:txBody>
          <a:bodyPr lIns="0" tIns="0" rIns="0" bIns="0" anchor="t"/>
          <a:lstStyle>
            <a:defPPr>
              <a:defRPr sz="1914" b="1">
                <a:solidFill>
                  <a:srgbClr val="A32530"/>
                </a:solidFill>
                <a:latin typeface="Calibri"/>
                <a:ea typeface="Calibri"/>
                <a:cs typeface="Calibri"/>
              </a:defRPr>
            </a:defPPr>
          </a:lstStyle>
          <a:p>
            <a:pPr>
              <a:buNone/>
              <a:defRPr sz="1914" b="1">
                <a:solidFill>
                  <a:srgbClr val="A32530"/>
                </a:solidFill>
                <a:latin typeface="Calibri"/>
                <a:ea typeface="Calibri"/>
                <a:cs typeface="Calibri"/>
              </a:defRPr>
            </a:pPr>
            <a:r>
              <a:rPr sz="1914" b="1">
                <a:solidFill>
                  <a:srgbClr val="A32530"/>
                </a:solidFill>
                <a:latin typeface="Calibri"/>
                <a:ea typeface="Calibri"/>
                <a:cs typeface="Calibri"/>
              </a:rPr>
              <a:t>Inside the browser</a:t>
            </a:r>
          </a:p>
        </p:txBody>
      </p:sp>
      <p:sp>
        <p:nvSpPr>
          <p:cNvPr id="5" name="Rectangle: Rounded Corners 4">
            <a:extLst>
              <a:ext uri="{FF2B5EF4-FFF2-40B4-BE49-F238E27FC236}">
                <a16:creationId xmlns:a16="http://schemas.microsoft.com/office/drawing/2014/main" id="{CCC25BEA-81BF-4D71-B7E3-69001A031DA5}"/>
              </a:ext>
            </a:extLst>
          </p:cNvPr>
          <p:cNvSpPr>
            <a:spLocks noGrp="1"/>
          </p:cNvSpPr>
          <p:nvPr/>
        </p:nvSpPr>
        <p:spPr>
          <a:xfrm>
            <a:off x="1009650" y="2512314"/>
            <a:ext cx="2617470" cy="914400"/>
          </a:xfrm>
          <a:prstGeom prst="roundRect">
            <a:avLst>
              <a:gd name="adj" fmla="val 6400"/>
            </a:avLst>
          </a:prstGeom>
          <a:solidFill>
            <a:srgbClr val="FFFFFF"/>
          </a:solidFill>
          <a:ln w="9525">
            <a:solidFill>
              <a:srgbClr val="E2E8F0"/>
            </a:solidFill>
          </a:ln>
        </p:spPr>
        <p:style>
          <a:lnRef idx="0">
            <a:scrgbClr r="0" g="0" b="0"/>
          </a:lnRef>
          <a:fillRef idx="0">
            <a:scrgbClr r="0" g="0" b="0"/>
          </a:fillRef>
          <a:effectRef idx="4">
            <a:scrgbClr r="0" g="0" b="0"/>
          </a:effectRef>
          <a:fontRef idx="major"/>
        </p:style>
      </p:sp>
      <p:sp>
        <p:nvSpPr>
          <p:cNvPr id="6" name="Rectangle 5">
            <a:extLst>
              <a:ext uri="{FF2B5EF4-FFF2-40B4-BE49-F238E27FC236}">
                <a16:creationId xmlns:a16="http://schemas.microsoft.com/office/drawing/2014/main" id="{D84BD7C7-0BC2-4D18-BF65-0D96E8E17DD6}"/>
              </a:ext>
            </a:extLst>
          </p:cNvPr>
          <p:cNvSpPr>
            <a:spLocks noGrp="1"/>
          </p:cNvSpPr>
          <p:nvPr/>
        </p:nvSpPr>
        <p:spPr>
          <a:xfrm>
            <a:off x="1166698" y="2622042"/>
            <a:ext cx="2303374" cy="292608"/>
          </a:xfrm>
          <a:prstGeom prst="rect">
            <a:avLst/>
          </a:prstGeom>
          <a:noFill/>
          <a:ln w="0">
            <a:noFill/>
          </a:ln>
        </p:spPr>
        <p:txBody>
          <a:bodyPr lIns="0" tIns="0" rIns="0" bIns="0" anchor="t"/>
          <a:lstStyle>
            <a:defPPr>
              <a:defRPr sz="1782" b="1">
                <a:solidFill>
                  <a:srgbClr val="A32530"/>
                </a:solidFill>
                <a:latin typeface="Calibri"/>
                <a:ea typeface="Calibri"/>
                <a:cs typeface="Calibri"/>
              </a:defRPr>
            </a:defPPr>
          </a:lstStyle>
          <a:p>
            <a:pPr>
              <a:buNone/>
              <a:defRPr sz="1782" b="1">
                <a:solidFill>
                  <a:srgbClr val="A32530"/>
                </a:solidFill>
                <a:latin typeface="Calibri"/>
                <a:ea typeface="Calibri"/>
                <a:cs typeface="Calibri"/>
              </a:defRPr>
            </a:pPr>
            <a:r>
              <a:rPr sz="1782" b="1">
                <a:solidFill>
                  <a:srgbClr val="A32530"/>
                </a:solidFill>
                <a:latin typeface="Calibri"/>
                <a:ea typeface="Calibri"/>
                <a:cs typeface="Calibri"/>
              </a:rPr>
              <a:t>HTML pages + CSS</a:t>
            </a:r>
          </a:p>
        </p:txBody>
      </p:sp>
      <p:sp>
        <p:nvSpPr>
          <p:cNvPr id="7" name="Rectangle 6">
            <a:extLst>
              <a:ext uri="{FF2B5EF4-FFF2-40B4-BE49-F238E27FC236}">
                <a16:creationId xmlns:a16="http://schemas.microsoft.com/office/drawing/2014/main" id="{6F57FE15-9C87-44E5-95A6-1B52BD10442E}"/>
              </a:ext>
            </a:extLst>
          </p:cNvPr>
          <p:cNvSpPr>
            <a:spLocks noGrp="1"/>
          </p:cNvSpPr>
          <p:nvPr/>
        </p:nvSpPr>
        <p:spPr>
          <a:xfrm>
            <a:off x="1166698" y="2943911"/>
            <a:ext cx="2303374" cy="438912"/>
          </a:xfrm>
          <a:prstGeom prst="rect">
            <a:avLst/>
          </a:prstGeom>
          <a:noFill/>
          <a:ln w="0">
            <a:noFill/>
          </a:ln>
        </p:spPr>
        <p:txBody>
          <a:bodyPr lIns="0" tIns="0" rIns="0" bIns="0" anchor="t"/>
          <a:lstStyle>
            <a:defPPr>
              <a:defRPr sz="1452" b="0">
                <a:solidFill>
                  <a:srgbClr val="64748B"/>
                </a:solidFill>
                <a:latin typeface="Calibri"/>
                <a:ea typeface="Calibri"/>
                <a:cs typeface="Calibri"/>
              </a:defRPr>
            </a:defPPr>
          </a:lstStyle>
          <a:p>
            <a:pPr>
              <a:buNone/>
              <a:defRPr sz="1452" b="0">
                <a:solidFill>
                  <a:srgbClr val="64748B"/>
                </a:solidFill>
                <a:latin typeface="Calibri"/>
                <a:ea typeface="Calibri"/>
                <a:cs typeface="Calibri"/>
              </a:defRPr>
            </a:pPr>
            <a:r>
              <a:rPr sz="1452" b="0">
                <a:solidFill>
                  <a:srgbClr val="64748B"/>
                </a:solidFill>
                <a:latin typeface="Calibri"/>
                <a:ea typeface="Calibri"/>
                <a:cs typeface="Calibri"/>
              </a:rPr>
              <a:t>Forms and page layouts</a:t>
            </a:r>
          </a:p>
        </p:txBody>
      </p:sp>
      <p:sp>
        <p:nvSpPr>
          <p:cNvPr id="8" name="Arrow: Right 7">
            <a:extLst>
              <a:ext uri="{FF2B5EF4-FFF2-40B4-BE49-F238E27FC236}">
                <a16:creationId xmlns:a16="http://schemas.microsoft.com/office/drawing/2014/main" id="{F3B4D627-3A8D-4085-A446-E6A1E9B024A1}"/>
              </a:ext>
            </a:extLst>
          </p:cNvPr>
          <p:cNvSpPr>
            <a:spLocks noGrp="1"/>
          </p:cNvSpPr>
          <p:nvPr/>
        </p:nvSpPr>
        <p:spPr>
          <a:xfrm>
            <a:off x="3766718" y="2848813"/>
            <a:ext cx="392621" cy="160934"/>
          </a:xfrm>
          <a:prstGeom prst="rightArrow">
            <a:avLst/>
          </a:prstGeom>
          <a:solidFill>
            <a:srgbClr val="A32530"/>
          </a:solidFill>
          <a:ln w="0">
            <a:noFill/>
          </a:ln>
        </p:spPr>
      </p:sp>
      <p:sp>
        <p:nvSpPr>
          <p:cNvPr id="9" name="Rectangle: Rounded Corners 8">
            <a:extLst>
              <a:ext uri="{FF2B5EF4-FFF2-40B4-BE49-F238E27FC236}">
                <a16:creationId xmlns:a16="http://schemas.microsoft.com/office/drawing/2014/main" id="{60FA0003-03B3-468F-8408-835FEF3B2297}"/>
              </a:ext>
            </a:extLst>
          </p:cNvPr>
          <p:cNvSpPr>
            <a:spLocks noGrp="1"/>
          </p:cNvSpPr>
          <p:nvPr/>
        </p:nvSpPr>
        <p:spPr>
          <a:xfrm>
            <a:off x="4333837" y="2512314"/>
            <a:ext cx="3088615" cy="914400"/>
          </a:xfrm>
          <a:prstGeom prst="roundRect">
            <a:avLst>
              <a:gd name="adj" fmla="val 6400"/>
            </a:avLst>
          </a:prstGeom>
          <a:solidFill>
            <a:srgbClr val="FFFFFF"/>
          </a:solidFill>
          <a:ln w="9525">
            <a:solidFill>
              <a:srgbClr val="E2E8F0"/>
            </a:solidFill>
          </a:ln>
        </p:spPr>
        <p:style>
          <a:lnRef idx="0">
            <a:scrgbClr r="0" g="0" b="0"/>
          </a:lnRef>
          <a:fillRef idx="0">
            <a:scrgbClr r="0" g="0" b="0"/>
          </a:fillRef>
          <a:effectRef idx="4">
            <a:scrgbClr r="0" g="0" b="0"/>
          </a:effectRef>
          <a:fontRef idx="major"/>
        </p:style>
      </p:sp>
      <p:sp>
        <p:nvSpPr>
          <p:cNvPr id="10" name="Rectangle 9">
            <a:extLst>
              <a:ext uri="{FF2B5EF4-FFF2-40B4-BE49-F238E27FC236}">
                <a16:creationId xmlns:a16="http://schemas.microsoft.com/office/drawing/2014/main" id="{17CACAD1-F737-4101-B568-D8406D9766C4}"/>
              </a:ext>
            </a:extLst>
          </p:cNvPr>
          <p:cNvSpPr>
            <a:spLocks noGrp="1"/>
          </p:cNvSpPr>
          <p:nvPr/>
        </p:nvSpPr>
        <p:spPr>
          <a:xfrm>
            <a:off x="4490885" y="2622042"/>
            <a:ext cx="2774518" cy="292608"/>
          </a:xfrm>
          <a:prstGeom prst="rect">
            <a:avLst/>
          </a:prstGeom>
          <a:noFill/>
          <a:ln w="0">
            <a:noFill/>
          </a:ln>
        </p:spPr>
        <p:txBody>
          <a:bodyPr lIns="0" tIns="0" rIns="0" bIns="0" anchor="t"/>
          <a:lstStyle>
            <a:defPPr>
              <a:defRPr sz="1782" b="1">
                <a:solidFill>
                  <a:srgbClr val="A32530"/>
                </a:solidFill>
                <a:latin typeface="Calibri"/>
                <a:ea typeface="Calibri"/>
                <a:cs typeface="Calibri"/>
              </a:defRPr>
            </a:defPPr>
          </a:lstStyle>
          <a:p>
            <a:pPr>
              <a:buNone/>
              <a:defRPr sz="1782" b="1">
                <a:solidFill>
                  <a:srgbClr val="A32530"/>
                </a:solidFill>
                <a:latin typeface="Calibri"/>
                <a:ea typeface="Calibri"/>
                <a:cs typeface="Calibri"/>
              </a:defRPr>
            </a:pPr>
            <a:r>
              <a:rPr sz="1782" b="1">
                <a:solidFill>
                  <a:srgbClr val="A32530"/>
                </a:solidFill>
                <a:latin typeface="Calibri"/>
                <a:ea typeface="Calibri"/>
                <a:cs typeface="Calibri"/>
              </a:rPr>
              <a:t>JavaScript + jQuery</a:t>
            </a:r>
          </a:p>
        </p:txBody>
      </p:sp>
      <p:sp>
        <p:nvSpPr>
          <p:cNvPr id="11" name="Rectangle 10">
            <a:extLst>
              <a:ext uri="{FF2B5EF4-FFF2-40B4-BE49-F238E27FC236}">
                <a16:creationId xmlns:a16="http://schemas.microsoft.com/office/drawing/2014/main" id="{7CEA9402-42D8-42F8-BFDB-014159AB2493}"/>
              </a:ext>
            </a:extLst>
          </p:cNvPr>
          <p:cNvSpPr>
            <a:spLocks noGrp="1"/>
          </p:cNvSpPr>
          <p:nvPr/>
        </p:nvSpPr>
        <p:spPr>
          <a:xfrm>
            <a:off x="4490885" y="2943911"/>
            <a:ext cx="2774518" cy="438912"/>
          </a:xfrm>
          <a:prstGeom prst="rect">
            <a:avLst/>
          </a:prstGeom>
          <a:noFill/>
          <a:ln w="0">
            <a:noFill/>
          </a:ln>
        </p:spPr>
        <p:txBody>
          <a:bodyPr lIns="0" tIns="0" rIns="0" bIns="0" anchor="t"/>
          <a:lstStyle>
            <a:defPPr>
              <a:defRPr sz="1452" b="0">
                <a:solidFill>
                  <a:srgbClr val="64748B"/>
                </a:solidFill>
                <a:latin typeface="Calibri"/>
                <a:ea typeface="Calibri"/>
                <a:cs typeface="Calibri"/>
              </a:defRPr>
            </a:defPPr>
          </a:lstStyle>
          <a:p>
            <a:pPr>
              <a:buNone/>
              <a:defRPr sz="1452" b="0">
                <a:solidFill>
                  <a:srgbClr val="64748B"/>
                </a:solidFill>
                <a:latin typeface="Calibri"/>
                <a:ea typeface="Calibri"/>
                <a:cs typeface="Calibri"/>
              </a:defRPr>
            </a:pPr>
            <a:r>
              <a:rPr sz="1452" b="0">
                <a:solidFill>
                  <a:srgbClr val="64748B"/>
                </a:solidFill>
                <a:latin typeface="Calibri"/>
                <a:ea typeface="Calibri"/>
                <a:cs typeface="Calibri"/>
              </a:rPr>
              <a:t>Events and shared data helpers</a:t>
            </a:r>
          </a:p>
        </p:txBody>
      </p:sp>
      <p:sp>
        <p:nvSpPr>
          <p:cNvPr id="12" name="Arrow: Right 11">
            <a:extLst>
              <a:ext uri="{FF2B5EF4-FFF2-40B4-BE49-F238E27FC236}">
                <a16:creationId xmlns:a16="http://schemas.microsoft.com/office/drawing/2014/main" id="{97CE4EE4-C542-48D3-A976-45931667934B}"/>
              </a:ext>
            </a:extLst>
          </p:cNvPr>
          <p:cNvSpPr>
            <a:spLocks noGrp="1"/>
          </p:cNvSpPr>
          <p:nvPr/>
        </p:nvSpPr>
        <p:spPr>
          <a:xfrm>
            <a:off x="7579500" y="2848813"/>
            <a:ext cx="392621" cy="160934"/>
          </a:xfrm>
          <a:prstGeom prst="rightArrow">
            <a:avLst/>
          </a:prstGeom>
          <a:solidFill>
            <a:srgbClr val="A32530"/>
          </a:solidFill>
          <a:ln w="0">
            <a:noFill/>
          </a:ln>
        </p:spPr>
      </p:sp>
      <p:sp>
        <p:nvSpPr>
          <p:cNvPr id="13" name="Rectangle: Rounded Corners 12">
            <a:extLst>
              <a:ext uri="{FF2B5EF4-FFF2-40B4-BE49-F238E27FC236}">
                <a16:creationId xmlns:a16="http://schemas.microsoft.com/office/drawing/2014/main" id="{9BC41C3D-C6F1-4C32-822D-2B14980584AD}"/>
              </a:ext>
            </a:extLst>
          </p:cNvPr>
          <p:cNvSpPr>
            <a:spLocks noGrp="1"/>
          </p:cNvSpPr>
          <p:nvPr/>
        </p:nvSpPr>
        <p:spPr>
          <a:xfrm>
            <a:off x="8129168" y="2512314"/>
            <a:ext cx="3001366" cy="914400"/>
          </a:xfrm>
          <a:prstGeom prst="roundRect">
            <a:avLst>
              <a:gd name="adj" fmla="val 6400"/>
            </a:avLst>
          </a:prstGeom>
          <a:solidFill>
            <a:srgbClr val="FFFFFF"/>
          </a:solidFill>
          <a:ln w="9525">
            <a:solidFill>
              <a:srgbClr val="E2E8F0"/>
            </a:solidFill>
          </a:ln>
        </p:spPr>
        <p:style>
          <a:lnRef idx="0">
            <a:scrgbClr r="0" g="0" b="0"/>
          </a:lnRef>
          <a:fillRef idx="0">
            <a:scrgbClr r="0" g="0" b="0"/>
          </a:fillRef>
          <a:effectRef idx="4">
            <a:scrgbClr r="0" g="0" b="0"/>
          </a:effectRef>
          <a:fontRef idx="major"/>
        </p:style>
      </p:sp>
      <p:sp>
        <p:nvSpPr>
          <p:cNvPr id="14" name="Rectangle 13">
            <a:extLst>
              <a:ext uri="{FF2B5EF4-FFF2-40B4-BE49-F238E27FC236}">
                <a16:creationId xmlns:a16="http://schemas.microsoft.com/office/drawing/2014/main" id="{7542871B-4110-4FC6-992B-17C85508DE38}"/>
              </a:ext>
            </a:extLst>
          </p:cNvPr>
          <p:cNvSpPr>
            <a:spLocks noGrp="1"/>
          </p:cNvSpPr>
          <p:nvPr/>
        </p:nvSpPr>
        <p:spPr>
          <a:xfrm>
            <a:off x="8286217" y="2622042"/>
            <a:ext cx="2687269" cy="292608"/>
          </a:xfrm>
          <a:prstGeom prst="rect">
            <a:avLst/>
          </a:prstGeom>
          <a:noFill/>
          <a:ln w="0">
            <a:noFill/>
          </a:ln>
        </p:spPr>
        <p:txBody>
          <a:bodyPr lIns="0" tIns="0" rIns="0" bIns="0" anchor="t"/>
          <a:lstStyle>
            <a:defPPr>
              <a:defRPr sz="1782" b="1">
                <a:solidFill>
                  <a:srgbClr val="A32530"/>
                </a:solidFill>
                <a:latin typeface="Calibri"/>
                <a:ea typeface="Calibri"/>
                <a:cs typeface="Calibri"/>
              </a:defRPr>
            </a:defPPr>
          </a:lstStyle>
          <a:p>
            <a:pPr>
              <a:buNone/>
              <a:defRPr sz="1782" b="1">
                <a:solidFill>
                  <a:srgbClr val="A32530"/>
                </a:solidFill>
                <a:latin typeface="Calibri"/>
                <a:ea typeface="Calibri"/>
                <a:cs typeface="Calibri"/>
              </a:defRPr>
            </a:pPr>
            <a:r>
              <a:rPr sz="1782" b="1">
                <a:solidFill>
                  <a:srgbClr val="A32530"/>
                </a:solidFill>
                <a:latin typeface="Calibri"/>
                <a:ea typeface="Calibri"/>
                <a:cs typeface="Calibri"/>
              </a:rPr>
              <a:t>localStorage</a:t>
            </a:r>
          </a:p>
        </p:txBody>
      </p:sp>
      <p:sp>
        <p:nvSpPr>
          <p:cNvPr id="15" name="Rectangle 14">
            <a:extLst>
              <a:ext uri="{FF2B5EF4-FFF2-40B4-BE49-F238E27FC236}">
                <a16:creationId xmlns:a16="http://schemas.microsoft.com/office/drawing/2014/main" id="{BF9E4954-7680-4509-9616-F1A0C9186E47}"/>
              </a:ext>
            </a:extLst>
          </p:cNvPr>
          <p:cNvSpPr>
            <a:spLocks noGrp="1"/>
          </p:cNvSpPr>
          <p:nvPr/>
        </p:nvSpPr>
        <p:spPr>
          <a:xfrm>
            <a:off x="8286217" y="2943911"/>
            <a:ext cx="2687269" cy="438912"/>
          </a:xfrm>
          <a:prstGeom prst="rect">
            <a:avLst/>
          </a:prstGeom>
          <a:noFill/>
          <a:ln w="0">
            <a:noFill/>
          </a:ln>
        </p:spPr>
        <p:txBody>
          <a:bodyPr lIns="0" tIns="0" rIns="0" bIns="0" anchor="t"/>
          <a:lstStyle>
            <a:defPPr>
              <a:defRPr sz="1452" b="0">
                <a:solidFill>
                  <a:srgbClr val="64748B"/>
                </a:solidFill>
                <a:latin typeface="Calibri"/>
                <a:ea typeface="Calibri"/>
                <a:cs typeface="Calibri"/>
              </a:defRPr>
            </a:defPPr>
          </a:lstStyle>
          <a:p>
            <a:pPr>
              <a:buNone/>
              <a:defRPr sz="1452" b="0">
                <a:solidFill>
                  <a:srgbClr val="64748B"/>
                </a:solidFill>
                <a:latin typeface="Calibri"/>
                <a:ea typeface="Calibri"/>
                <a:cs typeface="Calibri"/>
              </a:defRPr>
            </a:pPr>
            <a:r>
              <a:rPr sz="1452" b="0">
                <a:solidFill>
                  <a:srgbClr val="64748B"/>
                </a:solidFill>
                <a:latin typeface="Calibri"/>
                <a:ea typeface="Calibri"/>
                <a:cs typeface="Calibri"/>
              </a:rPr>
              <a:t>JSON records on this browser</a:t>
            </a:r>
          </a:p>
        </p:txBody>
      </p:sp>
      <p:sp>
        <p:nvSpPr>
          <p:cNvPr id="16" name="Rectangle 15">
            <a:extLst>
              <a:ext uri="{FF2B5EF4-FFF2-40B4-BE49-F238E27FC236}">
                <a16:creationId xmlns:a16="http://schemas.microsoft.com/office/drawing/2014/main" id="{A8699231-4D34-4F2A-A759-76AC4664CCDF}"/>
              </a:ext>
            </a:extLst>
          </p:cNvPr>
          <p:cNvSpPr>
            <a:spLocks noGrp="1"/>
          </p:cNvSpPr>
          <p:nvPr/>
        </p:nvSpPr>
        <p:spPr>
          <a:xfrm>
            <a:off x="1009650" y="3748583"/>
            <a:ext cx="10120884" cy="512064"/>
          </a:xfrm>
          <a:prstGeom prst="rect">
            <a:avLst/>
          </a:prstGeom>
          <a:noFill/>
          <a:ln w="0">
            <a:noFill/>
          </a:ln>
        </p:spPr>
        <p:txBody>
          <a:bodyPr lIns="0" tIns="0" rIns="0" bIns="0" anchor="t"/>
          <a:lstStyle>
            <a:defPPr>
              <a:defRPr sz="1782" b="0">
                <a:solidFill>
                  <a:srgbClr val="1F2937"/>
                </a:solidFill>
                <a:latin typeface="Calibri"/>
                <a:ea typeface="Calibri"/>
                <a:cs typeface="Calibri"/>
              </a:defRPr>
            </a:defPPr>
          </a:lstStyle>
          <a:p>
            <a:pPr>
              <a:buNone/>
              <a:defRPr sz="1782" b="0">
                <a:solidFill>
                  <a:srgbClr val="1F2937"/>
                </a:solidFill>
                <a:latin typeface="Calibri"/>
                <a:ea typeface="Calibri"/>
                <a:cs typeface="Calibri"/>
              </a:defRPr>
            </a:pPr>
            <a:r>
              <a:rPr sz="1782" b="0">
                <a:solidFill>
                  <a:srgbClr val="1F2937"/>
                </a:solidFill>
                <a:latin typeface="Calibri"/>
                <a:ea typeface="Calibri"/>
                <a:cs typeface="Calibri"/>
              </a:rPr>
              <a:t>Page links carry patientId or test id. Each page reloads the relevant stored records.</a:t>
            </a:r>
          </a:p>
        </p:txBody>
      </p:sp>
      <p:sp>
        <p:nvSpPr>
          <p:cNvPr id="17" name="Rectangle: Rounded Corners 16">
            <a:extLst>
              <a:ext uri="{FF2B5EF4-FFF2-40B4-BE49-F238E27FC236}">
                <a16:creationId xmlns:a16="http://schemas.microsoft.com/office/drawing/2014/main" id="{27A727FF-5C67-4B5B-8A75-8067D8DB217D}"/>
              </a:ext>
            </a:extLst>
          </p:cNvPr>
          <p:cNvSpPr>
            <a:spLocks noGrp="1"/>
          </p:cNvSpPr>
          <p:nvPr/>
        </p:nvSpPr>
        <p:spPr>
          <a:xfrm>
            <a:off x="1009650" y="4523994"/>
            <a:ext cx="4057079" cy="877824"/>
          </a:xfrm>
          <a:prstGeom prst="roundRect">
            <a:avLst>
              <a:gd name="adj" fmla="val 6667"/>
            </a:avLst>
          </a:prstGeom>
          <a:solidFill>
            <a:srgbClr val="FFFFFF"/>
          </a:solidFill>
          <a:ln w="9525">
            <a:solidFill>
              <a:srgbClr val="E2E8F0"/>
            </a:solidFill>
          </a:ln>
        </p:spPr>
        <p:style>
          <a:lnRef idx="0">
            <a:scrgbClr r="0" g="0" b="0"/>
          </a:lnRef>
          <a:fillRef idx="0">
            <a:scrgbClr r="0" g="0" b="0"/>
          </a:fillRef>
          <a:effectRef idx="4">
            <a:scrgbClr r="0" g="0" b="0"/>
          </a:effectRef>
          <a:fontRef idx="major"/>
        </p:style>
      </p:sp>
      <p:sp>
        <p:nvSpPr>
          <p:cNvPr id="18" name="Rectangle 17">
            <a:extLst>
              <a:ext uri="{FF2B5EF4-FFF2-40B4-BE49-F238E27FC236}">
                <a16:creationId xmlns:a16="http://schemas.microsoft.com/office/drawing/2014/main" id="{250F4437-C287-4401-A1C4-4E4DF7B23257}"/>
              </a:ext>
            </a:extLst>
          </p:cNvPr>
          <p:cNvSpPr>
            <a:spLocks noGrp="1"/>
          </p:cNvSpPr>
          <p:nvPr/>
        </p:nvSpPr>
        <p:spPr>
          <a:xfrm>
            <a:off x="1166698" y="4633722"/>
            <a:ext cx="3742982" cy="292608"/>
          </a:xfrm>
          <a:prstGeom prst="rect">
            <a:avLst/>
          </a:prstGeom>
          <a:noFill/>
          <a:ln w="0">
            <a:noFill/>
          </a:ln>
        </p:spPr>
        <p:txBody>
          <a:bodyPr lIns="0" tIns="0" rIns="0" bIns="0" anchor="t"/>
          <a:lstStyle>
            <a:defPPr>
              <a:defRPr sz="1782" b="1">
                <a:solidFill>
                  <a:srgbClr val="A32530"/>
                </a:solidFill>
                <a:latin typeface="Calibri"/>
                <a:ea typeface="Calibri"/>
                <a:cs typeface="Calibri"/>
              </a:defRPr>
            </a:defPPr>
          </a:lstStyle>
          <a:p>
            <a:pPr>
              <a:buNone/>
              <a:defRPr sz="1782" b="1">
                <a:solidFill>
                  <a:srgbClr val="A32530"/>
                </a:solidFill>
                <a:latin typeface="Calibri"/>
                <a:ea typeface="Calibri"/>
                <a:cs typeface="Calibri"/>
              </a:defRPr>
            </a:pPr>
            <a:r>
              <a:rPr sz="1782" b="1">
                <a:solidFill>
                  <a:srgbClr val="A32530"/>
                </a:solidFill>
                <a:latin typeface="Calibri"/>
                <a:ea typeface="Calibri"/>
                <a:cs typeface="Calibri"/>
              </a:rPr>
              <a:t>External library CDNs</a:t>
            </a:r>
          </a:p>
        </p:txBody>
      </p:sp>
      <p:sp>
        <p:nvSpPr>
          <p:cNvPr id="19" name="Rectangle 18">
            <a:extLst>
              <a:ext uri="{FF2B5EF4-FFF2-40B4-BE49-F238E27FC236}">
                <a16:creationId xmlns:a16="http://schemas.microsoft.com/office/drawing/2014/main" id="{C19BA661-7FB8-45EA-A14A-3F1156AE9D3B}"/>
              </a:ext>
            </a:extLst>
          </p:cNvPr>
          <p:cNvSpPr>
            <a:spLocks noGrp="1"/>
          </p:cNvSpPr>
          <p:nvPr/>
        </p:nvSpPr>
        <p:spPr>
          <a:xfrm>
            <a:off x="1166698" y="4955591"/>
            <a:ext cx="3742982" cy="402336"/>
          </a:xfrm>
          <a:prstGeom prst="rect">
            <a:avLst/>
          </a:prstGeom>
          <a:noFill/>
          <a:ln w="0">
            <a:noFill/>
          </a:ln>
        </p:spPr>
        <p:txBody>
          <a:bodyPr lIns="0" tIns="0" rIns="0" bIns="0" anchor="t"/>
          <a:lstStyle>
            <a:defPPr>
              <a:defRPr sz="1452" b="0">
                <a:solidFill>
                  <a:srgbClr val="64748B"/>
                </a:solidFill>
                <a:latin typeface="Calibri"/>
                <a:ea typeface="Calibri"/>
                <a:cs typeface="Calibri"/>
              </a:defRPr>
            </a:defPPr>
          </a:lstStyle>
          <a:p>
            <a:pPr>
              <a:buNone/>
              <a:defRPr sz="1452" b="0">
                <a:solidFill>
                  <a:srgbClr val="64748B"/>
                </a:solidFill>
                <a:latin typeface="Calibri"/>
                <a:ea typeface="Calibri"/>
                <a:cs typeface="Calibri"/>
              </a:defRPr>
            </a:pPr>
            <a:r>
              <a:rPr sz="1452" b="0">
                <a:solidFill>
                  <a:srgbClr val="64748B"/>
                </a:solidFill>
                <a:latin typeface="Calibri"/>
                <a:ea typeface="Calibri"/>
                <a:cs typeface="Calibri"/>
              </a:rPr>
              <a:t>jQuery, Chart.js and icons</a:t>
            </a:r>
          </a:p>
        </p:txBody>
      </p:sp>
      <p:sp>
        <p:nvSpPr>
          <p:cNvPr id="20" name="Rectangle: Rounded Corners 19">
            <a:extLst>
              <a:ext uri="{FF2B5EF4-FFF2-40B4-BE49-F238E27FC236}">
                <a16:creationId xmlns:a16="http://schemas.microsoft.com/office/drawing/2014/main" id="{C34D8A37-60B4-406D-B5B8-B24BDD9E6341}"/>
              </a:ext>
            </a:extLst>
          </p:cNvPr>
          <p:cNvSpPr>
            <a:spLocks noGrp="1"/>
          </p:cNvSpPr>
          <p:nvPr/>
        </p:nvSpPr>
        <p:spPr>
          <a:xfrm>
            <a:off x="6523787" y="4523994"/>
            <a:ext cx="4606747" cy="877824"/>
          </a:xfrm>
          <a:prstGeom prst="roundRect">
            <a:avLst>
              <a:gd name="adj" fmla="val 6667"/>
            </a:avLst>
          </a:prstGeom>
          <a:solidFill>
            <a:srgbClr val="FFFFFF"/>
          </a:solidFill>
          <a:ln w="9525">
            <a:solidFill>
              <a:srgbClr val="E2E8F0"/>
            </a:solidFill>
          </a:ln>
        </p:spPr>
        <p:style>
          <a:lnRef idx="0">
            <a:scrgbClr r="0" g="0" b="0"/>
          </a:lnRef>
          <a:fillRef idx="0">
            <a:scrgbClr r="0" g="0" b="0"/>
          </a:fillRef>
          <a:effectRef idx="4">
            <a:scrgbClr r="0" g="0" b="0"/>
          </a:effectRef>
          <a:fontRef idx="major"/>
        </p:style>
      </p:sp>
      <p:sp>
        <p:nvSpPr>
          <p:cNvPr id="21" name="Rectangle 20">
            <a:extLst>
              <a:ext uri="{FF2B5EF4-FFF2-40B4-BE49-F238E27FC236}">
                <a16:creationId xmlns:a16="http://schemas.microsoft.com/office/drawing/2014/main" id="{1AE81B0B-C2B8-47EB-BE88-F89CAF678AFF}"/>
              </a:ext>
            </a:extLst>
          </p:cNvPr>
          <p:cNvSpPr>
            <a:spLocks noGrp="1"/>
          </p:cNvSpPr>
          <p:nvPr/>
        </p:nvSpPr>
        <p:spPr>
          <a:xfrm>
            <a:off x="6680835" y="4633722"/>
            <a:ext cx="4292651" cy="292608"/>
          </a:xfrm>
          <a:prstGeom prst="rect">
            <a:avLst/>
          </a:prstGeom>
          <a:noFill/>
          <a:ln w="0">
            <a:noFill/>
          </a:ln>
        </p:spPr>
        <p:txBody>
          <a:bodyPr lIns="0" tIns="0" rIns="0" bIns="0" anchor="t"/>
          <a:lstStyle>
            <a:defPPr>
              <a:defRPr sz="1782" b="1">
                <a:solidFill>
                  <a:srgbClr val="A32530"/>
                </a:solidFill>
                <a:latin typeface="Calibri"/>
                <a:ea typeface="Calibri"/>
                <a:cs typeface="Calibri"/>
              </a:defRPr>
            </a:defPPr>
          </a:lstStyle>
          <a:p>
            <a:pPr>
              <a:buNone/>
              <a:defRPr sz="1782" b="1">
                <a:solidFill>
                  <a:srgbClr val="A32530"/>
                </a:solidFill>
                <a:latin typeface="Calibri"/>
                <a:ea typeface="Calibri"/>
                <a:cs typeface="Calibri"/>
              </a:defRPr>
            </a:pPr>
            <a:r>
              <a:rPr sz="1782" b="1">
                <a:solidFill>
                  <a:srgbClr val="A32530"/>
                </a:solidFill>
                <a:latin typeface="Calibri"/>
                <a:ea typeface="Calibri"/>
                <a:cs typeface="Calibri"/>
              </a:rPr>
              <a:t>Browser-generated output</a:t>
            </a:r>
          </a:p>
        </p:txBody>
      </p:sp>
      <p:sp>
        <p:nvSpPr>
          <p:cNvPr id="22" name="Rectangle 21">
            <a:extLst>
              <a:ext uri="{FF2B5EF4-FFF2-40B4-BE49-F238E27FC236}">
                <a16:creationId xmlns:a16="http://schemas.microsoft.com/office/drawing/2014/main" id="{DCAF119A-EC2A-48E2-9761-94889833243D}"/>
              </a:ext>
            </a:extLst>
          </p:cNvPr>
          <p:cNvSpPr>
            <a:spLocks noGrp="1"/>
          </p:cNvSpPr>
          <p:nvPr/>
        </p:nvSpPr>
        <p:spPr>
          <a:xfrm>
            <a:off x="6680835" y="4955591"/>
            <a:ext cx="4292651" cy="402336"/>
          </a:xfrm>
          <a:prstGeom prst="rect">
            <a:avLst/>
          </a:prstGeom>
          <a:noFill/>
          <a:ln w="0">
            <a:noFill/>
          </a:ln>
        </p:spPr>
        <p:txBody>
          <a:bodyPr lIns="0" tIns="0" rIns="0" bIns="0" anchor="t"/>
          <a:lstStyle>
            <a:defPPr>
              <a:defRPr sz="1452" b="0">
                <a:solidFill>
                  <a:srgbClr val="64748B"/>
                </a:solidFill>
                <a:latin typeface="Calibri"/>
                <a:ea typeface="Calibri"/>
                <a:cs typeface="Calibri"/>
              </a:defRPr>
            </a:defPPr>
          </a:lstStyle>
          <a:p>
            <a:pPr>
              <a:buNone/>
              <a:defRPr sz="1452" b="0">
                <a:solidFill>
                  <a:srgbClr val="64748B"/>
                </a:solidFill>
                <a:latin typeface="Calibri"/>
                <a:ea typeface="Calibri"/>
                <a:cs typeface="Calibri"/>
              </a:defRPr>
            </a:pPr>
            <a:r>
              <a:rPr sz="1452" b="0">
                <a:solidFill>
                  <a:srgbClr val="64748B"/>
                </a:solidFill>
                <a:latin typeface="Calibri"/>
                <a:ea typeface="Calibri"/>
                <a:cs typeface="Calibri"/>
              </a:rPr>
              <a:t>HTML report file and print dialog</a:t>
            </a:r>
          </a:p>
        </p:txBody>
      </p:sp>
      <p:sp>
        <p:nvSpPr>
          <p:cNvPr id="23" name="Rectangle 22">
            <a:extLst>
              <a:ext uri="{FF2B5EF4-FFF2-40B4-BE49-F238E27FC236}">
                <a16:creationId xmlns:a16="http://schemas.microsoft.com/office/drawing/2014/main" id="{A8AA6518-2537-48AF-869C-055AA1432735}"/>
              </a:ext>
            </a:extLst>
          </p:cNvPr>
          <p:cNvSpPr>
            <a:spLocks noGrp="1"/>
          </p:cNvSpPr>
          <p:nvPr/>
        </p:nvSpPr>
        <p:spPr>
          <a:xfrm>
            <a:off x="1009650" y="5489600"/>
            <a:ext cx="4057079" cy="256032"/>
          </a:xfrm>
          <a:prstGeom prst="rect">
            <a:avLst/>
          </a:prstGeom>
          <a:noFill/>
          <a:ln w="0">
            <a:noFill/>
          </a:ln>
        </p:spPr>
        <p:txBody>
          <a:bodyPr lIns="0" tIns="0" rIns="0" bIns="0" anchor="t"/>
          <a:lstStyle>
            <a:defPPr>
              <a:defRPr sz="1386" b="0">
                <a:solidFill>
                  <a:srgbClr val="64748B"/>
                </a:solidFill>
                <a:latin typeface="Calibri"/>
                <a:ea typeface="Calibri"/>
                <a:cs typeface="Calibri"/>
              </a:defRPr>
            </a:defPPr>
          </a:lstStyle>
          <a:p>
            <a:pPr>
              <a:buNone/>
              <a:defRPr sz="1386" b="0">
                <a:solidFill>
                  <a:srgbClr val="64748B"/>
                </a:solidFill>
                <a:latin typeface="Calibri"/>
                <a:ea typeface="Calibri"/>
                <a:cs typeface="Calibri"/>
              </a:defRPr>
            </a:pPr>
            <a:r>
              <a:rPr sz="1386" b="0">
                <a:solidFill>
                  <a:srgbClr val="64748B"/>
                </a:solidFill>
                <a:latin typeface="Calibri"/>
                <a:ea typeface="Calibri"/>
                <a:cs typeface="Calibri"/>
              </a:rPr>
              <a:t>Libraries load into the page</a:t>
            </a:r>
          </a:p>
        </p:txBody>
      </p:sp>
      <p:sp>
        <p:nvSpPr>
          <p:cNvPr id="24" name="Rectangle 23">
            <a:extLst>
              <a:ext uri="{FF2B5EF4-FFF2-40B4-BE49-F238E27FC236}">
                <a16:creationId xmlns:a16="http://schemas.microsoft.com/office/drawing/2014/main" id="{939310C8-1ED7-464B-9BCB-0867B0C9E8AA}"/>
              </a:ext>
            </a:extLst>
          </p:cNvPr>
          <p:cNvSpPr>
            <a:spLocks noGrp="1"/>
          </p:cNvSpPr>
          <p:nvPr/>
        </p:nvSpPr>
        <p:spPr>
          <a:xfrm>
            <a:off x="6523787" y="5489600"/>
            <a:ext cx="4606747" cy="256032"/>
          </a:xfrm>
          <a:prstGeom prst="rect">
            <a:avLst/>
          </a:prstGeom>
          <a:noFill/>
          <a:ln w="0">
            <a:noFill/>
          </a:ln>
        </p:spPr>
        <p:txBody>
          <a:bodyPr lIns="0" tIns="0" rIns="0" bIns="0" anchor="t"/>
          <a:lstStyle>
            <a:defPPr>
              <a:defRPr sz="1386" b="0">
                <a:solidFill>
                  <a:srgbClr val="64748B"/>
                </a:solidFill>
                <a:latin typeface="Calibri"/>
                <a:ea typeface="Calibri"/>
                <a:cs typeface="Calibri"/>
              </a:defRPr>
            </a:defPPr>
          </a:lstStyle>
          <a:p>
            <a:pPr>
              <a:buNone/>
              <a:defRPr sz="1386" b="0">
                <a:solidFill>
                  <a:srgbClr val="64748B"/>
                </a:solidFill>
                <a:latin typeface="Calibri"/>
                <a:ea typeface="Calibri"/>
                <a:cs typeface="Calibri"/>
              </a:defRPr>
            </a:pPr>
            <a:r>
              <a:rPr sz="1386" b="0">
                <a:solidFill>
                  <a:srgbClr val="64748B"/>
                </a:solidFill>
                <a:latin typeface="Calibri"/>
                <a:ea typeface="Calibri"/>
                <a:cs typeface="Calibri"/>
              </a:rPr>
              <a:t>No clinical-data API or server database</a:t>
            </a:r>
          </a:p>
        </p:txBody>
      </p:sp>
    </p:spTree>
    <p:extLst>
      <p:ext uri="{BB962C8B-B14F-4D97-AF65-F5344CB8AC3E}">
        <p14:creationId xmlns:p14="http://schemas.microsoft.com/office/powerpoint/2010/main" val="10900039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9" name="Picture 28">
            <a:extLst>
              <a:ext uri="{FF2B5EF4-FFF2-40B4-BE49-F238E27FC236}">
                <a16:creationId xmlns:a16="http://schemas.microsoft.com/office/drawing/2014/main" id="{9D1CCA9F-EA4F-43F2-9CE0-C9FD3D2F9E25}"/>
              </a:ext>
            </a:extLst>
          </p:cNvPr>
          <p:cNvPicPr>
            <a:picLocks noChangeAspect="1"/>
          </p:cNvPicPr>
          <p:nvPr/>
        </p:nvPicPr>
        <p:blipFill>
          <a:blip r:embed="rId3"/>
          <a:stretch/>
        </p:blipFill>
        <p:spPr>
          <a:xfrm>
            <a:off x="0" y="0"/>
            <a:ext cx="12192000" cy="6858000"/>
          </a:xfrm>
          <a:prstGeom prst="rect">
            <a:avLst/>
          </a:prstGeom>
        </p:spPr>
      </p:pic>
      <p:sp>
        <p:nvSpPr>
          <p:cNvPr id="28" name="Rectangle 27">
            <a:extLst>
              <a:ext uri="{FF2B5EF4-FFF2-40B4-BE49-F238E27FC236}">
                <a16:creationId xmlns:a16="http://schemas.microsoft.com/office/drawing/2014/main" id="{16201BB7-698A-4058-9F9B-97EE3AEA5220}"/>
              </a:ext>
            </a:extLst>
          </p:cNvPr>
          <p:cNvSpPr>
            <a:spLocks noGrp="1"/>
          </p:cNvSpPr>
          <p:nvPr/>
        </p:nvSpPr>
        <p:spPr>
          <a:xfrm>
            <a:off x="1009650" y="1190625"/>
            <a:ext cx="10287000" cy="638175"/>
          </a:xfrm>
          <a:prstGeom prst="rect">
            <a:avLst/>
          </a:prstGeom>
          <a:noFill/>
          <a:ln w="0">
            <a:noFill/>
          </a:ln>
        </p:spPr>
        <p:txBody>
          <a:bodyPr lIns="0" tIns="0" rIns="0" bIns="0" anchor="t"/>
          <a:lstStyle>
            <a:defPPr>
              <a:defRPr sz="3400" b="1">
                <a:solidFill>
                  <a:srgbClr val="A32530"/>
                </a:solidFill>
                <a:latin typeface="Cambria"/>
                <a:ea typeface="Cambria"/>
                <a:cs typeface="Cambria"/>
              </a:defRPr>
            </a:defPPr>
          </a:lstStyle>
          <a:p>
            <a:pPr>
              <a:buNone/>
              <a:defRPr sz="3400" b="1">
                <a:solidFill>
                  <a:srgbClr val="A32530"/>
                </a:solidFill>
                <a:latin typeface="Cambria"/>
                <a:ea typeface="Cambria"/>
                <a:cs typeface="Cambria"/>
              </a:defRPr>
            </a:pPr>
            <a:r>
              <a:rPr sz="3400" b="1">
                <a:solidFill>
                  <a:srgbClr val="A32530"/>
                </a:solidFill>
                <a:latin typeface="Cambria"/>
                <a:ea typeface="Cambria"/>
                <a:cs typeface="Cambria"/>
              </a:rPr>
              <a:t>Website workflow</a:t>
            </a:r>
          </a:p>
        </p:txBody>
      </p:sp>
      <p:sp>
        <p:nvSpPr>
          <p:cNvPr id="2" name="Rectangle 1">
            <a:extLst>
              <a:ext uri="{FF2B5EF4-FFF2-40B4-BE49-F238E27FC236}">
                <a16:creationId xmlns:a16="http://schemas.microsoft.com/office/drawing/2014/main" id="{A77769B7-65DD-476E-9BD3-505E0CECAE20}"/>
              </a:ext>
            </a:extLst>
          </p:cNvPr>
          <p:cNvSpPr>
            <a:spLocks noGrp="1"/>
          </p:cNvSpPr>
          <p:nvPr/>
        </p:nvSpPr>
        <p:spPr>
          <a:xfrm>
            <a:off x="1009650" y="6086475"/>
            <a:ext cx="9048750" cy="209550"/>
          </a:xfrm>
          <a:prstGeom prst="rect">
            <a:avLst/>
          </a:prstGeom>
          <a:noFill/>
          <a:ln w="0">
            <a:noFill/>
          </a:ln>
        </p:spPr>
        <p:txBody>
          <a:bodyPr lIns="0" tIns="0" rIns="0" bIns="0" anchor="t"/>
          <a:lstStyle>
            <a:defPPr>
              <a:defRPr sz="1050" b="0">
                <a:solidFill>
                  <a:srgbClr val="64748B"/>
                </a:solidFill>
                <a:latin typeface="Calibri"/>
                <a:ea typeface="Calibri"/>
                <a:cs typeface="Calibri"/>
              </a:defRPr>
            </a:defPPr>
          </a:lstStyle>
          <a:p>
            <a:pPr>
              <a:buNone/>
              <a:defRPr sz="1050" b="0">
                <a:solidFill>
                  <a:srgbClr val="64748B"/>
                </a:solidFill>
                <a:latin typeface="Calibri"/>
                <a:ea typeface="Calibri"/>
                <a:cs typeface="Calibri"/>
              </a:defRPr>
            </a:pPr>
            <a:r>
              <a:rPr sz="1050" b="0" dirty="0" err="1">
                <a:solidFill>
                  <a:srgbClr val="64748B"/>
                </a:solidFill>
                <a:latin typeface="Calibri"/>
                <a:ea typeface="Calibri"/>
                <a:cs typeface="Calibri"/>
              </a:rPr>
              <a:t>UroScan</a:t>
            </a:r>
            <a:r>
              <a:rPr sz="1050" b="0" dirty="0">
                <a:solidFill>
                  <a:srgbClr val="64748B"/>
                </a:solidFill>
                <a:latin typeface="Calibri"/>
                <a:ea typeface="Calibri"/>
                <a:cs typeface="Calibri"/>
              </a:rPr>
              <a:t> AI  /  </a:t>
            </a:r>
            <a:r>
              <a:rPr lang="en-IN" sz="1050" b="0" dirty="0">
                <a:solidFill>
                  <a:srgbClr val="64748B"/>
                </a:solidFill>
                <a:latin typeface="Calibri"/>
                <a:ea typeface="Calibri"/>
                <a:cs typeface="Calibri"/>
              </a:rPr>
              <a:t>Healthcare Group 3</a:t>
            </a:r>
            <a:endParaRPr sz="1050" b="0" dirty="0">
              <a:solidFill>
                <a:srgbClr val="64748B"/>
              </a:solidFill>
              <a:latin typeface="Calibri"/>
              <a:ea typeface="Calibri"/>
              <a:cs typeface="Calibri"/>
            </a:endParaRPr>
          </a:p>
        </p:txBody>
      </p:sp>
      <p:sp>
        <p:nvSpPr>
          <p:cNvPr id="3" name="Rectangle 2">
            <a:extLst>
              <a:ext uri="{FF2B5EF4-FFF2-40B4-BE49-F238E27FC236}">
                <a16:creationId xmlns:a16="http://schemas.microsoft.com/office/drawing/2014/main" id="{BF50E671-3DBC-4A7E-8CD6-8CE397AE09F4}"/>
              </a:ext>
            </a:extLst>
          </p:cNvPr>
          <p:cNvSpPr>
            <a:spLocks noGrp="1"/>
          </p:cNvSpPr>
          <p:nvPr/>
        </p:nvSpPr>
        <p:spPr>
          <a:xfrm>
            <a:off x="10810875" y="6086475"/>
            <a:ext cx="361950" cy="209550"/>
          </a:xfrm>
          <a:prstGeom prst="rect">
            <a:avLst/>
          </a:prstGeom>
          <a:noFill/>
          <a:ln w="0">
            <a:noFill/>
          </a:ln>
        </p:spPr>
        <p:txBody>
          <a:bodyPr lIns="0" tIns="0" rIns="0" bIns="0" anchor="t"/>
          <a:lstStyle>
            <a:defPPr>
              <a:defRPr sz="1200" b="1">
                <a:solidFill>
                  <a:srgbClr val="A32530"/>
                </a:solidFill>
                <a:latin typeface="Calibri"/>
                <a:ea typeface="Calibri"/>
                <a:cs typeface="Calibri"/>
              </a:defRPr>
            </a:defPPr>
          </a:lstStyle>
          <a:p>
            <a:pPr>
              <a:buNone/>
              <a:defRPr sz="1200" b="1">
                <a:solidFill>
                  <a:srgbClr val="A32530"/>
                </a:solidFill>
                <a:latin typeface="Calibri"/>
                <a:ea typeface="Calibri"/>
                <a:cs typeface="Calibri"/>
              </a:defRPr>
            </a:pPr>
            <a:r>
              <a:rPr sz="1200" b="1">
                <a:solidFill>
                  <a:srgbClr val="A32530"/>
                </a:solidFill>
                <a:latin typeface="Calibri"/>
                <a:ea typeface="Calibri"/>
                <a:cs typeface="Calibri"/>
              </a:rPr>
              <a:t>06</a:t>
            </a:r>
          </a:p>
        </p:txBody>
      </p:sp>
      <p:sp>
        <p:nvSpPr>
          <p:cNvPr id="4" name="Rectangle: Rounded Corners 3">
            <a:extLst>
              <a:ext uri="{FF2B5EF4-FFF2-40B4-BE49-F238E27FC236}">
                <a16:creationId xmlns:a16="http://schemas.microsoft.com/office/drawing/2014/main" id="{281E538C-9ACD-46CA-9897-24D4BFA242F5}"/>
              </a:ext>
            </a:extLst>
          </p:cNvPr>
          <p:cNvSpPr>
            <a:spLocks noGrp="1"/>
          </p:cNvSpPr>
          <p:nvPr/>
        </p:nvSpPr>
        <p:spPr>
          <a:xfrm>
            <a:off x="1009650" y="2219706"/>
            <a:ext cx="2966466" cy="914400"/>
          </a:xfrm>
          <a:prstGeom prst="roundRect">
            <a:avLst>
              <a:gd name="adj" fmla="val 6400"/>
            </a:avLst>
          </a:prstGeom>
          <a:solidFill>
            <a:srgbClr val="FFFFFF"/>
          </a:solidFill>
          <a:ln w="9525">
            <a:solidFill>
              <a:srgbClr val="E2E8F0"/>
            </a:solidFill>
          </a:ln>
        </p:spPr>
        <p:style>
          <a:lnRef idx="0">
            <a:scrgbClr r="0" g="0" b="0"/>
          </a:lnRef>
          <a:fillRef idx="0">
            <a:scrgbClr r="0" g="0" b="0"/>
          </a:fillRef>
          <a:effectRef idx="4">
            <a:scrgbClr r="0" g="0" b="0"/>
          </a:effectRef>
          <a:fontRef idx="major"/>
        </p:style>
      </p:sp>
      <p:sp>
        <p:nvSpPr>
          <p:cNvPr id="5" name="Rectangle 4">
            <a:extLst>
              <a:ext uri="{FF2B5EF4-FFF2-40B4-BE49-F238E27FC236}">
                <a16:creationId xmlns:a16="http://schemas.microsoft.com/office/drawing/2014/main" id="{7685B5DB-B150-4F6F-AC89-3C7B978C8FA0}"/>
              </a:ext>
            </a:extLst>
          </p:cNvPr>
          <p:cNvSpPr>
            <a:spLocks noGrp="1"/>
          </p:cNvSpPr>
          <p:nvPr/>
        </p:nvSpPr>
        <p:spPr>
          <a:xfrm>
            <a:off x="1166698" y="2329434"/>
            <a:ext cx="2652370" cy="292608"/>
          </a:xfrm>
          <a:prstGeom prst="rect">
            <a:avLst/>
          </a:prstGeom>
          <a:noFill/>
          <a:ln w="0">
            <a:noFill/>
          </a:ln>
        </p:spPr>
        <p:txBody>
          <a:bodyPr lIns="0" tIns="0" rIns="0" bIns="0" anchor="t"/>
          <a:lstStyle>
            <a:defPPr>
              <a:defRPr sz="1782" b="1">
                <a:solidFill>
                  <a:srgbClr val="A32530"/>
                </a:solidFill>
                <a:latin typeface="Calibri"/>
                <a:ea typeface="Calibri"/>
                <a:cs typeface="Calibri"/>
              </a:defRPr>
            </a:defPPr>
          </a:lstStyle>
          <a:p>
            <a:pPr>
              <a:buNone/>
              <a:defRPr sz="1782" b="1">
                <a:solidFill>
                  <a:srgbClr val="A32530"/>
                </a:solidFill>
                <a:latin typeface="Calibri"/>
                <a:ea typeface="Calibri"/>
                <a:cs typeface="Calibri"/>
              </a:defRPr>
            </a:pPr>
            <a:r>
              <a:rPr sz="1782" b="1">
                <a:solidFill>
                  <a:srgbClr val="A32530"/>
                </a:solidFill>
                <a:latin typeface="Calibri"/>
                <a:ea typeface="Calibri"/>
                <a:cs typeface="Calibri"/>
              </a:rPr>
              <a:t>Sign in</a:t>
            </a:r>
          </a:p>
        </p:txBody>
      </p:sp>
      <p:sp>
        <p:nvSpPr>
          <p:cNvPr id="6" name="Rectangle 5">
            <a:extLst>
              <a:ext uri="{FF2B5EF4-FFF2-40B4-BE49-F238E27FC236}">
                <a16:creationId xmlns:a16="http://schemas.microsoft.com/office/drawing/2014/main" id="{72F0A41A-42F2-44D5-81F4-971F6F263051}"/>
              </a:ext>
            </a:extLst>
          </p:cNvPr>
          <p:cNvSpPr>
            <a:spLocks noGrp="1"/>
          </p:cNvSpPr>
          <p:nvPr/>
        </p:nvSpPr>
        <p:spPr>
          <a:xfrm>
            <a:off x="1166698" y="2651303"/>
            <a:ext cx="2652370" cy="438912"/>
          </a:xfrm>
          <a:prstGeom prst="rect">
            <a:avLst/>
          </a:prstGeom>
          <a:noFill/>
          <a:ln w="0">
            <a:noFill/>
          </a:ln>
        </p:spPr>
        <p:txBody>
          <a:bodyPr lIns="0" tIns="0" rIns="0" bIns="0" anchor="t"/>
          <a:lstStyle>
            <a:defPPr>
              <a:defRPr sz="1452" b="0">
                <a:solidFill>
                  <a:srgbClr val="64748B"/>
                </a:solidFill>
                <a:latin typeface="Calibri"/>
                <a:ea typeface="Calibri"/>
                <a:cs typeface="Calibri"/>
              </a:defRPr>
            </a:defPPr>
          </a:lstStyle>
          <a:p>
            <a:pPr>
              <a:buNone/>
              <a:defRPr sz="1452" b="0">
                <a:solidFill>
                  <a:srgbClr val="64748B"/>
                </a:solidFill>
                <a:latin typeface="Calibri"/>
                <a:ea typeface="Calibri"/>
                <a:cs typeface="Calibri"/>
              </a:defRPr>
            </a:pPr>
            <a:r>
              <a:rPr sz="1452" b="0">
                <a:solidFill>
                  <a:srgbClr val="64748B"/>
                </a:solidFill>
                <a:latin typeface="Calibri"/>
                <a:ea typeface="Calibri"/>
                <a:cs typeface="Calibri"/>
              </a:rPr>
              <a:t>Local account</a:t>
            </a:r>
          </a:p>
        </p:txBody>
      </p:sp>
      <p:sp>
        <p:nvSpPr>
          <p:cNvPr id="7" name="Arrow: Right 6">
            <a:extLst>
              <a:ext uri="{FF2B5EF4-FFF2-40B4-BE49-F238E27FC236}">
                <a16:creationId xmlns:a16="http://schemas.microsoft.com/office/drawing/2014/main" id="{0BEDB46E-E363-48F1-A291-27AB05442F7D}"/>
              </a:ext>
            </a:extLst>
          </p:cNvPr>
          <p:cNvSpPr>
            <a:spLocks noGrp="1"/>
          </p:cNvSpPr>
          <p:nvPr/>
        </p:nvSpPr>
        <p:spPr>
          <a:xfrm>
            <a:off x="4098265" y="2585466"/>
            <a:ext cx="305372" cy="160934"/>
          </a:xfrm>
          <a:prstGeom prst="rightArrow">
            <a:avLst/>
          </a:prstGeom>
          <a:solidFill>
            <a:srgbClr val="A32530"/>
          </a:solidFill>
          <a:ln w="0">
            <a:noFill/>
          </a:ln>
        </p:spPr>
      </p:sp>
      <p:sp>
        <p:nvSpPr>
          <p:cNvPr id="8" name="Rectangle: Rounded Corners 7">
            <a:extLst>
              <a:ext uri="{FF2B5EF4-FFF2-40B4-BE49-F238E27FC236}">
                <a16:creationId xmlns:a16="http://schemas.microsoft.com/office/drawing/2014/main" id="{0857B9CD-E9AD-4B46-8D73-BAB2EAE572D5}"/>
              </a:ext>
            </a:extLst>
          </p:cNvPr>
          <p:cNvSpPr>
            <a:spLocks noGrp="1"/>
          </p:cNvSpPr>
          <p:nvPr/>
        </p:nvSpPr>
        <p:spPr>
          <a:xfrm>
            <a:off x="4525785" y="2219706"/>
            <a:ext cx="2966466" cy="914400"/>
          </a:xfrm>
          <a:prstGeom prst="roundRect">
            <a:avLst>
              <a:gd name="adj" fmla="val 6400"/>
            </a:avLst>
          </a:prstGeom>
          <a:solidFill>
            <a:srgbClr val="FFFFFF"/>
          </a:solidFill>
          <a:ln w="9525">
            <a:solidFill>
              <a:srgbClr val="E2E8F0"/>
            </a:solidFill>
          </a:ln>
        </p:spPr>
        <p:style>
          <a:lnRef idx="0">
            <a:scrgbClr r="0" g="0" b="0"/>
          </a:lnRef>
          <a:fillRef idx="0">
            <a:scrgbClr r="0" g="0" b="0"/>
          </a:fillRef>
          <a:effectRef idx="4">
            <a:scrgbClr r="0" g="0" b="0"/>
          </a:effectRef>
          <a:fontRef idx="major"/>
        </p:style>
      </p:sp>
      <p:sp>
        <p:nvSpPr>
          <p:cNvPr id="9" name="Rectangle 8">
            <a:extLst>
              <a:ext uri="{FF2B5EF4-FFF2-40B4-BE49-F238E27FC236}">
                <a16:creationId xmlns:a16="http://schemas.microsoft.com/office/drawing/2014/main" id="{0B3EF463-EEF9-4AAE-B635-3701161944B8}"/>
              </a:ext>
            </a:extLst>
          </p:cNvPr>
          <p:cNvSpPr>
            <a:spLocks noGrp="1"/>
          </p:cNvSpPr>
          <p:nvPr/>
        </p:nvSpPr>
        <p:spPr>
          <a:xfrm>
            <a:off x="4682833" y="2329434"/>
            <a:ext cx="2652370" cy="292608"/>
          </a:xfrm>
          <a:prstGeom prst="rect">
            <a:avLst/>
          </a:prstGeom>
          <a:noFill/>
          <a:ln w="0">
            <a:noFill/>
          </a:ln>
        </p:spPr>
        <p:txBody>
          <a:bodyPr lIns="0" tIns="0" rIns="0" bIns="0" anchor="t"/>
          <a:lstStyle>
            <a:defPPr>
              <a:defRPr sz="1782" b="1">
                <a:solidFill>
                  <a:srgbClr val="A32530"/>
                </a:solidFill>
                <a:latin typeface="Calibri"/>
                <a:ea typeface="Calibri"/>
                <a:cs typeface="Calibri"/>
              </a:defRPr>
            </a:defPPr>
          </a:lstStyle>
          <a:p>
            <a:pPr>
              <a:buNone/>
              <a:defRPr sz="1782" b="1">
                <a:solidFill>
                  <a:srgbClr val="A32530"/>
                </a:solidFill>
                <a:latin typeface="Calibri"/>
                <a:ea typeface="Calibri"/>
                <a:cs typeface="Calibri"/>
              </a:defRPr>
            </a:pPr>
            <a:r>
              <a:rPr sz="1782" b="1">
                <a:solidFill>
                  <a:srgbClr val="A32530"/>
                </a:solidFill>
                <a:latin typeface="Calibri"/>
                <a:ea typeface="Calibri"/>
                <a:cs typeface="Calibri"/>
              </a:rPr>
              <a:t>Choose patient</a:t>
            </a:r>
          </a:p>
        </p:txBody>
      </p:sp>
      <p:sp>
        <p:nvSpPr>
          <p:cNvPr id="10" name="Rectangle 9">
            <a:extLst>
              <a:ext uri="{FF2B5EF4-FFF2-40B4-BE49-F238E27FC236}">
                <a16:creationId xmlns:a16="http://schemas.microsoft.com/office/drawing/2014/main" id="{A01208AD-BC22-4D16-B84B-7BD91C246024}"/>
              </a:ext>
            </a:extLst>
          </p:cNvPr>
          <p:cNvSpPr>
            <a:spLocks noGrp="1"/>
          </p:cNvSpPr>
          <p:nvPr/>
        </p:nvSpPr>
        <p:spPr>
          <a:xfrm>
            <a:off x="4682833" y="2651303"/>
            <a:ext cx="2652370" cy="438912"/>
          </a:xfrm>
          <a:prstGeom prst="rect">
            <a:avLst/>
          </a:prstGeom>
          <a:noFill/>
          <a:ln w="0">
            <a:noFill/>
          </a:ln>
        </p:spPr>
        <p:txBody>
          <a:bodyPr lIns="0" tIns="0" rIns="0" bIns="0" anchor="t"/>
          <a:lstStyle>
            <a:defPPr>
              <a:defRPr sz="1452" b="0">
                <a:solidFill>
                  <a:srgbClr val="64748B"/>
                </a:solidFill>
                <a:latin typeface="Calibri"/>
                <a:ea typeface="Calibri"/>
                <a:cs typeface="Calibri"/>
              </a:defRPr>
            </a:defPPr>
          </a:lstStyle>
          <a:p>
            <a:pPr>
              <a:buNone/>
              <a:defRPr sz="1452" b="0">
                <a:solidFill>
                  <a:srgbClr val="64748B"/>
                </a:solidFill>
                <a:latin typeface="Calibri"/>
                <a:ea typeface="Calibri"/>
                <a:cs typeface="Calibri"/>
              </a:defRPr>
            </a:pPr>
            <a:r>
              <a:rPr sz="1452" b="0">
                <a:solidFill>
                  <a:srgbClr val="64748B"/>
                </a:solidFill>
                <a:latin typeface="Calibri"/>
                <a:ea typeface="Calibri"/>
                <a:cs typeface="Calibri"/>
              </a:rPr>
              <a:t>Directory or new record</a:t>
            </a:r>
          </a:p>
        </p:txBody>
      </p:sp>
      <p:sp>
        <p:nvSpPr>
          <p:cNvPr id="11" name="Arrow: Right 10">
            <a:extLst>
              <a:ext uri="{FF2B5EF4-FFF2-40B4-BE49-F238E27FC236}">
                <a16:creationId xmlns:a16="http://schemas.microsoft.com/office/drawing/2014/main" id="{F2750ADD-1FE6-48C7-92C5-65DCF975CE24}"/>
              </a:ext>
            </a:extLst>
          </p:cNvPr>
          <p:cNvSpPr>
            <a:spLocks noGrp="1"/>
          </p:cNvSpPr>
          <p:nvPr/>
        </p:nvSpPr>
        <p:spPr>
          <a:xfrm>
            <a:off x="7614399" y="2585466"/>
            <a:ext cx="305372" cy="160934"/>
          </a:xfrm>
          <a:prstGeom prst="rightArrow">
            <a:avLst/>
          </a:prstGeom>
          <a:solidFill>
            <a:srgbClr val="A32530"/>
          </a:solidFill>
          <a:ln w="0">
            <a:noFill/>
          </a:ln>
        </p:spPr>
      </p:sp>
      <p:sp>
        <p:nvSpPr>
          <p:cNvPr id="12" name="Rectangle: Rounded Corners 11">
            <a:extLst>
              <a:ext uri="{FF2B5EF4-FFF2-40B4-BE49-F238E27FC236}">
                <a16:creationId xmlns:a16="http://schemas.microsoft.com/office/drawing/2014/main" id="{5F45155D-054D-4682-85E6-F0DB80E76D2C}"/>
              </a:ext>
            </a:extLst>
          </p:cNvPr>
          <p:cNvSpPr>
            <a:spLocks noGrp="1"/>
          </p:cNvSpPr>
          <p:nvPr/>
        </p:nvSpPr>
        <p:spPr>
          <a:xfrm>
            <a:off x="8041919" y="2219706"/>
            <a:ext cx="2966466" cy="914400"/>
          </a:xfrm>
          <a:prstGeom prst="roundRect">
            <a:avLst>
              <a:gd name="adj" fmla="val 6400"/>
            </a:avLst>
          </a:prstGeom>
          <a:solidFill>
            <a:srgbClr val="FFFFFF"/>
          </a:solidFill>
          <a:ln w="9525">
            <a:solidFill>
              <a:srgbClr val="E2E8F0"/>
            </a:solidFill>
          </a:ln>
        </p:spPr>
        <p:style>
          <a:lnRef idx="0">
            <a:scrgbClr r="0" g="0" b="0"/>
          </a:lnRef>
          <a:fillRef idx="0">
            <a:scrgbClr r="0" g="0" b="0"/>
          </a:fillRef>
          <a:effectRef idx="4">
            <a:scrgbClr r="0" g="0" b="0"/>
          </a:effectRef>
          <a:fontRef idx="major"/>
        </p:style>
      </p:sp>
      <p:sp>
        <p:nvSpPr>
          <p:cNvPr id="13" name="Rectangle 12">
            <a:extLst>
              <a:ext uri="{FF2B5EF4-FFF2-40B4-BE49-F238E27FC236}">
                <a16:creationId xmlns:a16="http://schemas.microsoft.com/office/drawing/2014/main" id="{20E56E8A-0B7C-4887-97E9-521675D501C1}"/>
              </a:ext>
            </a:extLst>
          </p:cNvPr>
          <p:cNvSpPr>
            <a:spLocks noGrp="1"/>
          </p:cNvSpPr>
          <p:nvPr/>
        </p:nvSpPr>
        <p:spPr>
          <a:xfrm>
            <a:off x="8198968" y="2329434"/>
            <a:ext cx="2652370" cy="292608"/>
          </a:xfrm>
          <a:prstGeom prst="rect">
            <a:avLst/>
          </a:prstGeom>
          <a:noFill/>
          <a:ln w="0">
            <a:noFill/>
          </a:ln>
        </p:spPr>
        <p:txBody>
          <a:bodyPr lIns="0" tIns="0" rIns="0" bIns="0" anchor="t"/>
          <a:lstStyle>
            <a:defPPr>
              <a:defRPr sz="1782" b="1">
                <a:solidFill>
                  <a:srgbClr val="A32530"/>
                </a:solidFill>
                <a:latin typeface="Calibri"/>
                <a:ea typeface="Calibri"/>
                <a:cs typeface="Calibri"/>
              </a:defRPr>
            </a:defPPr>
          </a:lstStyle>
          <a:p>
            <a:pPr>
              <a:buNone/>
              <a:defRPr sz="1782" b="1">
                <a:solidFill>
                  <a:srgbClr val="A32530"/>
                </a:solidFill>
                <a:latin typeface="Calibri"/>
                <a:ea typeface="Calibri"/>
                <a:cs typeface="Calibri"/>
              </a:defRPr>
            </a:pPr>
            <a:r>
              <a:rPr sz="1782" b="1">
                <a:solidFill>
                  <a:srgbClr val="A32530"/>
                </a:solidFill>
                <a:latin typeface="Calibri"/>
                <a:ea typeface="Calibri"/>
                <a:cs typeface="Calibri"/>
              </a:rPr>
              <a:t>Start test</a:t>
            </a:r>
          </a:p>
        </p:txBody>
      </p:sp>
      <p:sp>
        <p:nvSpPr>
          <p:cNvPr id="14" name="Rectangle 13">
            <a:extLst>
              <a:ext uri="{FF2B5EF4-FFF2-40B4-BE49-F238E27FC236}">
                <a16:creationId xmlns:a16="http://schemas.microsoft.com/office/drawing/2014/main" id="{72F0E90A-7CE8-4A43-8302-55485C016D07}"/>
              </a:ext>
            </a:extLst>
          </p:cNvPr>
          <p:cNvSpPr>
            <a:spLocks noGrp="1"/>
          </p:cNvSpPr>
          <p:nvPr/>
        </p:nvSpPr>
        <p:spPr>
          <a:xfrm>
            <a:off x="8198968" y="2651303"/>
            <a:ext cx="2652370" cy="438912"/>
          </a:xfrm>
          <a:prstGeom prst="rect">
            <a:avLst/>
          </a:prstGeom>
          <a:noFill/>
          <a:ln w="0">
            <a:noFill/>
          </a:ln>
        </p:spPr>
        <p:txBody>
          <a:bodyPr lIns="0" tIns="0" rIns="0" bIns="0" anchor="t"/>
          <a:lstStyle>
            <a:defPPr>
              <a:defRPr sz="1452" b="0">
                <a:solidFill>
                  <a:srgbClr val="64748B"/>
                </a:solidFill>
                <a:latin typeface="Calibri"/>
                <a:ea typeface="Calibri"/>
                <a:cs typeface="Calibri"/>
              </a:defRPr>
            </a:defPPr>
          </a:lstStyle>
          <a:p>
            <a:pPr>
              <a:buNone/>
              <a:defRPr sz="1452" b="0">
                <a:solidFill>
                  <a:srgbClr val="64748B"/>
                </a:solidFill>
                <a:latin typeface="Calibri"/>
                <a:ea typeface="Calibri"/>
                <a:cs typeface="Calibri"/>
              </a:defRPr>
            </a:pPr>
            <a:r>
              <a:rPr sz="1452" b="0">
                <a:solidFill>
                  <a:srgbClr val="64748B"/>
                </a:solidFill>
                <a:latin typeface="Calibri"/>
                <a:ea typeface="Calibri"/>
                <a:cs typeface="Calibri"/>
              </a:rPr>
              <a:t>Save selected patient</a:t>
            </a:r>
          </a:p>
        </p:txBody>
      </p:sp>
      <p:sp>
        <p:nvSpPr>
          <p:cNvPr id="15" name="Rectangle: Rounded Corners 14">
            <a:extLst>
              <a:ext uri="{FF2B5EF4-FFF2-40B4-BE49-F238E27FC236}">
                <a16:creationId xmlns:a16="http://schemas.microsoft.com/office/drawing/2014/main" id="{3F15FB94-BEE7-4030-A972-6979022DF568}"/>
              </a:ext>
            </a:extLst>
          </p:cNvPr>
          <p:cNvSpPr>
            <a:spLocks noGrp="1"/>
          </p:cNvSpPr>
          <p:nvPr/>
        </p:nvSpPr>
        <p:spPr>
          <a:xfrm>
            <a:off x="1009650" y="3719322"/>
            <a:ext cx="2966466" cy="914400"/>
          </a:xfrm>
          <a:prstGeom prst="roundRect">
            <a:avLst>
              <a:gd name="adj" fmla="val 6400"/>
            </a:avLst>
          </a:prstGeom>
          <a:solidFill>
            <a:srgbClr val="FFFFFF"/>
          </a:solidFill>
          <a:ln w="9525">
            <a:solidFill>
              <a:srgbClr val="E2E8F0"/>
            </a:solidFill>
          </a:ln>
        </p:spPr>
        <p:style>
          <a:lnRef idx="0">
            <a:scrgbClr r="0" g="0" b="0"/>
          </a:lnRef>
          <a:fillRef idx="0">
            <a:scrgbClr r="0" g="0" b="0"/>
          </a:fillRef>
          <a:effectRef idx="4">
            <a:scrgbClr r="0" g="0" b="0"/>
          </a:effectRef>
          <a:fontRef idx="major"/>
        </p:style>
      </p:sp>
      <p:sp>
        <p:nvSpPr>
          <p:cNvPr id="16" name="Rectangle 15">
            <a:extLst>
              <a:ext uri="{FF2B5EF4-FFF2-40B4-BE49-F238E27FC236}">
                <a16:creationId xmlns:a16="http://schemas.microsoft.com/office/drawing/2014/main" id="{8798FC73-F87D-42B8-B2D2-353804F6A61F}"/>
              </a:ext>
            </a:extLst>
          </p:cNvPr>
          <p:cNvSpPr>
            <a:spLocks noGrp="1"/>
          </p:cNvSpPr>
          <p:nvPr/>
        </p:nvSpPr>
        <p:spPr>
          <a:xfrm>
            <a:off x="1166698" y="3829050"/>
            <a:ext cx="2652370" cy="292608"/>
          </a:xfrm>
          <a:prstGeom prst="rect">
            <a:avLst/>
          </a:prstGeom>
          <a:noFill/>
          <a:ln w="0">
            <a:noFill/>
          </a:ln>
        </p:spPr>
        <p:txBody>
          <a:bodyPr lIns="0" tIns="0" rIns="0" bIns="0" anchor="t"/>
          <a:lstStyle>
            <a:defPPr>
              <a:defRPr sz="1782" b="1">
                <a:solidFill>
                  <a:srgbClr val="A32530"/>
                </a:solidFill>
                <a:latin typeface="Calibri"/>
                <a:ea typeface="Calibri"/>
                <a:cs typeface="Calibri"/>
              </a:defRPr>
            </a:defPPr>
          </a:lstStyle>
          <a:p>
            <a:pPr>
              <a:buNone/>
              <a:defRPr sz="1782" b="1">
                <a:solidFill>
                  <a:srgbClr val="A32530"/>
                </a:solidFill>
                <a:latin typeface="Calibri"/>
                <a:ea typeface="Calibri"/>
                <a:cs typeface="Calibri"/>
              </a:defRPr>
            </a:pPr>
            <a:r>
              <a:rPr sz="1782" b="1">
                <a:solidFill>
                  <a:srgbClr val="A32530"/>
                </a:solidFill>
                <a:latin typeface="Calibri"/>
                <a:ea typeface="Calibri"/>
                <a:cs typeface="Calibri"/>
              </a:rPr>
              <a:t>Simulated processing</a:t>
            </a:r>
          </a:p>
        </p:txBody>
      </p:sp>
      <p:sp>
        <p:nvSpPr>
          <p:cNvPr id="17" name="Rectangle 16">
            <a:extLst>
              <a:ext uri="{FF2B5EF4-FFF2-40B4-BE49-F238E27FC236}">
                <a16:creationId xmlns:a16="http://schemas.microsoft.com/office/drawing/2014/main" id="{9E2B146B-8212-4313-A7E7-05CB7B83E00B}"/>
              </a:ext>
            </a:extLst>
          </p:cNvPr>
          <p:cNvSpPr>
            <a:spLocks noGrp="1"/>
          </p:cNvSpPr>
          <p:nvPr/>
        </p:nvSpPr>
        <p:spPr>
          <a:xfrm>
            <a:off x="1166698" y="4150919"/>
            <a:ext cx="2652370" cy="438912"/>
          </a:xfrm>
          <a:prstGeom prst="rect">
            <a:avLst/>
          </a:prstGeom>
          <a:noFill/>
          <a:ln w="0">
            <a:noFill/>
          </a:ln>
        </p:spPr>
        <p:txBody>
          <a:bodyPr lIns="0" tIns="0" rIns="0" bIns="0" anchor="t"/>
          <a:lstStyle>
            <a:defPPr>
              <a:defRPr sz="1452" b="0">
                <a:solidFill>
                  <a:srgbClr val="64748B"/>
                </a:solidFill>
                <a:latin typeface="Calibri"/>
                <a:ea typeface="Calibri"/>
                <a:cs typeface="Calibri"/>
              </a:defRPr>
            </a:defPPr>
          </a:lstStyle>
          <a:p>
            <a:pPr>
              <a:buNone/>
              <a:defRPr sz="1452" b="0">
                <a:solidFill>
                  <a:srgbClr val="64748B"/>
                </a:solidFill>
                <a:latin typeface="Calibri"/>
                <a:ea typeface="Calibri"/>
                <a:cs typeface="Calibri"/>
              </a:defRPr>
            </a:pPr>
            <a:r>
              <a:rPr sz="1452" b="0">
                <a:solidFill>
                  <a:srgbClr val="64748B"/>
                </a:solidFill>
                <a:latin typeface="Calibri"/>
                <a:ea typeface="Calibri"/>
                <a:cs typeface="Calibri"/>
              </a:rPr>
              <a:t>Preset values saved</a:t>
            </a:r>
          </a:p>
        </p:txBody>
      </p:sp>
      <p:sp>
        <p:nvSpPr>
          <p:cNvPr id="18" name="Arrow: Right 17">
            <a:extLst>
              <a:ext uri="{FF2B5EF4-FFF2-40B4-BE49-F238E27FC236}">
                <a16:creationId xmlns:a16="http://schemas.microsoft.com/office/drawing/2014/main" id="{8C14B917-4F4A-4810-8261-8A18E25550AA}"/>
              </a:ext>
            </a:extLst>
          </p:cNvPr>
          <p:cNvSpPr>
            <a:spLocks noGrp="1"/>
          </p:cNvSpPr>
          <p:nvPr/>
        </p:nvSpPr>
        <p:spPr>
          <a:xfrm>
            <a:off x="4098265" y="4085082"/>
            <a:ext cx="305372" cy="160934"/>
          </a:xfrm>
          <a:prstGeom prst="rightArrow">
            <a:avLst/>
          </a:prstGeom>
          <a:solidFill>
            <a:srgbClr val="A32530"/>
          </a:solidFill>
          <a:ln w="0">
            <a:noFill/>
          </a:ln>
        </p:spPr>
      </p:sp>
      <p:sp>
        <p:nvSpPr>
          <p:cNvPr id="19" name="Rectangle: Rounded Corners 18">
            <a:extLst>
              <a:ext uri="{FF2B5EF4-FFF2-40B4-BE49-F238E27FC236}">
                <a16:creationId xmlns:a16="http://schemas.microsoft.com/office/drawing/2014/main" id="{A20E71F3-B731-4662-806C-48D234FE724B}"/>
              </a:ext>
            </a:extLst>
          </p:cNvPr>
          <p:cNvSpPr>
            <a:spLocks noGrp="1"/>
          </p:cNvSpPr>
          <p:nvPr/>
        </p:nvSpPr>
        <p:spPr>
          <a:xfrm>
            <a:off x="4525785" y="3719322"/>
            <a:ext cx="2966466" cy="914400"/>
          </a:xfrm>
          <a:prstGeom prst="roundRect">
            <a:avLst>
              <a:gd name="adj" fmla="val 6400"/>
            </a:avLst>
          </a:prstGeom>
          <a:solidFill>
            <a:srgbClr val="FFFFFF"/>
          </a:solidFill>
          <a:ln w="9525">
            <a:solidFill>
              <a:srgbClr val="E2E8F0"/>
            </a:solidFill>
          </a:ln>
        </p:spPr>
        <p:style>
          <a:lnRef idx="0">
            <a:scrgbClr r="0" g="0" b="0"/>
          </a:lnRef>
          <a:fillRef idx="0">
            <a:scrgbClr r="0" g="0" b="0"/>
          </a:fillRef>
          <a:effectRef idx="4">
            <a:scrgbClr r="0" g="0" b="0"/>
          </a:effectRef>
          <a:fontRef idx="major"/>
        </p:style>
      </p:sp>
      <p:sp>
        <p:nvSpPr>
          <p:cNvPr id="20" name="Rectangle 19">
            <a:extLst>
              <a:ext uri="{FF2B5EF4-FFF2-40B4-BE49-F238E27FC236}">
                <a16:creationId xmlns:a16="http://schemas.microsoft.com/office/drawing/2014/main" id="{4C2D6F91-FCFF-4A7F-92BB-18F98D5007FC}"/>
              </a:ext>
            </a:extLst>
          </p:cNvPr>
          <p:cNvSpPr>
            <a:spLocks noGrp="1"/>
          </p:cNvSpPr>
          <p:nvPr/>
        </p:nvSpPr>
        <p:spPr>
          <a:xfrm>
            <a:off x="4682833" y="3829050"/>
            <a:ext cx="2652370" cy="292608"/>
          </a:xfrm>
          <a:prstGeom prst="rect">
            <a:avLst/>
          </a:prstGeom>
          <a:noFill/>
          <a:ln w="0">
            <a:noFill/>
          </a:ln>
        </p:spPr>
        <p:txBody>
          <a:bodyPr lIns="0" tIns="0" rIns="0" bIns="0" anchor="t"/>
          <a:lstStyle>
            <a:defPPr>
              <a:defRPr sz="1782" b="1">
                <a:solidFill>
                  <a:srgbClr val="A32530"/>
                </a:solidFill>
                <a:latin typeface="Calibri"/>
                <a:ea typeface="Calibri"/>
                <a:cs typeface="Calibri"/>
              </a:defRPr>
            </a:defPPr>
          </a:lstStyle>
          <a:p>
            <a:pPr>
              <a:buNone/>
              <a:defRPr sz="1782" b="1">
                <a:solidFill>
                  <a:srgbClr val="A32530"/>
                </a:solidFill>
                <a:latin typeface="Calibri"/>
                <a:ea typeface="Calibri"/>
                <a:cs typeface="Calibri"/>
              </a:defRPr>
            </a:pPr>
            <a:r>
              <a:rPr sz="1782" b="1">
                <a:solidFill>
                  <a:srgbClr val="A32530"/>
                </a:solidFill>
                <a:latin typeface="Calibri"/>
                <a:ea typeface="Calibri"/>
                <a:cs typeface="Calibri"/>
              </a:rPr>
              <a:t>Results and notes</a:t>
            </a:r>
          </a:p>
        </p:txBody>
      </p:sp>
      <p:sp>
        <p:nvSpPr>
          <p:cNvPr id="21" name="Rectangle 20">
            <a:extLst>
              <a:ext uri="{FF2B5EF4-FFF2-40B4-BE49-F238E27FC236}">
                <a16:creationId xmlns:a16="http://schemas.microsoft.com/office/drawing/2014/main" id="{B1AD3752-7D73-4D57-A983-8EA819C5BEDE}"/>
              </a:ext>
            </a:extLst>
          </p:cNvPr>
          <p:cNvSpPr>
            <a:spLocks noGrp="1"/>
          </p:cNvSpPr>
          <p:nvPr/>
        </p:nvSpPr>
        <p:spPr>
          <a:xfrm>
            <a:off x="4682833" y="4150919"/>
            <a:ext cx="2652370" cy="438912"/>
          </a:xfrm>
          <a:prstGeom prst="rect">
            <a:avLst/>
          </a:prstGeom>
          <a:noFill/>
          <a:ln w="0">
            <a:noFill/>
          </a:ln>
        </p:spPr>
        <p:txBody>
          <a:bodyPr lIns="0" tIns="0" rIns="0" bIns="0" anchor="t"/>
          <a:lstStyle>
            <a:defPPr>
              <a:defRPr sz="1452" b="0">
                <a:solidFill>
                  <a:srgbClr val="64748B"/>
                </a:solidFill>
                <a:latin typeface="Calibri"/>
                <a:ea typeface="Calibri"/>
                <a:cs typeface="Calibri"/>
              </a:defRPr>
            </a:defPPr>
          </a:lstStyle>
          <a:p>
            <a:pPr>
              <a:buNone/>
              <a:defRPr sz="1452" b="0">
                <a:solidFill>
                  <a:srgbClr val="64748B"/>
                </a:solidFill>
                <a:latin typeface="Calibri"/>
                <a:ea typeface="Calibri"/>
                <a:cs typeface="Calibri"/>
              </a:defRPr>
            </a:pPr>
            <a:r>
              <a:rPr sz="1452" b="0">
                <a:solidFill>
                  <a:srgbClr val="64748B"/>
                </a:solidFill>
                <a:latin typeface="Calibri"/>
                <a:ea typeface="Calibri"/>
                <a:cs typeface="Calibri"/>
              </a:rPr>
              <a:t>Review interface</a:t>
            </a:r>
          </a:p>
        </p:txBody>
      </p:sp>
      <p:sp>
        <p:nvSpPr>
          <p:cNvPr id="22" name="Arrow: Right 21">
            <a:extLst>
              <a:ext uri="{FF2B5EF4-FFF2-40B4-BE49-F238E27FC236}">
                <a16:creationId xmlns:a16="http://schemas.microsoft.com/office/drawing/2014/main" id="{82A0A6CD-12AD-4990-986A-FEA7D59C8C17}"/>
              </a:ext>
            </a:extLst>
          </p:cNvPr>
          <p:cNvSpPr>
            <a:spLocks noGrp="1"/>
          </p:cNvSpPr>
          <p:nvPr/>
        </p:nvSpPr>
        <p:spPr>
          <a:xfrm>
            <a:off x="7614399" y="4085082"/>
            <a:ext cx="305372" cy="160934"/>
          </a:xfrm>
          <a:prstGeom prst="rightArrow">
            <a:avLst/>
          </a:prstGeom>
          <a:solidFill>
            <a:srgbClr val="A32530"/>
          </a:solidFill>
          <a:ln w="0">
            <a:noFill/>
          </a:ln>
        </p:spPr>
      </p:sp>
      <p:sp>
        <p:nvSpPr>
          <p:cNvPr id="23" name="Rectangle: Rounded Corners 22">
            <a:extLst>
              <a:ext uri="{FF2B5EF4-FFF2-40B4-BE49-F238E27FC236}">
                <a16:creationId xmlns:a16="http://schemas.microsoft.com/office/drawing/2014/main" id="{17193FF2-1DF8-47E8-B1E9-C0445F3F18D0}"/>
              </a:ext>
            </a:extLst>
          </p:cNvPr>
          <p:cNvSpPr>
            <a:spLocks noGrp="1"/>
          </p:cNvSpPr>
          <p:nvPr/>
        </p:nvSpPr>
        <p:spPr>
          <a:xfrm>
            <a:off x="8041919" y="3719322"/>
            <a:ext cx="2966466" cy="914400"/>
          </a:xfrm>
          <a:prstGeom prst="roundRect">
            <a:avLst>
              <a:gd name="adj" fmla="val 6400"/>
            </a:avLst>
          </a:prstGeom>
          <a:solidFill>
            <a:srgbClr val="FFFFFF"/>
          </a:solidFill>
          <a:ln w="9525">
            <a:solidFill>
              <a:srgbClr val="E2E8F0"/>
            </a:solidFill>
          </a:ln>
        </p:spPr>
        <p:style>
          <a:lnRef idx="0">
            <a:scrgbClr r="0" g="0" b="0"/>
          </a:lnRef>
          <a:fillRef idx="0">
            <a:scrgbClr r="0" g="0" b="0"/>
          </a:fillRef>
          <a:effectRef idx="4">
            <a:scrgbClr r="0" g="0" b="0"/>
          </a:effectRef>
          <a:fontRef idx="major"/>
        </p:style>
      </p:sp>
      <p:sp>
        <p:nvSpPr>
          <p:cNvPr id="24" name="Rectangle 23">
            <a:extLst>
              <a:ext uri="{FF2B5EF4-FFF2-40B4-BE49-F238E27FC236}">
                <a16:creationId xmlns:a16="http://schemas.microsoft.com/office/drawing/2014/main" id="{9EB971B2-2BFD-4984-933D-2104C43BA5D9}"/>
              </a:ext>
            </a:extLst>
          </p:cNvPr>
          <p:cNvSpPr>
            <a:spLocks noGrp="1"/>
          </p:cNvSpPr>
          <p:nvPr/>
        </p:nvSpPr>
        <p:spPr>
          <a:xfrm>
            <a:off x="8198968" y="3829050"/>
            <a:ext cx="2652370" cy="292608"/>
          </a:xfrm>
          <a:prstGeom prst="rect">
            <a:avLst/>
          </a:prstGeom>
          <a:noFill/>
          <a:ln w="0">
            <a:noFill/>
          </a:ln>
        </p:spPr>
        <p:txBody>
          <a:bodyPr lIns="0" tIns="0" rIns="0" bIns="0" anchor="t"/>
          <a:lstStyle>
            <a:defPPr>
              <a:defRPr sz="1782" b="1">
                <a:solidFill>
                  <a:srgbClr val="A32530"/>
                </a:solidFill>
                <a:latin typeface="Calibri"/>
                <a:ea typeface="Calibri"/>
                <a:cs typeface="Calibri"/>
              </a:defRPr>
            </a:defPPr>
          </a:lstStyle>
          <a:p>
            <a:pPr>
              <a:buNone/>
              <a:defRPr sz="1782" b="1">
                <a:solidFill>
                  <a:srgbClr val="A32530"/>
                </a:solidFill>
                <a:latin typeface="Calibri"/>
                <a:ea typeface="Calibri"/>
                <a:cs typeface="Calibri"/>
              </a:defRPr>
            </a:pPr>
            <a:r>
              <a:rPr sz="1782" b="1">
                <a:solidFill>
                  <a:srgbClr val="A32530"/>
                </a:solidFill>
                <a:latin typeface="Calibri"/>
                <a:ea typeface="Calibri"/>
                <a:cs typeface="Calibri"/>
              </a:rPr>
              <a:t>Report</a:t>
            </a:r>
          </a:p>
        </p:txBody>
      </p:sp>
      <p:sp>
        <p:nvSpPr>
          <p:cNvPr id="25" name="Rectangle 24">
            <a:extLst>
              <a:ext uri="{FF2B5EF4-FFF2-40B4-BE49-F238E27FC236}">
                <a16:creationId xmlns:a16="http://schemas.microsoft.com/office/drawing/2014/main" id="{8A8D9816-6A62-4C31-9630-8E1E34855252}"/>
              </a:ext>
            </a:extLst>
          </p:cNvPr>
          <p:cNvSpPr>
            <a:spLocks noGrp="1"/>
          </p:cNvSpPr>
          <p:nvPr/>
        </p:nvSpPr>
        <p:spPr>
          <a:xfrm>
            <a:off x="8198968" y="4150919"/>
            <a:ext cx="2652370" cy="438912"/>
          </a:xfrm>
          <a:prstGeom prst="rect">
            <a:avLst/>
          </a:prstGeom>
          <a:noFill/>
          <a:ln w="0">
            <a:noFill/>
          </a:ln>
        </p:spPr>
        <p:txBody>
          <a:bodyPr lIns="0" tIns="0" rIns="0" bIns="0" anchor="t"/>
          <a:lstStyle>
            <a:defPPr>
              <a:defRPr sz="1452" b="0">
                <a:solidFill>
                  <a:srgbClr val="64748B"/>
                </a:solidFill>
                <a:latin typeface="Calibri"/>
                <a:ea typeface="Calibri"/>
                <a:cs typeface="Calibri"/>
              </a:defRPr>
            </a:defPPr>
          </a:lstStyle>
          <a:p>
            <a:pPr>
              <a:buNone/>
              <a:defRPr sz="1452" b="0">
                <a:solidFill>
                  <a:srgbClr val="64748B"/>
                </a:solidFill>
                <a:latin typeface="Calibri"/>
                <a:ea typeface="Calibri"/>
                <a:cs typeface="Calibri"/>
              </a:defRPr>
            </a:pPr>
            <a:r>
              <a:rPr sz="1452" b="0">
                <a:solidFill>
                  <a:srgbClr val="64748B"/>
                </a:solidFill>
                <a:latin typeface="Calibri"/>
                <a:ea typeface="Calibri"/>
                <a:cs typeface="Calibri"/>
              </a:rPr>
              <a:t>View, export or print</a:t>
            </a:r>
          </a:p>
        </p:txBody>
      </p:sp>
      <p:sp>
        <p:nvSpPr>
          <p:cNvPr id="26" name="Rectangle 25">
            <a:extLst>
              <a:ext uri="{FF2B5EF4-FFF2-40B4-BE49-F238E27FC236}">
                <a16:creationId xmlns:a16="http://schemas.microsoft.com/office/drawing/2014/main" id="{7E2C4FA3-5680-4694-BE5D-A48993BA74EF}"/>
              </a:ext>
            </a:extLst>
          </p:cNvPr>
          <p:cNvSpPr>
            <a:spLocks noGrp="1"/>
          </p:cNvSpPr>
          <p:nvPr/>
        </p:nvSpPr>
        <p:spPr>
          <a:xfrm>
            <a:off x="1009650" y="3324301"/>
            <a:ext cx="9946386" cy="256032"/>
          </a:xfrm>
          <a:prstGeom prst="rect">
            <a:avLst/>
          </a:prstGeom>
          <a:noFill/>
          <a:ln w="0">
            <a:noFill/>
          </a:ln>
        </p:spPr>
        <p:txBody>
          <a:bodyPr lIns="0" tIns="0" rIns="0" bIns="0" anchor="t"/>
          <a:lstStyle>
            <a:defPPr>
              <a:defRPr sz="1452" b="0">
                <a:solidFill>
                  <a:srgbClr val="64748B"/>
                </a:solidFill>
                <a:latin typeface="Calibri"/>
                <a:ea typeface="Calibri"/>
                <a:cs typeface="Calibri"/>
              </a:defRPr>
            </a:defPPr>
          </a:lstStyle>
          <a:p>
            <a:pPr>
              <a:buNone/>
              <a:defRPr sz="1452" b="0">
                <a:solidFill>
                  <a:srgbClr val="64748B"/>
                </a:solidFill>
                <a:latin typeface="Calibri"/>
                <a:ea typeface="Calibri"/>
                <a:cs typeface="Calibri"/>
              </a:defRPr>
            </a:pPr>
            <a:r>
              <a:rPr sz="1452" b="0">
                <a:solidFill>
                  <a:srgbClr val="64748B"/>
                </a:solidFill>
                <a:latin typeface="Calibri"/>
                <a:ea typeface="Calibri"/>
                <a:cs typeface="Calibri"/>
              </a:rPr>
              <a:t>Continue from “Start test” to “Simulated processing”</a:t>
            </a:r>
          </a:p>
        </p:txBody>
      </p:sp>
      <p:sp>
        <p:nvSpPr>
          <p:cNvPr id="27" name="Rectangle 26">
            <a:extLst>
              <a:ext uri="{FF2B5EF4-FFF2-40B4-BE49-F238E27FC236}">
                <a16:creationId xmlns:a16="http://schemas.microsoft.com/office/drawing/2014/main" id="{8BBF697B-983E-4937-9A63-C034C99DF550}"/>
              </a:ext>
            </a:extLst>
          </p:cNvPr>
          <p:cNvSpPr>
            <a:spLocks noGrp="1"/>
          </p:cNvSpPr>
          <p:nvPr/>
        </p:nvSpPr>
        <p:spPr>
          <a:xfrm>
            <a:off x="1009650" y="5131156"/>
            <a:ext cx="10033635" cy="512064"/>
          </a:xfrm>
          <a:prstGeom prst="rect">
            <a:avLst/>
          </a:prstGeom>
          <a:noFill/>
          <a:ln w="0">
            <a:noFill/>
          </a:ln>
        </p:spPr>
        <p:txBody>
          <a:bodyPr lIns="0" tIns="0" rIns="0" bIns="0" anchor="t"/>
          <a:lstStyle>
            <a:defPPr>
              <a:defRPr sz="1848" b="1">
                <a:solidFill>
                  <a:srgbClr val="A32530"/>
                </a:solidFill>
                <a:latin typeface="Calibri"/>
                <a:ea typeface="Calibri"/>
                <a:cs typeface="Calibri"/>
              </a:defRPr>
            </a:defPPr>
          </a:lstStyle>
          <a:p>
            <a:pPr>
              <a:buNone/>
              <a:defRPr sz="1848" b="1">
                <a:solidFill>
                  <a:srgbClr val="A32530"/>
                </a:solidFill>
                <a:latin typeface="Calibri"/>
                <a:ea typeface="Calibri"/>
                <a:cs typeface="Calibri"/>
              </a:defRPr>
            </a:pPr>
            <a:r>
              <a:rPr sz="1848" b="1">
                <a:solidFill>
                  <a:srgbClr val="A32530"/>
                </a:solidFill>
                <a:latin typeface="Calibri"/>
                <a:ea typeface="Calibri"/>
                <a:cs typeface="Calibri"/>
              </a:rPr>
              <a:t>The report is created when the test is saved. Review updates that existing record.</a:t>
            </a:r>
          </a:p>
        </p:txBody>
      </p:sp>
    </p:spTree>
    <p:extLst>
      <p:ext uri="{BB962C8B-B14F-4D97-AF65-F5344CB8AC3E}">
        <p14:creationId xmlns:p14="http://schemas.microsoft.com/office/powerpoint/2010/main" val="11815946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43841DD-0265-48E8-84CD-EA1247EFAD80}"/>
              </a:ext>
            </a:extLst>
          </p:cNvPr>
          <p:cNvPicPr>
            <a:picLocks noChangeAspect="1"/>
          </p:cNvPicPr>
          <p:nvPr/>
        </p:nvPicPr>
        <p:blipFill>
          <a:blip r:embed="rId3"/>
          <a:stretch/>
        </p:blipFill>
        <p:spPr>
          <a:xfrm>
            <a:off x="0" y="0"/>
            <a:ext cx="12192000" cy="6858000"/>
          </a:xfrm>
          <a:prstGeom prst="rect">
            <a:avLst/>
          </a:prstGeom>
        </p:spPr>
      </p:pic>
      <p:sp>
        <p:nvSpPr>
          <p:cNvPr id="11" name="Rectangle 10">
            <a:extLst>
              <a:ext uri="{FF2B5EF4-FFF2-40B4-BE49-F238E27FC236}">
                <a16:creationId xmlns:a16="http://schemas.microsoft.com/office/drawing/2014/main" id="{CB0ED917-17E5-42D1-B4D2-6F2DD7191D05}"/>
              </a:ext>
            </a:extLst>
          </p:cNvPr>
          <p:cNvSpPr>
            <a:spLocks noGrp="1"/>
          </p:cNvSpPr>
          <p:nvPr/>
        </p:nvSpPr>
        <p:spPr>
          <a:xfrm>
            <a:off x="1009650" y="1190625"/>
            <a:ext cx="10287000" cy="638175"/>
          </a:xfrm>
          <a:prstGeom prst="rect">
            <a:avLst/>
          </a:prstGeom>
          <a:noFill/>
          <a:ln w="0">
            <a:noFill/>
          </a:ln>
        </p:spPr>
        <p:txBody>
          <a:bodyPr lIns="0" tIns="0" rIns="0" bIns="0" anchor="t"/>
          <a:lstStyle>
            <a:defPPr>
              <a:defRPr sz="3400" b="1">
                <a:solidFill>
                  <a:srgbClr val="A32530"/>
                </a:solidFill>
                <a:latin typeface="Cambria"/>
                <a:ea typeface="Cambria"/>
                <a:cs typeface="Cambria"/>
              </a:defRPr>
            </a:defPPr>
          </a:lstStyle>
          <a:p>
            <a:pPr>
              <a:buNone/>
              <a:defRPr sz="3400" b="1">
                <a:solidFill>
                  <a:srgbClr val="A32530"/>
                </a:solidFill>
                <a:latin typeface="Cambria"/>
                <a:ea typeface="Cambria"/>
                <a:cs typeface="Cambria"/>
              </a:defRPr>
            </a:pPr>
            <a:r>
              <a:rPr sz="3400" b="1">
                <a:solidFill>
                  <a:srgbClr val="A32530"/>
                </a:solidFill>
                <a:latin typeface="Cambria"/>
                <a:ea typeface="Cambria"/>
                <a:cs typeface="Cambria"/>
              </a:rPr>
              <a:t>Home, navigation and dashboard</a:t>
            </a:r>
          </a:p>
        </p:txBody>
      </p:sp>
      <p:sp>
        <p:nvSpPr>
          <p:cNvPr id="2" name="Rectangle 1">
            <a:extLst>
              <a:ext uri="{FF2B5EF4-FFF2-40B4-BE49-F238E27FC236}">
                <a16:creationId xmlns:a16="http://schemas.microsoft.com/office/drawing/2014/main" id="{630BF037-E782-4693-A85D-CE82050940F5}"/>
              </a:ext>
            </a:extLst>
          </p:cNvPr>
          <p:cNvSpPr>
            <a:spLocks noGrp="1"/>
          </p:cNvSpPr>
          <p:nvPr/>
        </p:nvSpPr>
        <p:spPr>
          <a:xfrm>
            <a:off x="1009650" y="6086475"/>
            <a:ext cx="9048750" cy="209550"/>
          </a:xfrm>
          <a:prstGeom prst="rect">
            <a:avLst/>
          </a:prstGeom>
          <a:noFill/>
          <a:ln w="0">
            <a:noFill/>
          </a:ln>
        </p:spPr>
        <p:txBody>
          <a:bodyPr lIns="0" tIns="0" rIns="0" bIns="0" anchor="t"/>
          <a:lstStyle>
            <a:defPPr>
              <a:defRPr sz="1050" b="0">
                <a:solidFill>
                  <a:srgbClr val="64748B"/>
                </a:solidFill>
                <a:latin typeface="Calibri"/>
                <a:ea typeface="Calibri"/>
                <a:cs typeface="Calibri"/>
              </a:defRPr>
            </a:defPPr>
          </a:lstStyle>
          <a:p>
            <a:pPr>
              <a:buNone/>
              <a:defRPr sz="1050" b="0">
                <a:solidFill>
                  <a:srgbClr val="64748B"/>
                </a:solidFill>
                <a:latin typeface="Calibri"/>
                <a:ea typeface="Calibri"/>
                <a:cs typeface="Calibri"/>
              </a:defRPr>
            </a:pPr>
            <a:r>
              <a:rPr sz="1050" b="0" dirty="0" err="1">
                <a:solidFill>
                  <a:srgbClr val="64748B"/>
                </a:solidFill>
                <a:latin typeface="Calibri"/>
                <a:ea typeface="Calibri"/>
                <a:cs typeface="Calibri"/>
              </a:rPr>
              <a:t>UroScan</a:t>
            </a:r>
            <a:r>
              <a:rPr sz="1050" b="0" dirty="0">
                <a:solidFill>
                  <a:srgbClr val="64748B"/>
                </a:solidFill>
                <a:latin typeface="Calibri"/>
                <a:ea typeface="Calibri"/>
                <a:cs typeface="Calibri"/>
              </a:rPr>
              <a:t> AI  /  </a:t>
            </a:r>
            <a:r>
              <a:rPr lang="en-IN" sz="1050" b="0" dirty="0">
                <a:solidFill>
                  <a:srgbClr val="64748B"/>
                </a:solidFill>
                <a:latin typeface="Calibri"/>
                <a:ea typeface="Calibri"/>
                <a:cs typeface="Calibri"/>
              </a:rPr>
              <a:t>Healthcare Group 3</a:t>
            </a:r>
            <a:endParaRPr sz="1050" b="0" dirty="0">
              <a:solidFill>
                <a:srgbClr val="64748B"/>
              </a:solidFill>
              <a:latin typeface="Calibri"/>
              <a:ea typeface="Calibri"/>
              <a:cs typeface="Calibri"/>
            </a:endParaRPr>
          </a:p>
        </p:txBody>
      </p:sp>
      <p:sp>
        <p:nvSpPr>
          <p:cNvPr id="3" name="Rectangle 2">
            <a:extLst>
              <a:ext uri="{FF2B5EF4-FFF2-40B4-BE49-F238E27FC236}">
                <a16:creationId xmlns:a16="http://schemas.microsoft.com/office/drawing/2014/main" id="{D52B6B57-F9A0-43E5-9B8C-7450B194ADAA}"/>
              </a:ext>
            </a:extLst>
          </p:cNvPr>
          <p:cNvSpPr>
            <a:spLocks noGrp="1"/>
          </p:cNvSpPr>
          <p:nvPr/>
        </p:nvSpPr>
        <p:spPr>
          <a:xfrm>
            <a:off x="10810875" y="6086475"/>
            <a:ext cx="361950" cy="209550"/>
          </a:xfrm>
          <a:prstGeom prst="rect">
            <a:avLst/>
          </a:prstGeom>
          <a:noFill/>
          <a:ln w="0">
            <a:noFill/>
          </a:ln>
        </p:spPr>
        <p:txBody>
          <a:bodyPr lIns="0" tIns="0" rIns="0" bIns="0" anchor="t"/>
          <a:lstStyle>
            <a:defPPr>
              <a:defRPr sz="1200" b="1">
                <a:solidFill>
                  <a:srgbClr val="A32530"/>
                </a:solidFill>
                <a:latin typeface="Calibri"/>
                <a:ea typeface="Calibri"/>
                <a:cs typeface="Calibri"/>
              </a:defRPr>
            </a:defPPr>
          </a:lstStyle>
          <a:p>
            <a:pPr>
              <a:buNone/>
              <a:defRPr sz="1200" b="1">
                <a:solidFill>
                  <a:srgbClr val="A32530"/>
                </a:solidFill>
                <a:latin typeface="Calibri"/>
                <a:ea typeface="Calibri"/>
                <a:cs typeface="Calibri"/>
              </a:defRPr>
            </a:pPr>
            <a:r>
              <a:rPr sz="1200" b="1">
                <a:solidFill>
                  <a:srgbClr val="A32530"/>
                </a:solidFill>
                <a:latin typeface="Calibri"/>
                <a:ea typeface="Calibri"/>
                <a:cs typeface="Calibri"/>
              </a:rPr>
              <a:t>07</a:t>
            </a:r>
          </a:p>
        </p:txBody>
      </p:sp>
      <p:pic>
        <p:nvPicPr>
          <p:cNvPr id="4" name="Picture 3">
            <a:extLst>
              <a:ext uri="{FF2B5EF4-FFF2-40B4-BE49-F238E27FC236}">
                <a16:creationId xmlns:a16="http://schemas.microsoft.com/office/drawing/2014/main" id="{60ED5052-CF9C-4FB3-82AF-F8634D71CE8B}"/>
              </a:ext>
            </a:extLst>
          </p:cNvPr>
          <p:cNvPicPr>
            <a:picLocks noChangeAspect="1"/>
          </p:cNvPicPr>
          <p:nvPr/>
        </p:nvPicPr>
        <p:blipFill>
          <a:blip r:embed="rId4"/>
          <a:stretch/>
        </p:blipFill>
        <p:spPr>
          <a:xfrm>
            <a:off x="1827276" y="2075670"/>
            <a:ext cx="8485632" cy="1246364"/>
          </a:xfrm>
          <a:prstGeom prst="rect">
            <a:avLst/>
          </a:prstGeom>
        </p:spPr>
      </p:pic>
      <p:sp>
        <p:nvSpPr>
          <p:cNvPr id="5" name="Rectangle 4">
            <a:extLst>
              <a:ext uri="{FF2B5EF4-FFF2-40B4-BE49-F238E27FC236}">
                <a16:creationId xmlns:a16="http://schemas.microsoft.com/office/drawing/2014/main" id="{57C70126-F3B8-4D93-9E4E-172F93AC0A2C}"/>
              </a:ext>
            </a:extLst>
          </p:cNvPr>
          <p:cNvSpPr>
            <a:spLocks noGrp="1"/>
          </p:cNvSpPr>
          <p:nvPr/>
        </p:nvSpPr>
        <p:spPr>
          <a:xfrm>
            <a:off x="1009650" y="3419399"/>
            <a:ext cx="9946386" cy="234086"/>
          </a:xfrm>
          <a:prstGeom prst="rect">
            <a:avLst/>
          </a:prstGeom>
          <a:noFill/>
          <a:ln w="0">
            <a:noFill/>
          </a:ln>
        </p:spPr>
        <p:txBody>
          <a:bodyPr lIns="0" tIns="0" rIns="0" bIns="0" anchor="t"/>
          <a:lstStyle>
            <a:defPPr>
              <a:defRPr sz="1386" b="0">
                <a:solidFill>
                  <a:srgbClr val="64748B"/>
                </a:solidFill>
                <a:latin typeface="Calibri"/>
                <a:ea typeface="Calibri"/>
                <a:cs typeface="Calibri"/>
              </a:defRPr>
            </a:defPPr>
          </a:lstStyle>
          <a:p>
            <a:pPr>
              <a:buNone/>
              <a:defRPr sz="1386" b="0">
                <a:solidFill>
                  <a:srgbClr val="64748B"/>
                </a:solidFill>
                <a:latin typeface="Calibri"/>
                <a:ea typeface="Calibri"/>
                <a:cs typeface="Calibri"/>
              </a:defRPr>
            </a:pPr>
            <a:r>
              <a:rPr sz="1386" b="0">
                <a:solidFill>
                  <a:srgbClr val="64748B"/>
                </a:solidFill>
                <a:latin typeface="Calibri"/>
                <a:ea typeface="Calibri"/>
                <a:cs typeface="Calibri"/>
              </a:rPr>
              <a:t>Dashboard header and sample summary cards</a:t>
            </a:r>
          </a:p>
        </p:txBody>
      </p:sp>
      <p:sp>
        <p:nvSpPr>
          <p:cNvPr id="6" name="Rectangle 5">
            <a:extLst>
              <a:ext uri="{FF2B5EF4-FFF2-40B4-BE49-F238E27FC236}">
                <a16:creationId xmlns:a16="http://schemas.microsoft.com/office/drawing/2014/main" id="{E1B3C3F4-1508-450E-8AA6-F3C5B7831B43}"/>
              </a:ext>
            </a:extLst>
          </p:cNvPr>
          <p:cNvSpPr>
            <a:spLocks noGrp="1"/>
          </p:cNvSpPr>
          <p:nvPr/>
        </p:nvSpPr>
        <p:spPr>
          <a:xfrm>
            <a:off x="1009650" y="3968039"/>
            <a:ext cx="4624197" cy="277978"/>
          </a:xfrm>
          <a:prstGeom prst="rect">
            <a:avLst/>
          </a:prstGeom>
          <a:noFill/>
          <a:ln w="0">
            <a:noFill/>
          </a:ln>
        </p:spPr>
        <p:txBody>
          <a:bodyPr lIns="0" tIns="0" rIns="0" bIns="0" anchor="t"/>
          <a:lstStyle>
            <a:defPPr>
              <a:defRPr sz="1848" b="1">
                <a:solidFill>
                  <a:srgbClr val="A32530"/>
                </a:solidFill>
                <a:latin typeface="Calibri"/>
                <a:ea typeface="Calibri"/>
                <a:cs typeface="Calibri"/>
              </a:defRPr>
            </a:defPPr>
          </a:lstStyle>
          <a:p>
            <a:pPr>
              <a:buNone/>
              <a:defRPr sz="1848" b="1">
                <a:solidFill>
                  <a:srgbClr val="A32530"/>
                </a:solidFill>
                <a:latin typeface="Calibri"/>
                <a:ea typeface="Calibri"/>
                <a:cs typeface="Calibri"/>
              </a:defRPr>
            </a:pPr>
            <a:r>
              <a:rPr sz="1848" b="1">
                <a:solidFill>
                  <a:srgbClr val="A32530"/>
                </a:solidFill>
                <a:latin typeface="Calibri"/>
                <a:ea typeface="Calibri"/>
                <a:cs typeface="Calibri"/>
              </a:rPr>
              <a:t>Working navigation</a:t>
            </a:r>
          </a:p>
        </p:txBody>
      </p:sp>
      <p:sp>
        <p:nvSpPr>
          <p:cNvPr id="7" name="Rectangle 6">
            <a:extLst>
              <a:ext uri="{FF2B5EF4-FFF2-40B4-BE49-F238E27FC236}">
                <a16:creationId xmlns:a16="http://schemas.microsoft.com/office/drawing/2014/main" id="{835B1635-A958-4747-8764-4A84D88A3AC7}"/>
              </a:ext>
            </a:extLst>
          </p:cNvPr>
          <p:cNvSpPr>
            <a:spLocks noGrp="1"/>
          </p:cNvSpPr>
          <p:nvPr/>
        </p:nvSpPr>
        <p:spPr>
          <a:xfrm>
            <a:off x="1009650" y="4319168"/>
            <a:ext cx="4624197" cy="1097280"/>
          </a:xfrm>
          <a:prstGeom prst="rect">
            <a:avLst/>
          </a:prstGeom>
          <a:noFill/>
          <a:ln w="0">
            <a:noFill/>
          </a:ln>
        </p:spPr>
        <p:txBody>
          <a:bodyPr lIns="0" tIns="0" rIns="0" bIns="0" anchor="t"/>
          <a:lstStyle>
            <a:defPPr>
              <a:defRPr sz="1716" b="0">
                <a:solidFill>
                  <a:srgbClr val="1F2937"/>
                </a:solidFill>
                <a:latin typeface="Calibri"/>
                <a:ea typeface="Calibri"/>
                <a:cs typeface="Calibri"/>
              </a:defRPr>
            </a:defPPr>
          </a:lstStyle>
          <a:p>
            <a:pPr>
              <a:buNone/>
              <a:defRPr sz="1716" b="0">
                <a:solidFill>
                  <a:srgbClr val="1F2937"/>
                </a:solidFill>
                <a:latin typeface="Calibri"/>
                <a:ea typeface="Calibri"/>
                <a:cs typeface="Calibri"/>
              </a:defRPr>
            </a:pPr>
            <a:r>
              <a:rPr sz="1716" b="0">
                <a:solidFill>
                  <a:srgbClr val="1F2937"/>
                </a:solidFill>
                <a:latin typeface="Calibri"/>
                <a:ea typeface="Calibri"/>
                <a:cs typeface="Calibri"/>
              </a:rPr>
              <a:t>Home, Dashboard, Patients, New Test, Reports, Analytics and Device Status.</a:t>
            </a:r>
          </a:p>
        </p:txBody>
      </p:sp>
      <p:sp>
        <p:nvSpPr>
          <p:cNvPr id="8" name="Rectangle 7">
            <a:extLst>
              <a:ext uri="{FF2B5EF4-FFF2-40B4-BE49-F238E27FC236}">
                <a16:creationId xmlns:a16="http://schemas.microsoft.com/office/drawing/2014/main" id="{31EEE245-60CB-48A5-926F-63F0A8FE2504}"/>
              </a:ext>
            </a:extLst>
          </p:cNvPr>
          <p:cNvSpPr>
            <a:spLocks noGrp="1"/>
          </p:cNvSpPr>
          <p:nvPr/>
        </p:nvSpPr>
        <p:spPr>
          <a:xfrm>
            <a:off x="6384188" y="3968039"/>
            <a:ext cx="4711446" cy="277978"/>
          </a:xfrm>
          <a:prstGeom prst="rect">
            <a:avLst/>
          </a:prstGeom>
          <a:noFill/>
          <a:ln w="0">
            <a:noFill/>
          </a:ln>
        </p:spPr>
        <p:txBody>
          <a:bodyPr lIns="0" tIns="0" rIns="0" bIns="0" anchor="t"/>
          <a:lstStyle>
            <a:defPPr>
              <a:defRPr sz="1848" b="1">
                <a:solidFill>
                  <a:srgbClr val="A32530"/>
                </a:solidFill>
                <a:latin typeface="Calibri"/>
                <a:ea typeface="Calibri"/>
                <a:cs typeface="Calibri"/>
              </a:defRPr>
            </a:defPPr>
          </a:lstStyle>
          <a:p>
            <a:pPr>
              <a:buNone/>
              <a:defRPr sz="1848" b="1">
                <a:solidFill>
                  <a:srgbClr val="A32530"/>
                </a:solidFill>
                <a:latin typeface="Calibri"/>
                <a:ea typeface="Calibri"/>
                <a:cs typeface="Calibri"/>
              </a:defRPr>
            </a:pPr>
            <a:r>
              <a:rPr sz="1848" b="1">
                <a:solidFill>
                  <a:srgbClr val="A32530"/>
                </a:solidFill>
                <a:latin typeface="Calibri"/>
                <a:ea typeface="Calibri"/>
                <a:cs typeface="Calibri"/>
              </a:rPr>
              <a:t>Mixed data sources</a:t>
            </a:r>
          </a:p>
        </p:txBody>
      </p:sp>
      <p:sp>
        <p:nvSpPr>
          <p:cNvPr id="9" name="Rectangle 8">
            <a:extLst>
              <a:ext uri="{FF2B5EF4-FFF2-40B4-BE49-F238E27FC236}">
                <a16:creationId xmlns:a16="http://schemas.microsoft.com/office/drawing/2014/main" id="{1C3EE6D3-9FDA-4D69-975C-3CB5CFA5F57B}"/>
              </a:ext>
            </a:extLst>
          </p:cNvPr>
          <p:cNvSpPr>
            <a:spLocks noGrp="1"/>
          </p:cNvSpPr>
          <p:nvPr/>
        </p:nvSpPr>
        <p:spPr>
          <a:xfrm>
            <a:off x="6384188" y="4319168"/>
            <a:ext cx="4711446" cy="1097280"/>
          </a:xfrm>
          <a:prstGeom prst="rect">
            <a:avLst/>
          </a:prstGeom>
          <a:noFill/>
          <a:ln w="0">
            <a:noFill/>
          </a:ln>
        </p:spPr>
        <p:txBody>
          <a:bodyPr lIns="0" tIns="0" rIns="0" bIns="0" anchor="t"/>
          <a:lstStyle>
            <a:defPPr>
              <a:defRPr sz="1716" b="0">
                <a:solidFill>
                  <a:srgbClr val="1F2937"/>
                </a:solidFill>
                <a:latin typeface="Calibri"/>
                <a:ea typeface="Calibri"/>
                <a:cs typeface="Calibri"/>
              </a:defRPr>
            </a:defPPr>
          </a:lstStyle>
          <a:p>
            <a:pPr>
              <a:buNone/>
              <a:defRPr sz="1716" b="0">
                <a:solidFill>
                  <a:srgbClr val="1F2937"/>
                </a:solidFill>
                <a:latin typeface="Calibri"/>
                <a:ea typeface="Calibri"/>
                <a:cs typeface="Calibri"/>
              </a:defRPr>
            </a:pPr>
            <a:r>
              <a:rPr sz="1716" b="0">
                <a:solidFill>
                  <a:srgbClr val="1F2937"/>
                </a:solidFill>
                <a:latin typeface="Calibri"/>
                <a:ea typeface="Calibri"/>
                <a:cs typeface="Calibri"/>
              </a:rPr>
              <a:t>The recent-test table uses stored records. The summary cards and activity chart are fixed examples.</a:t>
            </a:r>
          </a:p>
        </p:txBody>
      </p:sp>
      <p:sp>
        <p:nvSpPr>
          <p:cNvPr id="10" name="Rectangle 9">
            <a:extLst>
              <a:ext uri="{FF2B5EF4-FFF2-40B4-BE49-F238E27FC236}">
                <a16:creationId xmlns:a16="http://schemas.microsoft.com/office/drawing/2014/main" id="{70839F65-D46F-4175-BD67-0C90EC87024D}"/>
              </a:ext>
            </a:extLst>
          </p:cNvPr>
          <p:cNvSpPr>
            <a:spLocks noGrp="1"/>
          </p:cNvSpPr>
          <p:nvPr/>
        </p:nvSpPr>
        <p:spPr>
          <a:xfrm>
            <a:off x="1009650" y="5489600"/>
            <a:ext cx="10033635" cy="292608"/>
          </a:xfrm>
          <a:prstGeom prst="rect">
            <a:avLst/>
          </a:prstGeom>
          <a:noFill/>
          <a:ln w="0">
            <a:noFill/>
          </a:ln>
        </p:spPr>
        <p:txBody>
          <a:bodyPr lIns="0" tIns="0" rIns="0" bIns="0" anchor="t"/>
          <a:lstStyle>
            <a:defPPr>
              <a:defRPr sz="1584" b="1">
                <a:solidFill>
                  <a:srgbClr val="A32530"/>
                </a:solidFill>
                <a:latin typeface="Calibri"/>
                <a:ea typeface="Calibri"/>
                <a:cs typeface="Calibri"/>
              </a:defRPr>
            </a:defPPr>
          </a:lstStyle>
          <a:p>
            <a:pPr>
              <a:buNone/>
              <a:defRPr sz="1584" b="1">
                <a:solidFill>
                  <a:srgbClr val="A32530"/>
                </a:solidFill>
                <a:latin typeface="Calibri"/>
                <a:ea typeface="Calibri"/>
                <a:cs typeface="Calibri"/>
              </a:defRPr>
            </a:pPr>
            <a:r>
              <a:rPr sz="1584" b="1">
                <a:solidFill>
                  <a:srgbClr val="A32530"/>
                </a:solidFill>
                <a:latin typeface="Calibri"/>
                <a:ea typeface="Calibri"/>
                <a:cs typeface="Calibri"/>
              </a:rPr>
              <a:t>Displayed dashboard totals are sample values, not live activity statistics.</a:t>
            </a:r>
          </a:p>
        </p:txBody>
      </p:sp>
    </p:spTree>
    <p:extLst>
      <p:ext uri="{BB962C8B-B14F-4D97-AF65-F5344CB8AC3E}">
        <p14:creationId xmlns:p14="http://schemas.microsoft.com/office/powerpoint/2010/main" val="3888891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F92AC74F-E991-4502-BA97-73219AEDFC4E}"/>
              </a:ext>
            </a:extLst>
          </p:cNvPr>
          <p:cNvPicPr>
            <a:picLocks noChangeAspect="1"/>
          </p:cNvPicPr>
          <p:nvPr/>
        </p:nvPicPr>
        <p:blipFill>
          <a:blip r:embed="rId3"/>
          <a:stretch/>
        </p:blipFill>
        <p:spPr>
          <a:xfrm>
            <a:off x="0" y="0"/>
            <a:ext cx="12192000" cy="6858000"/>
          </a:xfrm>
          <a:prstGeom prst="rect">
            <a:avLst/>
          </a:prstGeom>
        </p:spPr>
      </p:pic>
      <p:sp>
        <p:nvSpPr>
          <p:cNvPr id="12" name="Rectangle 11">
            <a:extLst>
              <a:ext uri="{FF2B5EF4-FFF2-40B4-BE49-F238E27FC236}">
                <a16:creationId xmlns:a16="http://schemas.microsoft.com/office/drawing/2014/main" id="{52E41248-C42A-41D3-B775-5291FB98CC4E}"/>
              </a:ext>
            </a:extLst>
          </p:cNvPr>
          <p:cNvSpPr>
            <a:spLocks noGrp="1"/>
          </p:cNvSpPr>
          <p:nvPr/>
        </p:nvSpPr>
        <p:spPr>
          <a:xfrm>
            <a:off x="1009650" y="1190625"/>
            <a:ext cx="10287000" cy="638175"/>
          </a:xfrm>
          <a:prstGeom prst="rect">
            <a:avLst/>
          </a:prstGeom>
          <a:noFill/>
          <a:ln w="0">
            <a:noFill/>
          </a:ln>
        </p:spPr>
        <p:txBody>
          <a:bodyPr lIns="0" tIns="0" rIns="0" bIns="0" anchor="t"/>
          <a:lstStyle>
            <a:defPPr>
              <a:defRPr sz="3400" b="1">
                <a:solidFill>
                  <a:srgbClr val="A32530"/>
                </a:solidFill>
                <a:latin typeface="Cambria"/>
                <a:ea typeface="Cambria"/>
                <a:cs typeface="Cambria"/>
              </a:defRPr>
            </a:defPPr>
          </a:lstStyle>
          <a:p>
            <a:pPr>
              <a:buNone/>
              <a:defRPr sz="3400" b="1">
                <a:solidFill>
                  <a:srgbClr val="A32530"/>
                </a:solidFill>
                <a:latin typeface="Cambria"/>
                <a:ea typeface="Cambria"/>
                <a:cs typeface="Cambria"/>
              </a:defRPr>
            </a:pPr>
            <a:r>
              <a:rPr sz="3400" b="1">
                <a:solidFill>
                  <a:srgbClr val="A32530"/>
                </a:solidFill>
                <a:latin typeface="Cambria"/>
                <a:ea typeface="Cambria"/>
                <a:cs typeface="Cambria"/>
              </a:rPr>
              <a:t>Patient registration and search</a:t>
            </a:r>
          </a:p>
        </p:txBody>
      </p:sp>
      <p:sp>
        <p:nvSpPr>
          <p:cNvPr id="2" name="Rectangle 1">
            <a:extLst>
              <a:ext uri="{FF2B5EF4-FFF2-40B4-BE49-F238E27FC236}">
                <a16:creationId xmlns:a16="http://schemas.microsoft.com/office/drawing/2014/main" id="{AE1B5329-F3E6-4019-A0D5-8E1106540229}"/>
              </a:ext>
            </a:extLst>
          </p:cNvPr>
          <p:cNvSpPr>
            <a:spLocks noGrp="1"/>
          </p:cNvSpPr>
          <p:nvPr/>
        </p:nvSpPr>
        <p:spPr>
          <a:xfrm>
            <a:off x="1009650" y="6086475"/>
            <a:ext cx="9048750" cy="209550"/>
          </a:xfrm>
          <a:prstGeom prst="rect">
            <a:avLst/>
          </a:prstGeom>
          <a:noFill/>
          <a:ln w="0">
            <a:noFill/>
          </a:ln>
        </p:spPr>
        <p:txBody>
          <a:bodyPr lIns="0" tIns="0" rIns="0" bIns="0" anchor="t"/>
          <a:lstStyle>
            <a:defPPr>
              <a:defRPr sz="1050" b="0">
                <a:solidFill>
                  <a:srgbClr val="64748B"/>
                </a:solidFill>
                <a:latin typeface="Calibri"/>
                <a:ea typeface="Calibri"/>
                <a:cs typeface="Calibri"/>
              </a:defRPr>
            </a:defPPr>
          </a:lstStyle>
          <a:p>
            <a:pPr>
              <a:buNone/>
              <a:defRPr sz="1050" b="0">
                <a:solidFill>
                  <a:srgbClr val="64748B"/>
                </a:solidFill>
                <a:latin typeface="Calibri"/>
                <a:ea typeface="Calibri"/>
                <a:cs typeface="Calibri"/>
              </a:defRPr>
            </a:pPr>
            <a:r>
              <a:rPr sz="1050" b="0" dirty="0" err="1">
                <a:solidFill>
                  <a:srgbClr val="64748B"/>
                </a:solidFill>
                <a:latin typeface="Calibri"/>
                <a:ea typeface="Calibri"/>
                <a:cs typeface="Calibri"/>
              </a:rPr>
              <a:t>UroScan</a:t>
            </a:r>
            <a:r>
              <a:rPr sz="1050" b="0" dirty="0">
                <a:solidFill>
                  <a:srgbClr val="64748B"/>
                </a:solidFill>
                <a:latin typeface="Calibri"/>
                <a:ea typeface="Calibri"/>
                <a:cs typeface="Calibri"/>
              </a:rPr>
              <a:t> AI  /  </a:t>
            </a:r>
            <a:r>
              <a:rPr lang="en-IN" sz="1050" b="0" dirty="0">
                <a:solidFill>
                  <a:srgbClr val="64748B"/>
                </a:solidFill>
                <a:latin typeface="Calibri"/>
                <a:ea typeface="Calibri"/>
                <a:cs typeface="Calibri"/>
              </a:rPr>
              <a:t>Healthcare Group 3</a:t>
            </a:r>
            <a:endParaRPr sz="1050" b="0" dirty="0">
              <a:solidFill>
                <a:srgbClr val="64748B"/>
              </a:solidFill>
              <a:latin typeface="Calibri"/>
              <a:ea typeface="Calibri"/>
              <a:cs typeface="Calibri"/>
            </a:endParaRPr>
          </a:p>
        </p:txBody>
      </p:sp>
      <p:sp>
        <p:nvSpPr>
          <p:cNvPr id="3" name="Rectangle 2">
            <a:extLst>
              <a:ext uri="{FF2B5EF4-FFF2-40B4-BE49-F238E27FC236}">
                <a16:creationId xmlns:a16="http://schemas.microsoft.com/office/drawing/2014/main" id="{372E4C47-4F94-412F-BCF0-7A7564A3D8FA}"/>
              </a:ext>
            </a:extLst>
          </p:cNvPr>
          <p:cNvSpPr>
            <a:spLocks noGrp="1"/>
          </p:cNvSpPr>
          <p:nvPr/>
        </p:nvSpPr>
        <p:spPr>
          <a:xfrm>
            <a:off x="10810875" y="6086475"/>
            <a:ext cx="361950" cy="209550"/>
          </a:xfrm>
          <a:prstGeom prst="rect">
            <a:avLst/>
          </a:prstGeom>
          <a:noFill/>
          <a:ln w="0">
            <a:noFill/>
          </a:ln>
        </p:spPr>
        <p:txBody>
          <a:bodyPr lIns="0" tIns="0" rIns="0" bIns="0" anchor="t"/>
          <a:lstStyle>
            <a:defPPr>
              <a:defRPr sz="1200" b="1">
                <a:solidFill>
                  <a:srgbClr val="A32530"/>
                </a:solidFill>
                <a:latin typeface="Calibri"/>
                <a:ea typeface="Calibri"/>
                <a:cs typeface="Calibri"/>
              </a:defRPr>
            </a:defPPr>
          </a:lstStyle>
          <a:p>
            <a:pPr>
              <a:buNone/>
              <a:defRPr sz="1200" b="1">
                <a:solidFill>
                  <a:srgbClr val="A32530"/>
                </a:solidFill>
                <a:latin typeface="Calibri"/>
                <a:ea typeface="Calibri"/>
                <a:cs typeface="Calibri"/>
              </a:defRPr>
            </a:pPr>
            <a:r>
              <a:rPr sz="1200" b="1">
                <a:solidFill>
                  <a:srgbClr val="A32530"/>
                </a:solidFill>
                <a:latin typeface="Calibri"/>
                <a:ea typeface="Calibri"/>
                <a:cs typeface="Calibri"/>
              </a:rPr>
              <a:t>08</a:t>
            </a:r>
          </a:p>
        </p:txBody>
      </p:sp>
      <p:pic>
        <p:nvPicPr>
          <p:cNvPr id="4" name="Picture 3">
            <a:extLst>
              <a:ext uri="{FF2B5EF4-FFF2-40B4-BE49-F238E27FC236}">
                <a16:creationId xmlns:a16="http://schemas.microsoft.com/office/drawing/2014/main" id="{95260502-5EAE-4F3F-98E1-C872390DF3B5}"/>
              </a:ext>
            </a:extLst>
          </p:cNvPr>
          <p:cNvPicPr>
            <a:picLocks noChangeAspect="1"/>
          </p:cNvPicPr>
          <p:nvPr/>
        </p:nvPicPr>
        <p:blipFill>
          <a:blip r:embed="rId4"/>
          <a:stretch/>
        </p:blipFill>
        <p:spPr>
          <a:xfrm>
            <a:off x="1827276" y="2073548"/>
            <a:ext cx="8485632" cy="1660258"/>
          </a:xfrm>
          <a:prstGeom prst="rect">
            <a:avLst/>
          </a:prstGeom>
        </p:spPr>
      </p:pic>
      <p:sp>
        <p:nvSpPr>
          <p:cNvPr id="5" name="Rectangle 4">
            <a:extLst>
              <a:ext uri="{FF2B5EF4-FFF2-40B4-BE49-F238E27FC236}">
                <a16:creationId xmlns:a16="http://schemas.microsoft.com/office/drawing/2014/main" id="{70CF1C36-7648-40AB-8FCA-3F1175FDC760}"/>
              </a:ext>
            </a:extLst>
          </p:cNvPr>
          <p:cNvSpPr>
            <a:spLocks noGrp="1"/>
          </p:cNvSpPr>
          <p:nvPr/>
        </p:nvSpPr>
        <p:spPr>
          <a:xfrm>
            <a:off x="1009650" y="3836365"/>
            <a:ext cx="10033635" cy="219456"/>
          </a:xfrm>
          <a:prstGeom prst="rect">
            <a:avLst/>
          </a:prstGeom>
          <a:noFill/>
          <a:ln w="0">
            <a:noFill/>
          </a:ln>
        </p:spPr>
        <p:txBody>
          <a:bodyPr lIns="0" tIns="0" rIns="0" bIns="0" anchor="t"/>
          <a:lstStyle>
            <a:defPPr>
              <a:defRPr sz="1386" b="0">
                <a:solidFill>
                  <a:srgbClr val="64748B"/>
                </a:solidFill>
                <a:latin typeface="Calibri"/>
                <a:ea typeface="Calibri"/>
                <a:cs typeface="Calibri"/>
              </a:defRPr>
            </a:defPPr>
          </a:lstStyle>
          <a:p>
            <a:pPr>
              <a:buNone/>
              <a:defRPr sz="1386" b="0">
                <a:solidFill>
                  <a:srgbClr val="64748B"/>
                </a:solidFill>
                <a:latin typeface="Calibri"/>
                <a:ea typeface="Calibri"/>
                <a:cs typeface="Calibri"/>
              </a:defRPr>
            </a:pPr>
            <a:r>
              <a:rPr sz="1386" b="0">
                <a:solidFill>
                  <a:srgbClr val="64748B"/>
                </a:solidFill>
                <a:latin typeface="Calibri"/>
                <a:ea typeface="Calibri"/>
                <a:cs typeface="Calibri"/>
              </a:rPr>
              <a:t>Actual website capture: synthetic patient record found by name</a:t>
            </a:r>
          </a:p>
        </p:txBody>
      </p:sp>
      <p:sp>
        <p:nvSpPr>
          <p:cNvPr id="6" name="Rectangle 5">
            <a:extLst>
              <a:ext uri="{FF2B5EF4-FFF2-40B4-BE49-F238E27FC236}">
                <a16:creationId xmlns:a16="http://schemas.microsoft.com/office/drawing/2014/main" id="{9AA865AF-0DAC-4416-9D57-4BDAD62E6FB2}"/>
              </a:ext>
            </a:extLst>
          </p:cNvPr>
          <p:cNvSpPr>
            <a:spLocks noGrp="1"/>
          </p:cNvSpPr>
          <p:nvPr/>
        </p:nvSpPr>
        <p:spPr>
          <a:xfrm>
            <a:off x="1009650" y="4341114"/>
            <a:ext cx="453695" cy="365760"/>
          </a:xfrm>
          <a:prstGeom prst="rect">
            <a:avLst/>
          </a:prstGeom>
          <a:noFill/>
          <a:ln w="0">
            <a:noFill/>
          </a:ln>
        </p:spPr>
        <p:txBody>
          <a:bodyPr lIns="0" tIns="0" rIns="0" bIns="0" anchor="t"/>
          <a:lstStyle>
            <a:defPPr>
              <a:defRPr sz="2178" b="1">
                <a:solidFill>
                  <a:srgbClr val="A32530"/>
                </a:solidFill>
                <a:latin typeface="Calibri"/>
                <a:ea typeface="Calibri"/>
                <a:cs typeface="Calibri"/>
              </a:defRPr>
            </a:defPPr>
          </a:lstStyle>
          <a:p>
            <a:pPr>
              <a:buNone/>
              <a:defRPr sz="2178" b="1">
                <a:solidFill>
                  <a:srgbClr val="A32530"/>
                </a:solidFill>
                <a:latin typeface="Calibri"/>
                <a:ea typeface="Calibri"/>
                <a:cs typeface="Calibri"/>
              </a:defRPr>
            </a:pPr>
            <a:r>
              <a:rPr sz="2178" b="1">
                <a:solidFill>
                  <a:srgbClr val="A32530"/>
                </a:solidFill>
                <a:latin typeface="Calibri"/>
                <a:ea typeface="Calibri"/>
                <a:cs typeface="Calibri"/>
              </a:rPr>
              <a:t>01</a:t>
            </a:r>
          </a:p>
        </p:txBody>
      </p:sp>
      <p:sp>
        <p:nvSpPr>
          <p:cNvPr id="7" name="Rectangle 6">
            <a:extLst>
              <a:ext uri="{FF2B5EF4-FFF2-40B4-BE49-F238E27FC236}">
                <a16:creationId xmlns:a16="http://schemas.microsoft.com/office/drawing/2014/main" id="{DB237D25-97A6-4102-9BE6-2EB2CF38C6B1}"/>
              </a:ext>
            </a:extLst>
          </p:cNvPr>
          <p:cNvSpPr>
            <a:spLocks noGrp="1"/>
          </p:cNvSpPr>
          <p:nvPr/>
        </p:nvSpPr>
        <p:spPr>
          <a:xfrm>
            <a:off x="1602943" y="4341114"/>
            <a:ext cx="4118153" cy="292608"/>
          </a:xfrm>
          <a:prstGeom prst="rect">
            <a:avLst/>
          </a:prstGeom>
          <a:noFill/>
          <a:ln w="0">
            <a:noFill/>
          </a:ln>
        </p:spPr>
        <p:txBody>
          <a:bodyPr lIns="0" tIns="0" rIns="0" bIns="0" anchor="t"/>
          <a:lstStyle>
            <a:defPPr>
              <a:defRPr sz="1848" b="1">
                <a:solidFill>
                  <a:srgbClr val="A32530"/>
                </a:solidFill>
                <a:latin typeface="Calibri"/>
                <a:ea typeface="Calibri"/>
                <a:cs typeface="Calibri"/>
              </a:defRPr>
            </a:defPPr>
          </a:lstStyle>
          <a:p>
            <a:pPr>
              <a:buNone/>
              <a:defRPr sz="1848" b="1">
                <a:solidFill>
                  <a:srgbClr val="A32530"/>
                </a:solidFill>
                <a:latin typeface="Calibri"/>
                <a:ea typeface="Calibri"/>
                <a:cs typeface="Calibri"/>
              </a:defRPr>
            </a:pPr>
            <a:r>
              <a:rPr sz="1848" b="1">
                <a:solidFill>
                  <a:srgbClr val="A32530"/>
                </a:solidFill>
                <a:latin typeface="Calibri"/>
                <a:ea typeface="Calibri"/>
                <a:cs typeface="Calibri"/>
              </a:rPr>
              <a:t>Register</a:t>
            </a:r>
          </a:p>
        </p:txBody>
      </p:sp>
      <p:sp>
        <p:nvSpPr>
          <p:cNvPr id="8" name="Rectangle 7">
            <a:extLst>
              <a:ext uri="{FF2B5EF4-FFF2-40B4-BE49-F238E27FC236}">
                <a16:creationId xmlns:a16="http://schemas.microsoft.com/office/drawing/2014/main" id="{D0C0FA94-653A-46E7-9EAC-4E34781224C5}"/>
              </a:ext>
            </a:extLst>
          </p:cNvPr>
          <p:cNvSpPr>
            <a:spLocks noGrp="1"/>
          </p:cNvSpPr>
          <p:nvPr/>
        </p:nvSpPr>
        <p:spPr>
          <a:xfrm>
            <a:off x="1602943" y="4692244"/>
            <a:ext cx="4118153" cy="694944"/>
          </a:xfrm>
          <a:prstGeom prst="rect">
            <a:avLst/>
          </a:prstGeom>
          <a:noFill/>
          <a:ln w="0">
            <a:noFill/>
          </a:ln>
        </p:spPr>
        <p:txBody>
          <a:bodyPr lIns="0" tIns="0" rIns="0" bIns="0" anchor="t"/>
          <a:lstStyle>
            <a:defPPr>
              <a:defRPr sz="1650" b="0">
                <a:solidFill>
                  <a:srgbClr val="1F2937"/>
                </a:solidFill>
                <a:latin typeface="Calibri"/>
                <a:ea typeface="Calibri"/>
                <a:cs typeface="Calibri"/>
              </a:defRPr>
            </a:defPPr>
          </a:lstStyle>
          <a:p>
            <a:pPr>
              <a:buNone/>
              <a:defRPr sz="1650" b="0">
                <a:solidFill>
                  <a:srgbClr val="1F2937"/>
                </a:solidFill>
                <a:latin typeface="Calibri"/>
                <a:ea typeface="Calibri"/>
                <a:cs typeface="Calibri"/>
              </a:defRPr>
            </a:pPr>
            <a:r>
              <a:rPr sz="1650" b="0">
                <a:solidFill>
                  <a:srgbClr val="1F2937"/>
                </a:solidFill>
                <a:latin typeface="Calibri"/>
                <a:ea typeface="Calibri"/>
                <a:cs typeface="Calibri"/>
              </a:rPr>
              <a:t>Basic required fields and DOB-based age calculation.</a:t>
            </a:r>
          </a:p>
        </p:txBody>
      </p:sp>
      <p:sp>
        <p:nvSpPr>
          <p:cNvPr id="9" name="Rectangle 8">
            <a:extLst>
              <a:ext uri="{FF2B5EF4-FFF2-40B4-BE49-F238E27FC236}">
                <a16:creationId xmlns:a16="http://schemas.microsoft.com/office/drawing/2014/main" id="{0542E25A-66F7-4159-A96F-F473877CAED3}"/>
              </a:ext>
            </a:extLst>
          </p:cNvPr>
          <p:cNvSpPr>
            <a:spLocks noGrp="1"/>
          </p:cNvSpPr>
          <p:nvPr/>
        </p:nvSpPr>
        <p:spPr>
          <a:xfrm>
            <a:off x="6384188" y="4341114"/>
            <a:ext cx="453695" cy="365760"/>
          </a:xfrm>
          <a:prstGeom prst="rect">
            <a:avLst/>
          </a:prstGeom>
          <a:noFill/>
          <a:ln w="0">
            <a:noFill/>
          </a:ln>
        </p:spPr>
        <p:txBody>
          <a:bodyPr lIns="0" tIns="0" rIns="0" bIns="0" anchor="t"/>
          <a:lstStyle>
            <a:defPPr>
              <a:defRPr sz="2178" b="1">
                <a:solidFill>
                  <a:srgbClr val="A32530"/>
                </a:solidFill>
                <a:latin typeface="Calibri"/>
                <a:ea typeface="Calibri"/>
                <a:cs typeface="Calibri"/>
              </a:defRPr>
            </a:defPPr>
          </a:lstStyle>
          <a:p>
            <a:pPr>
              <a:buNone/>
              <a:defRPr sz="2178" b="1">
                <a:solidFill>
                  <a:srgbClr val="A32530"/>
                </a:solidFill>
                <a:latin typeface="Calibri"/>
                <a:ea typeface="Calibri"/>
                <a:cs typeface="Calibri"/>
              </a:defRPr>
            </a:pPr>
            <a:r>
              <a:rPr sz="2178" b="1">
                <a:solidFill>
                  <a:srgbClr val="A32530"/>
                </a:solidFill>
                <a:latin typeface="Calibri"/>
                <a:ea typeface="Calibri"/>
                <a:cs typeface="Calibri"/>
              </a:rPr>
              <a:t>02</a:t>
            </a:r>
          </a:p>
        </p:txBody>
      </p:sp>
      <p:sp>
        <p:nvSpPr>
          <p:cNvPr id="10" name="Rectangle 9">
            <a:extLst>
              <a:ext uri="{FF2B5EF4-FFF2-40B4-BE49-F238E27FC236}">
                <a16:creationId xmlns:a16="http://schemas.microsoft.com/office/drawing/2014/main" id="{681B61AB-83D6-4D2A-AB39-CB69B73938D8}"/>
              </a:ext>
            </a:extLst>
          </p:cNvPr>
          <p:cNvSpPr>
            <a:spLocks noGrp="1"/>
          </p:cNvSpPr>
          <p:nvPr/>
        </p:nvSpPr>
        <p:spPr>
          <a:xfrm>
            <a:off x="6977482" y="4341114"/>
            <a:ext cx="4118153" cy="292608"/>
          </a:xfrm>
          <a:prstGeom prst="rect">
            <a:avLst/>
          </a:prstGeom>
          <a:noFill/>
          <a:ln w="0">
            <a:noFill/>
          </a:ln>
        </p:spPr>
        <p:txBody>
          <a:bodyPr lIns="0" tIns="0" rIns="0" bIns="0" anchor="t"/>
          <a:lstStyle>
            <a:defPPr>
              <a:defRPr sz="1848" b="1">
                <a:solidFill>
                  <a:srgbClr val="A32530"/>
                </a:solidFill>
                <a:latin typeface="Calibri"/>
                <a:ea typeface="Calibri"/>
                <a:cs typeface="Calibri"/>
              </a:defRPr>
            </a:defPPr>
          </a:lstStyle>
          <a:p>
            <a:pPr>
              <a:buNone/>
              <a:defRPr sz="1848" b="1">
                <a:solidFill>
                  <a:srgbClr val="A32530"/>
                </a:solidFill>
                <a:latin typeface="Calibri"/>
                <a:ea typeface="Calibri"/>
                <a:cs typeface="Calibri"/>
              </a:defRPr>
            </a:pPr>
            <a:r>
              <a:rPr sz="1848" b="1">
                <a:solidFill>
                  <a:srgbClr val="A32530"/>
                </a:solidFill>
                <a:latin typeface="Calibri"/>
                <a:ea typeface="Calibri"/>
                <a:cs typeface="Calibri"/>
              </a:rPr>
              <a:t>Continue the workflow</a:t>
            </a:r>
          </a:p>
        </p:txBody>
      </p:sp>
      <p:sp>
        <p:nvSpPr>
          <p:cNvPr id="11" name="Rectangle 10">
            <a:extLst>
              <a:ext uri="{FF2B5EF4-FFF2-40B4-BE49-F238E27FC236}">
                <a16:creationId xmlns:a16="http://schemas.microsoft.com/office/drawing/2014/main" id="{BF053A6C-365F-4EC9-BC00-D936C03EF797}"/>
              </a:ext>
            </a:extLst>
          </p:cNvPr>
          <p:cNvSpPr>
            <a:spLocks noGrp="1"/>
          </p:cNvSpPr>
          <p:nvPr/>
        </p:nvSpPr>
        <p:spPr>
          <a:xfrm>
            <a:off x="6977482" y="4692244"/>
            <a:ext cx="4118153" cy="694944"/>
          </a:xfrm>
          <a:prstGeom prst="rect">
            <a:avLst/>
          </a:prstGeom>
          <a:noFill/>
          <a:ln w="0">
            <a:noFill/>
          </a:ln>
        </p:spPr>
        <p:txBody>
          <a:bodyPr lIns="0" tIns="0" rIns="0" bIns="0" anchor="t"/>
          <a:lstStyle>
            <a:defPPr>
              <a:defRPr sz="1650" b="0">
                <a:solidFill>
                  <a:srgbClr val="1F2937"/>
                </a:solidFill>
                <a:latin typeface="Calibri"/>
                <a:ea typeface="Calibri"/>
                <a:cs typeface="Calibri"/>
              </a:defRPr>
            </a:defPPr>
          </a:lstStyle>
          <a:p>
            <a:pPr>
              <a:buNone/>
              <a:defRPr sz="1650" b="0">
                <a:solidFill>
                  <a:srgbClr val="1F2937"/>
                </a:solidFill>
                <a:latin typeface="Calibri"/>
                <a:ea typeface="Calibri"/>
                <a:cs typeface="Calibri"/>
              </a:defRPr>
            </a:pPr>
            <a:r>
              <a:rPr sz="1650" b="0">
                <a:solidFill>
                  <a:srgbClr val="1F2937"/>
                </a:solidFill>
                <a:latin typeface="Calibri"/>
                <a:ea typeface="Calibri"/>
                <a:cs typeface="Calibri"/>
              </a:rPr>
              <a:t>Open patient history or start a test for this patient.</a:t>
            </a:r>
          </a:p>
        </p:txBody>
      </p:sp>
    </p:spTree>
    <p:extLst>
      <p:ext uri="{BB962C8B-B14F-4D97-AF65-F5344CB8AC3E}">
        <p14:creationId xmlns:p14="http://schemas.microsoft.com/office/powerpoint/2010/main" val="7796510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0B4EB336-877B-436B-8C12-CDC4DEFF42EF}"/>
              </a:ext>
            </a:extLst>
          </p:cNvPr>
          <p:cNvPicPr>
            <a:picLocks noChangeAspect="1"/>
          </p:cNvPicPr>
          <p:nvPr/>
        </p:nvPicPr>
        <p:blipFill>
          <a:blip r:embed="rId3"/>
          <a:stretch/>
        </p:blipFill>
        <p:spPr>
          <a:xfrm>
            <a:off x="0" y="0"/>
            <a:ext cx="12192000" cy="6858000"/>
          </a:xfrm>
          <a:prstGeom prst="rect">
            <a:avLst/>
          </a:prstGeom>
        </p:spPr>
      </p:pic>
      <p:sp>
        <p:nvSpPr>
          <p:cNvPr id="9" name="Rectangle 8">
            <a:extLst>
              <a:ext uri="{FF2B5EF4-FFF2-40B4-BE49-F238E27FC236}">
                <a16:creationId xmlns:a16="http://schemas.microsoft.com/office/drawing/2014/main" id="{C3E74B4A-4D55-40A7-89E6-632FDAB8C1A2}"/>
              </a:ext>
            </a:extLst>
          </p:cNvPr>
          <p:cNvSpPr>
            <a:spLocks noGrp="1"/>
          </p:cNvSpPr>
          <p:nvPr/>
        </p:nvSpPr>
        <p:spPr>
          <a:xfrm>
            <a:off x="1009650" y="1190625"/>
            <a:ext cx="10287000" cy="638175"/>
          </a:xfrm>
          <a:prstGeom prst="rect">
            <a:avLst/>
          </a:prstGeom>
          <a:noFill/>
          <a:ln w="0">
            <a:noFill/>
          </a:ln>
        </p:spPr>
        <p:txBody>
          <a:bodyPr lIns="0" tIns="0" rIns="0" bIns="0" anchor="t"/>
          <a:lstStyle>
            <a:defPPr>
              <a:defRPr sz="3400" b="1">
                <a:solidFill>
                  <a:srgbClr val="A32530"/>
                </a:solidFill>
                <a:latin typeface="Cambria"/>
                <a:ea typeface="Cambria"/>
                <a:cs typeface="Cambria"/>
              </a:defRPr>
            </a:defPPr>
          </a:lstStyle>
          <a:p>
            <a:pPr>
              <a:buNone/>
              <a:defRPr sz="3400" b="1">
                <a:solidFill>
                  <a:srgbClr val="A32530"/>
                </a:solidFill>
                <a:latin typeface="Cambria"/>
                <a:ea typeface="Cambria"/>
                <a:cs typeface="Cambria"/>
              </a:defRPr>
            </a:pPr>
            <a:r>
              <a:rPr sz="3400" b="1">
                <a:solidFill>
                  <a:srgbClr val="A32530"/>
                </a:solidFill>
                <a:latin typeface="Cambria"/>
                <a:ea typeface="Cambria"/>
                <a:cs typeface="Cambria"/>
              </a:rPr>
              <a:t>Test setup and simulated processing</a:t>
            </a:r>
          </a:p>
        </p:txBody>
      </p:sp>
      <p:sp>
        <p:nvSpPr>
          <p:cNvPr id="2" name="Rectangle 1">
            <a:extLst>
              <a:ext uri="{FF2B5EF4-FFF2-40B4-BE49-F238E27FC236}">
                <a16:creationId xmlns:a16="http://schemas.microsoft.com/office/drawing/2014/main" id="{100976C2-BDEF-42D2-B5CB-5F0AA45831AB}"/>
              </a:ext>
            </a:extLst>
          </p:cNvPr>
          <p:cNvSpPr>
            <a:spLocks noGrp="1"/>
          </p:cNvSpPr>
          <p:nvPr/>
        </p:nvSpPr>
        <p:spPr>
          <a:xfrm>
            <a:off x="1009650" y="6086475"/>
            <a:ext cx="9048750" cy="209550"/>
          </a:xfrm>
          <a:prstGeom prst="rect">
            <a:avLst/>
          </a:prstGeom>
          <a:noFill/>
          <a:ln w="0">
            <a:noFill/>
          </a:ln>
        </p:spPr>
        <p:txBody>
          <a:bodyPr lIns="0" tIns="0" rIns="0" bIns="0" anchor="t"/>
          <a:lstStyle>
            <a:defPPr>
              <a:defRPr sz="1050" b="0">
                <a:solidFill>
                  <a:srgbClr val="64748B"/>
                </a:solidFill>
                <a:latin typeface="Calibri"/>
                <a:ea typeface="Calibri"/>
                <a:cs typeface="Calibri"/>
              </a:defRPr>
            </a:defPPr>
          </a:lstStyle>
          <a:p>
            <a:pPr>
              <a:buNone/>
              <a:defRPr sz="1050" b="0">
                <a:solidFill>
                  <a:srgbClr val="64748B"/>
                </a:solidFill>
                <a:latin typeface="Calibri"/>
                <a:ea typeface="Calibri"/>
                <a:cs typeface="Calibri"/>
              </a:defRPr>
            </a:pPr>
            <a:r>
              <a:rPr sz="1050" b="0" dirty="0" err="1">
                <a:solidFill>
                  <a:srgbClr val="64748B"/>
                </a:solidFill>
                <a:latin typeface="Calibri"/>
                <a:ea typeface="Calibri"/>
                <a:cs typeface="Calibri"/>
              </a:rPr>
              <a:t>UroScan</a:t>
            </a:r>
            <a:r>
              <a:rPr sz="1050" b="0" dirty="0">
                <a:solidFill>
                  <a:srgbClr val="64748B"/>
                </a:solidFill>
                <a:latin typeface="Calibri"/>
                <a:ea typeface="Calibri"/>
                <a:cs typeface="Calibri"/>
              </a:rPr>
              <a:t> AI  /  </a:t>
            </a:r>
            <a:r>
              <a:rPr lang="en-IN" sz="1050" b="0" dirty="0">
                <a:solidFill>
                  <a:srgbClr val="64748B"/>
                </a:solidFill>
                <a:latin typeface="Calibri"/>
                <a:ea typeface="Calibri"/>
                <a:cs typeface="Calibri"/>
              </a:rPr>
              <a:t>Healthcare Group 3</a:t>
            </a:r>
            <a:endParaRPr sz="1050" b="0" dirty="0">
              <a:solidFill>
                <a:srgbClr val="64748B"/>
              </a:solidFill>
              <a:latin typeface="Calibri"/>
              <a:ea typeface="Calibri"/>
              <a:cs typeface="Calibri"/>
            </a:endParaRPr>
          </a:p>
        </p:txBody>
      </p:sp>
      <p:sp>
        <p:nvSpPr>
          <p:cNvPr id="3" name="Rectangle 2">
            <a:extLst>
              <a:ext uri="{FF2B5EF4-FFF2-40B4-BE49-F238E27FC236}">
                <a16:creationId xmlns:a16="http://schemas.microsoft.com/office/drawing/2014/main" id="{FDEE1DFE-50DD-4C12-A09A-0D92E8F74FD1}"/>
              </a:ext>
            </a:extLst>
          </p:cNvPr>
          <p:cNvSpPr>
            <a:spLocks noGrp="1"/>
          </p:cNvSpPr>
          <p:nvPr/>
        </p:nvSpPr>
        <p:spPr>
          <a:xfrm>
            <a:off x="10810875" y="6086475"/>
            <a:ext cx="361950" cy="209550"/>
          </a:xfrm>
          <a:prstGeom prst="rect">
            <a:avLst/>
          </a:prstGeom>
          <a:noFill/>
          <a:ln w="0">
            <a:noFill/>
          </a:ln>
        </p:spPr>
        <p:txBody>
          <a:bodyPr lIns="0" tIns="0" rIns="0" bIns="0" anchor="t"/>
          <a:lstStyle>
            <a:defPPr>
              <a:defRPr sz="1200" b="1">
                <a:solidFill>
                  <a:srgbClr val="A32530"/>
                </a:solidFill>
                <a:latin typeface="Calibri"/>
                <a:ea typeface="Calibri"/>
                <a:cs typeface="Calibri"/>
              </a:defRPr>
            </a:defPPr>
          </a:lstStyle>
          <a:p>
            <a:pPr>
              <a:buNone/>
              <a:defRPr sz="1200" b="1">
                <a:solidFill>
                  <a:srgbClr val="A32530"/>
                </a:solidFill>
                <a:latin typeface="Calibri"/>
                <a:ea typeface="Calibri"/>
                <a:cs typeface="Calibri"/>
              </a:defRPr>
            </a:pPr>
            <a:r>
              <a:rPr sz="1200" b="1">
                <a:solidFill>
                  <a:srgbClr val="A32530"/>
                </a:solidFill>
                <a:latin typeface="Calibri"/>
                <a:ea typeface="Calibri"/>
                <a:cs typeface="Calibri"/>
              </a:rPr>
              <a:t>09</a:t>
            </a:r>
          </a:p>
        </p:txBody>
      </p:sp>
      <p:pic>
        <p:nvPicPr>
          <p:cNvPr id="4" name="Picture 3">
            <a:extLst>
              <a:ext uri="{FF2B5EF4-FFF2-40B4-BE49-F238E27FC236}">
                <a16:creationId xmlns:a16="http://schemas.microsoft.com/office/drawing/2014/main" id="{BC23F3A4-9898-4422-9CC5-FFFB5F936F83}"/>
              </a:ext>
            </a:extLst>
          </p:cNvPr>
          <p:cNvPicPr>
            <a:picLocks noChangeAspect="1"/>
          </p:cNvPicPr>
          <p:nvPr/>
        </p:nvPicPr>
        <p:blipFill>
          <a:blip r:embed="rId4"/>
          <a:stretch/>
        </p:blipFill>
        <p:spPr>
          <a:xfrm>
            <a:off x="1510094" y="2258989"/>
            <a:ext cx="5193792" cy="2115995"/>
          </a:xfrm>
          <a:prstGeom prst="rect">
            <a:avLst/>
          </a:prstGeom>
        </p:spPr>
      </p:pic>
      <p:pic>
        <p:nvPicPr>
          <p:cNvPr id="5" name="Picture 4">
            <a:extLst>
              <a:ext uri="{FF2B5EF4-FFF2-40B4-BE49-F238E27FC236}">
                <a16:creationId xmlns:a16="http://schemas.microsoft.com/office/drawing/2014/main" id="{DEB4B5ED-D820-4E62-95AC-A184C2A616FC}"/>
              </a:ext>
            </a:extLst>
          </p:cNvPr>
          <p:cNvPicPr>
            <a:picLocks noChangeAspect="1"/>
          </p:cNvPicPr>
          <p:nvPr/>
        </p:nvPicPr>
        <p:blipFill>
          <a:blip r:embed="rId5"/>
          <a:stretch/>
        </p:blipFill>
        <p:spPr>
          <a:xfrm>
            <a:off x="7910346" y="2109978"/>
            <a:ext cx="2793455" cy="3606394"/>
          </a:xfrm>
          <a:prstGeom prst="rect">
            <a:avLst/>
          </a:prstGeom>
        </p:spPr>
      </p:pic>
      <p:sp>
        <p:nvSpPr>
          <p:cNvPr id="6" name="Rectangle 5">
            <a:extLst>
              <a:ext uri="{FF2B5EF4-FFF2-40B4-BE49-F238E27FC236}">
                <a16:creationId xmlns:a16="http://schemas.microsoft.com/office/drawing/2014/main" id="{207476BE-96E6-48D8-BB9C-38E8CDFF48EF}"/>
              </a:ext>
            </a:extLst>
          </p:cNvPr>
          <p:cNvSpPr>
            <a:spLocks noGrp="1"/>
          </p:cNvSpPr>
          <p:nvPr/>
        </p:nvSpPr>
        <p:spPr>
          <a:xfrm>
            <a:off x="1009650" y="4502048"/>
            <a:ext cx="6194679" cy="219456"/>
          </a:xfrm>
          <a:prstGeom prst="rect">
            <a:avLst/>
          </a:prstGeom>
          <a:noFill/>
          <a:ln w="0">
            <a:noFill/>
          </a:ln>
        </p:spPr>
        <p:txBody>
          <a:bodyPr lIns="0" tIns="0" rIns="0" bIns="0" anchor="t"/>
          <a:lstStyle>
            <a:defPPr>
              <a:defRPr sz="1452" b="0">
                <a:solidFill>
                  <a:srgbClr val="64748B"/>
                </a:solidFill>
                <a:latin typeface="Calibri"/>
                <a:ea typeface="Calibri"/>
                <a:cs typeface="Calibri"/>
              </a:defRPr>
            </a:defPPr>
          </a:lstStyle>
          <a:p>
            <a:pPr>
              <a:buNone/>
              <a:defRPr sz="1452" b="0">
                <a:solidFill>
                  <a:srgbClr val="64748B"/>
                </a:solidFill>
                <a:latin typeface="Calibri"/>
                <a:ea typeface="Calibri"/>
                <a:cs typeface="Calibri"/>
              </a:defRPr>
            </a:pPr>
            <a:r>
              <a:rPr sz="1452" b="0">
                <a:solidFill>
                  <a:srgbClr val="64748B"/>
                </a:solidFill>
                <a:latin typeface="Calibri"/>
                <a:ea typeface="Calibri"/>
                <a:cs typeface="Calibri"/>
              </a:rPr>
              <a:t>Patient selection and test initiation</a:t>
            </a:r>
          </a:p>
        </p:txBody>
      </p:sp>
      <p:sp>
        <p:nvSpPr>
          <p:cNvPr id="7" name="Rectangle 6">
            <a:extLst>
              <a:ext uri="{FF2B5EF4-FFF2-40B4-BE49-F238E27FC236}">
                <a16:creationId xmlns:a16="http://schemas.microsoft.com/office/drawing/2014/main" id="{B525ABD4-3F4F-4CDE-99E6-A0CD04C5B31F}"/>
              </a:ext>
            </a:extLst>
          </p:cNvPr>
          <p:cNvSpPr>
            <a:spLocks noGrp="1"/>
          </p:cNvSpPr>
          <p:nvPr/>
        </p:nvSpPr>
        <p:spPr>
          <a:xfrm>
            <a:off x="1009650" y="4999482"/>
            <a:ext cx="6107430" cy="672998"/>
          </a:xfrm>
          <a:prstGeom prst="rect">
            <a:avLst/>
          </a:prstGeom>
          <a:noFill/>
          <a:ln w="0">
            <a:noFill/>
          </a:ln>
        </p:spPr>
        <p:txBody>
          <a:bodyPr lIns="0" tIns="0" rIns="0" bIns="0" anchor="t"/>
          <a:lstStyle>
            <a:defPPr>
              <a:defRPr sz="1848" b="1">
                <a:solidFill>
                  <a:srgbClr val="A32530"/>
                </a:solidFill>
                <a:latin typeface="Calibri"/>
                <a:ea typeface="Calibri"/>
                <a:cs typeface="Calibri"/>
              </a:defRPr>
            </a:defPPr>
          </a:lstStyle>
          <a:p>
            <a:pPr>
              <a:buNone/>
              <a:defRPr sz="1848" b="1">
                <a:solidFill>
                  <a:srgbClr val="A32530"/>
                </a:solidFill>
                <a:latin typeface="Calibri"/>
                <a:ea typeface="Calibri"/>
                <a:cs typeface="Calibri"/>
              </a:defRPr>
            </a:pPr>
            <a:r>
              <a:rPr sz="1848" b="1">
                <a:solidFill>
                  <a:srgbClr val="A32530"/>
                </a:solidFill>
                <a:latin typeface="Calibri"/>
                <a:ea typeface="Calibri"/>
                <a:cs typeface="Calibri"/>
              </a:rPr>
              <a:t>The interface simulates strip processing.</a:t>
            </a:r>
          </a:p>
          <a:p>
            <a:pPr>
              <a:buNone/>
              <a:defRPr sz="1848" b="1">
                <a:solidFill>
                  <a:srgbClr val="A32530"/>
                </a:solidFill>
                <a:latin typeface="Calibri"/>
                <a:ea typeface="Calibri"/>
                <a:cs typeface="Calibri"/>
              </a:defRPr>
            </a:pPr>
            <a:r>
              <a:rPr sz="1848" b="1">
                <a:solidFill>
                  <a:srgbClr val="A32530"/>
                </a:solidFill>
                <a:latin typeface="Calibri"/>
                <a:ea typeface="Calibri"/>
                <a:cs typeface="Calibri"/>
              </a:rPr>
              <a:t>It does not measure a physical sample.</a:t>
            </a:r>
          </a:p>
        </p:txBody>
      </p:sp>
      <p:sp>
        <p:nvSpPr>
          <p:cNvPr id="8" name="Rectangle 7">
            <a:extLst>
              <a:ext uri="{FF2B5EF4-FFF2-40B4-BE49-F238E27FC236}">
                <a16:creationId xmlns:a16="http://schemas.microsoft.com/office/drawing/2014/main" id="{6BC5A715-5B1F-41EA-B1B1-7D3264321D1A}"/>
              </a:ext>
            </a:extLst>
          </p:cNvPr>
          <p:cNvSpPr>
            <a:spLocks noGrp="1"/>
          </p:cNvSpPr>
          <p:nvPr/>
        </p:nvSpPr>
        <p:spPr>
          <a:xfrm>
            <a:off x="7640574" y="5745632"/>
            <a:ext cx="3332912" cy="182880"/>
          </a:xfrm>
          <a:prstGeom prst="rect">
            <a:avLst/>
          </a:prstGeom>
          <a:noFill/>
          <a:ln w="0">
            <a:noFill/>
          </a:ln>
        </p:spPr>
        <p:txBody>
          <a:bodyPr lIns="0" tIns="0" rIns="0" bIns="0" anchor="t"/>
          <a:lstStyle>
            <a:defPPr>
              <a:defRPr sz="1254" b="0">
                <a:solidFill>
                  <a:srgbClr val="64748B"/>
                </a:solidFill>
                <a:latin typeface="Calibri"/>
                <a:ea typeface="Calibri"/>
                <a:cs typeface="Calibri"/>
              </a:defRPr>
            </a:defPPr>
          </a:lstStyle>
          <a:p>
            <a:pPr>
              <a:buNone/>
              <a:defRPr sz="1254" b="0">
                <a:solidFill>
                  <a:srgbClr val="64748B"/>
                </a:solidFill>
                <a:latin typeface="Calibri"/>
                <a:ea typeface="Calibri"/>
                <a:cs typeface="Calibri"/>
              </a:defRPr>
            </a:pPr>
            <a:r>
              <a:rPr sz="1254" b="0">
                <a:solidFill>
                  <a:srgbClr val="64748B"/>
                </a:solidFill>
                <a:latin typeface="Calibri"/>
                <a:ea typeface="Calibri"/>
                <a:cs typeface="Calibri"/>
              </a:rPr>
              <a:t>Timed demonstration</a:t>
            </a:r>
          </a:p>
        </p:txBody>
      </p:sp>
    </p:spTree>
    <p:extLst>
      <p:ext uri="{BB962C8B-B14F-4D97-AF65-F5344CB8AC3E}">
        <p14:creationId xmlns:p14="http://schemas.microsoft.com/office/powerpoint/2010/main" val="5010312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3CC1917-CE3E-4860-AA36-C6F590A3DC1D}"/>
              </a:ext>
            </a:extLst>
          </p:cNvPr>
          <p:cNvPicPr>
            <a:picLocks noChangeAspect="1"/>
          </p:cNvPicPr>
          <p:nvPr/>
        </p:nvPicPr>
        <p:blipFill>
          <a:blip r:embed="rId3"/>
          <a:stretch/>
        </p:blipFill>
        <p:spPr>
          <a:xfrm>
            <a:off x="0" y="0"/>
            <a:ext cx="12192000" cy="6858000"/>
          </a:xfrm>
          <a:prstGeom prst="rect">
            <a:avLst/>
          </a:prstGeom>
        </p:spPr>
      </p:pic>
      <p:sp>
        <p:nvSpPr>
          <p:cNvPr id="6" name="Rectangle 5">
            <a:extLst>
              <a:ext uri="{FF2B5EF4-FFF2-40B4-BE49-F238E27FC236}">
                <a16:creationId xmlns:a16="http://schemas.microsoft.com/office/drawing/2014/main" id="{455A6E0F-A053-48BB-A96E-4CBA7B72AC26}"/>
              </a:ext>
            </a:extLst>
          </p:cNvPr>
          <p:cNvSpPr>
            <a:spLocks noGrp="1"/>
          </p:cNvSpPr>
          <p:nvPr/>
        </p:nvSpPr>
        <p:spPr>
          <a:xfrm>
            <a:off x="1009650" y="1190625"/>
            <a:ext cx="10287000" cy="638175"/>
          </a:xfrm>
          <a:prstGeom prst="rect">
            <a:avLst/>
          </a:prstGeom>
          <a:noFill/>
          <a:ln w="0">
            <a:noFill/>
          </a:ln>
        </p:spPr>
        <p:txBody>
          <a:bodyPr lIns="0" tIns="0" rIns="0" bIns="0" anchor="t"/>
          <a:lstStyle>
            <a:defPPr>
              <a:defRPr sz="3400" b="1">
                <a:solidFill>
                  <a:srgbClr val="A32530"/>
                </a:solidFill>
                <a:latin typeface="Cambria"/>
                <a:ea typeface="Cambria"/>
                <a:cs typeface="Cambria"/>
              </a:defRPr>
            </a:defPPr>
          </a:lstStyle>
          <a:p>
            <a:pPr>
              <a:buNone/>
              <a:defRPr sz="3400" b="1">
                <a:solidFill>
                  <a:srgbClr val="A32530"/>
                </a:solidFill>
                <a:latin typeface="Cambria"/>
                <a:ea typeface="Cambria"/>
                <a:cs typeface="Cambria"/>
              </a:defRPr>
            </a:pPr>
            <a:r>
              <a:rPr sz="3400" b="1">
                <a:solidFill>
                  <a:srgbClr val="A32530"/>
                </a:solidFill>
                <a:latin typeface="Cambria"/>
                <a:ea typeface="Cambria"/>
                <a:cs typeface="Cambria"/>
              </a:rPr>
              <a:t>Results and review interface</a:t>
            </a:r>
          </a:p>
        </p:txBody>
      </p:sp>
      <p:sp>
        <p:nvSpPr>
          <p:cNvPr id="2" name="Rectangle 1">
            <a:extLst>
              <a:ext uri="{FF2B5EF4-FFF2-40B4-BE49-F238E27FC236}">
                <a16:creationId xmlns:a16="http://schemas.microsoft.com/office/drawing/2014/main" id="{642CAC65-1E60-4876-B093-60676714B139}"/>
              </a:ext>
            </a:extLst>
          </p:cNvPr>
          <p:cNvSpPr>
            <a:spLocks noGrp="1"/>
          </p:cNvSpPr>
          <p:nvPr/>
        </p:nvSpPr>
        <p:spPr>
          <a:xfrm>
            <a:off x="1009650" y="6086475"/>
            <a:ext cx="9048750" cy="209550"/>
          </a:xfrm>
          <a:prstGeom prst="rect">
            <a:avLst/>
          </a:prstGeom>
          <a:noFill/>
          <a:ln w="0">
            <a:noFill/>
          </a:ln>
        </p:spPr>
        <p:txBody>
          <a:bodyPr lIns="0" tIns="0" rIns="0" bIns="0" anchor="t"/>
          <a:lstStyle>
            <a:defPPr>
              <a:defRPr sz="1050" b="0">
                <a:solidFill>
                  <a:srgbClr val="64748B"/>
                </a:solidFill>
                <a:latin typeface="Calibri"/>
                <a:ea typeface="Calibri"/>
                <a:cs typeface="Calibri"/>
              </a:defRPr>
            </a:defPPr>
          </a:lstStyle>
          <a:p>
            <a:pPr>
              <a:buNone/>
              <a:defRPr sz="1050" b="0">
                <a:solidFill>
                  <a:srgbClr val="64748B"/>
                </a:solidFill>
                <a:latin typeface="Calibri"/>
                <a:ea typeface="Calibri"/>
                <a:cs typeface="Calibri"/>
              </a:defRPr>
            </a:pPr>
            <a:r>
              <a:rPr sz="1050" b="0" dirty="0" err="1">
                <a:solidFill>
                  <a:srgbClr val="64748B"/>
                </a:solidFill>
                <a:latin typeface="Calibri"/>
                <a:ea typeface="Calibri"/>
                <a:cs typeface="Calibri"/>
              </a:rPr>
              <a:t>UroScan</a:t>
            </a:r>
            <a:r>
              <a:rPr sz="1050" b="0" dirty="0">
                <a:solidFill>
                  <a:srgbClr val="64748B"/>
                </a:solidFill>
                <a:latin typeface="Calibri"/>
                <a:ea typeface="Calibri"/>
                <a:cs typeface="Calibri"/>
              </a:rPr>
              <a:t> AI  /  </a:t>
            </a:r>
            <a:r>
              <a:rPr lang="en-IN" sz="1050" b="0" dirty="0">
                <a:solidFill>
                  <a:srgbClr val="64748B"/>
                </a:solidFill>
                <a:latin typeface="Calibri"/>
                <a:ea typeface="Calibri"/>
                <a:cs typeface="Calibri"/>
              </a:rPr>
              <a:t>Healthcare Group 3</a:t>
            </a:r>
            <a:endParaRPr sz="1050" b="0" dirty="0">
              <a:solidFill>
                <a:srgbClr val="64748B"/>
              </a:solidFill>
              <a:latin typeface="Calibri"/>
              <a:ea typeface="Calibri"/>
              <a:cs typeface="Calibri"/>
            </a:endParaRPr>
          </a:p>
        </p:txBody>
      </p:sp>
      <p:sp>
        <p:nvSpPr>
          <p:cNvPr id="3" name="Rectangle 2">
            <a:extLst>
              <a:ext uri="{FF2B5EF4-FFF2-40B4-BE49-F238E27FC236}">
                <a16:creationId xmlns:a16="http://schemas.microsoft.com/office/drawing/2014/main" id="{FBC860DF-721F-4C7E-8352-63EF03204D0A}"/>
              </a:ext>
            </a:extLst>
          </p:cNvPr>
          <p:cNvSpPr>
            <a:spLocks noGrp="1"/>
          </p:cNvSpPr>
          <p:nvPr/>
        </p:nvSpPr>
        <p:spPr>
          <a:xfrm>
            <a:off x="10810875" y="6086475"/>
            <a:ext cx="361950" cy="209550"/>
          </a:xfrm>
          <a:prstGeom prst="rect">
            <a:avLst/>
          </a:prstGeom>
          <a:noFill/>
          <a:ln w="0">
            <a:noFill/>
          </a:ln>
        </p:spPr>
        <p:txBody>
          <a:bodyPr lIns="0" tIns="0" rIns="0" bIns="0" anchor="t"/>
          <a:lstStyle>
            <a:defPPr>
              <a:defRPr sz="1200" b="1">
                <a:solidFill>
                  <a:srgbClr val="A32530"/>
                </a:solidFill>
                <a:latin typeface="Calibri"/>
                <a:ea typeface="Calibri"/>
                <a:cs typeface="Calibri"/>
              </a:defRPr>
            </a:defPPr>
          </a:lstStyle>
          <a:p>
            <a:pPr>
              <a:buNone/>
              <a:defRPr sz="1200" b="1">
                <a:solidFill>
                  <a:srgbClr val="A32530"/>
                </a:solidFill>
                <a:latin typeface="Calibri"/>
                <a:ea typeface="Calibri"/>
                <a:cs typeface="Calibri"/>
              </a:defRPr>
            </a:pPr>
            <a:r>
              <a:rPr sz="1200" b="1">
                <a:solidFill>
                  <a:srgbClr val="A32530"/>
                </a:solidFill>
                <a:latin typeface="Calibri"/>
                <a:ea typeface="Calibri"/>
                <a:cs typeface="Calibri"/>
              </a:rPr>
              <a:t>10</a:t>
            </a:r>
          </a:p>
        </p:txBody>
      </p:sp>
      <p:pic>
        <p:nvPicPr>
          <p:cNvPr id="4" name="Picture 3">
            <a:extLst>
              <a:ext uri="{FF2B5EF4-FFF2-40B4-BE49-F238E27FC236}">
                <a16:creationId xmlns:a16="http://schemas.microsoft.com/office/drawing/2014/main" id="{7C7B4187-195A-4C0C-9907-2FBC5FE75C63}"/>
              </a:ext>
            </a:extLst>
          </p:cNvPr>
          <p:cNvPicPr>
            <a:picLocks noChangeAspect="1"/>
          </p:cNvPicPr>
          <p:nvPr/>
        </p:nvPicPr>
        <p:blipFill>
          <a:blip r:embed="rId4"/>
          <a:stretch/>
        </p:blipFill>
        <p:spPr>
          <a:xfrm>
            <a:off x="2461723" y="1927098"/>
            <a:ext cx="7216737" cy="3474720"/>
          </a:xfrm>
          <a:prstGeom prst="rect">
            <a:avLst/>
          </a:prstGeom>
        </p:spPr>
      </p:pic>
      <p:sp>
        <p:nvSpPr>
          <p:cNvPr id="5" name="Rectangle 4">
            <a:extLst>
              <a:ext uri="{FF2B5EF4-FFF2-40B4-BE49-F238E27FC236}">
                <a16:creationId xmlns:a16="http://schemas.microsoft.com/office/drawing/2014/main" id="{912AA389-BABA-438B-92FA-BC504461D638}"/>
              </a:ext>
            </a:extLst>
          </p:cNvPr>
          <p:cNvSpPr>
            <a:spLocks noGrp="1"/>
          </p:cNvSpPr>
          <p:nvPr/>
        </p:nvSpPr>
        <p:spPr>
          <a:xfrm>
            <a:off x="1009650" y="5526176"/>
            <a:ext cx="10120884" cy="365760"/>
          </a:xfrm>
          <a:prstGeom prst="rect">
            <a:avLst/>
          </a:prstGeom>
          <a:noFill/>
          <a:ln w="0">
            <a:noFill/>
          </a:ln>
        </p:spPr>
        <p:txBody>
          <a:bodyPr lIns="0" tIns="0" rIns="0" bIns="0" anchor="t"/>
          <a:lstStyle>
            <a:defPPr>
              <a:defRPr sz="1650" b="1">
                <a:solidFill>
                  <a:srgbClr val="A32530"/>
                </a:solidFill>
                <a:latin typeface="Calibri"/>
                <a:ea typeface="Calibri"/>
                <a:cs typeface="Calibri"/>
              </a:defRPr>
            </a:defPPr>
          </a:lstStyle>
          <a:p>
            <a:pPr>
              <a:buNone/>
              <a:defRPr sz="1650" b="1">
                <a:solidFill>
                  <a:srgbClr val="A32530"/>
                </a:solidFill>
                <a:latin typeface="Calibri"/>
                <a:ea typeface="Calibri"/>
                <a:cs typeface="Calibri"/>
              </a:defRPr>
            </a:pPr>
            <a:r>
              <a:rPr sz="1650" b="1">
                <a:solidFill>
                  <a:srgbClr val="A32530"/>
                </a:solidFill>
                <a:latin typeface="Calibri"/>
                <a:ea typeface="Calibri"/>
                <a:cs typeface="Calibri"/>
              </a:rPr>
              <a:t>Preset result values and 94% confidence. Review options currently save as Approved.</a:t>
            </a:r>
          </a:p>
        </p:txBody>
      </p:sp>
    </p:spTree>
    <p:extLst>
      <p:ext uri="{BB962C8B-B14F-4D97-AF65-F5344CB8AC3E}">
        <p14:creationId xmlns:p14="http://schemas.microsoft.com/office/powerpoint/2010/main" val="21345982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3A039C2E-D78C-4191-9840-21CB1EA5B00F}"/>
              </a:ext>
            </a:extLst>
          </p:cNvPr>
          <p:cNvPicPr>
            <a:picLocks noChangeAspect="1"/>
          </p:cNvPicPr>
          <p:nvPr/>
        </p:nvPicPr>
        <p:blipFill>
          <a:blip r:embed="rId3"/>
          <a:stretch/>
        </p:blipFill>
        <p:spPr>
          <a:xfrm>
            <a:off x="0" y="0"/>
            <a:ext cx="12192000" cy="6858000"/>
          </a:xfrm>
          <a:prstGeom prst="rect">
            <a:avLst/>
          </a:prstGeom>
        </p:spPr>
      </p:pic>
      <p:sp>
        <p:nvSpPr>
          <p:cNvPr id="11" name="Rectangle 10">
            <a:extLst>
              <a:ext uri="{FF2B5EF4-FFF2-40B4-BE49-F238E27FC236}">
                <a16:creationId xmlns:a16="http://schemas.microsoft.com/office/drawing/2014/main" id="{E65708C0-F643-4E25-BCD0-8C537B21AEF9}"/>
              </a:ext>
            </a:extLst>
          </p:cNvPr>
          <p:cNvSpPr>
            <a:spLocks noGrp="1"/>
          </p:cNvSpPr>
          <p:nvPr/>
        </p:nvSpPr>
        <p:spPr>
          <a:xfrm>
            <a:off x="1009650" y="1190625"/>
            <a:ext cx="10287000" cy="638175"/>
          </a:xfrm>
          <a:prstGeom prst="rect">
            <a:avLst/>
          </a:prstGeom>
          <a:noFill/>
          <a:ln w="0">
            <a:noFill/>
          </a:ln>
        </p:spPr>
        <p:txBody>
          <a:bodyPr lIns="0" tIns="0" rIns="0" bIns="0" anchor="t"/>
          <a:lstStyle>
            <a:defPPr>
              <a:defRPr sz="3400" b="1">
                <a:solidFill>
                  <a:srgbClr val="A32530"/>
                </a:solidFill>
                <a:latin typeface="Cambria"/>
                <a:ea typeface="Cambria"/>
                <a:cs typeface="Cambria"/>
              </a:defRPr>
            </a:defPPr>
          </a:lstStyle>
          <a:p>
            <a:pPr>
              <a:buNone/>
              <a:defRPr sz="3400" b="1">
                <a:solidFill>
                  <a:srgbClr val="A32530"/>
                </a:solidFill>
                <a:latin typeface="Cambria"/>
                <a:ea typeface="Cambria"/>
                <a:cs typeface="Cambria"/>
              </a:defRPr>
            </a:pPr>
            <a:r>
              <a:rPr sz="3400" b="1">
                <a:solidFill>
                  <a:srgbClr val="A32530"/>
                </a:solidFill>
                <a:latin typeface="Cambria"/>
                <a:ea typeface="Cambria"/>
                <a:cs typeface="Cambria"/>
              </a:rPr>
              <a:t>Reports and local export</a:t>
            </a:r>
          </a:p>
        </p:txBody>
      </p:sp>
      <p:sp>
        <p:nvSpPr>
          <p:cNvPr id="2" name="Rectangle 1">
            <a:extLst>
              <a:ext uri="{FF2B5EF4-FFF2-40B4-BE49-F238E27FC236}">
                <a16:creationId xmlns:a16="http://schemas.microsoft.com/office/drawing/2014/main" id="{20219B19-527A-48A4-A01C-627B4C0BC855}"/>
              </a:ext>
            </a:extLst>
          </p:cNvPr>
          <p:cNvSpPr>
            <a:spLocks noGrp="1"/>
          </p:cNvSpPr>
          <p:nvPr/>
        </p:nvSpPr>
        <p:spPr>
          <a:xfrm>
            <a:off x="1009650" y="6086475"/>
            <a:ext cx="9048750" cy="209550"/>
          </a:xfrm>
          <a:prstGeom prst="rect">
            <a:avLst/>
          </a:prstGeom>
          <a:noFill/>
          <a:ln w="0">
            <a:noFill/>
          </a:ln>
        </p:spPr>
        <p:txBody>
          <a:bodyPr lIns="0" tIns="0" rIns="0" bIns="0" anchor="t"/>
          <a:lstStyle>
            <a:defPPr>
              <a:defRPr sz="1050" b="0">
                <a:solidFill>
                  <a:srgbClr val="64748B"/>
                </a:solidFill>
                <a:latin typeface="Calibri"/>
                <a:ea typeface="Calibri"/>
                <a:cs typeface="Calibri"/>
              </a:defRPr>
            </a:defPPr>
          </a:lstStyle>
          <a:p>
            <a:pPr>
              <a:buNone/>
              <a:defRPr sz="1050" b="0">
                <a:solidFill>
                  <a:srgbClr val="64748B"/>
                </a:solidFill>
                <a:latin typeface="Calibri"/>
                <a:ea typeface="Calibri"/>
                <a:cs typeface="Calibri"/>
              </a:defRPr>
            </a:pPr>
            <a:r>
              <a:rPr sz="1050" b="0" dirty="0" err="1">
                <a:solidFill>
                  <a:srgbClr val="64748B"/>
                </a:solidFill>
                <a:latin typeface="Calibri"/>
                <a:ea typeface="Calibri"/>
                <a:cs typeface="Calibri"/>
              </a:rPr>
              <a:t>UroScan</a:t>
            </a:r>
            <a:r>
              <a:rPr sz="1050" b="0" dirty="0">
                <a:solidFill>
                  <a:srgbClr val="64748B"/>
                </a:solidFill>
                <a:latin typeface="Calibri"/>
                <a:ea typeface="Calibri"/>
                <a:cs typeface="Calibri"/>
              </a:rPr>
              <a:t> AI  /  </a:t>
            </a:r>
            <a:r>
              <a:rPr lang="en-IN" sz="1050" b="0" dirty="0">
                <a:solidFill>
                  <a:srgbClr val="64748B"/>
                </a:solidFill>
                <a:latin typeface="Calibri"/>
                <a:ea typeface="Calibri"/>
                <a:cs typeface="Calibri"/>
              </a:rPr>
              <a:t>Healthcare Group 3</a:t>
            </a:r>
            <a:endParaRPr sz="1050" b="0" dirty="0">
              <a:solidFill>
                <a:srgbClr val="64748B"/>
              </a:solidFill>
              <a:latin typeface="Calibri"/>
              <a:ea typeface="Calibri"/>
              <a:cs typeface="Calibri"/>
            </a:endParaRPr>
          </a:p>
        </p:txBody>
      </p:sp>
      <p:sp>
        <p:nvSpPr>
          <p:cNvPr id="3" name="Rectangle 2">
            <a:extLst>
              <a:ext uri="{FF2B5EF4-FFF2-40B4-BE49-F238E27FC236}">
                <a16:creationId xmlns:a16="http://schemas.microsoft.com/office/drawing/2014/main" id="{9A5CE576-EE3D-4CA6-B9CF-E9D0FB36612A}"/>
              </a:ext>
            </a:extLst>
          </p:cNvPr>
          <p:cNvSpPr>
            <a:spLocks noGrp="1"/>
          </p:cNvSpPr>
          <p:nvPr/>
        </p:nvSpPr>
        <p:spPr>
          <a:xfrm>
            <a:off x="10810875" y="6086475"/>
            <a:ext cx="361950" cy="209550"/>
          </a:xfrm>
          <a:prstGeom prst="rect">
            <a:avLst/>
          </a:prstGeom>
          <a:noFill/>
          <a:ln w="0">
            <a:noFill/>
          </a:ln>
        </p:spPr>
        <p:txBody>
          <a:bodyPr lIns="0" tIns="0" rIns="0" bIns="0" anchor="t"/>
          <a:lstStyle>
            <a:defPPr>
              <a:defRPr sz="1200" b="1">
                <a:solidFill>
                  <a:srgbClr val="A32530"/>
                </a:solidFill>
                <a:latin typeface="Calibri"/>
                <a:ea typeface="Calibri"/>
                <a:cs typeface="Calibri"/>
              </a:defRPr>
            </a:defPPr>
          </a:lstStyle>
          <a:p>
            <a:pPr>
              <a:buNone/>
              <a:defRPr sz="1200" b="1">
                <a:solidFill>
                  <a:srgbClr val="A32530"/>
                </a:solidFill>
                <a:latin typeface="Calibri"/>
                <a:ea typeface="Calibri"/>
                <a:cs typeface="Calibri"/>
              </a:defRPr>
            </a:pPr>
            <a:r>
              <a:rPr sz="1200" b="1">
                <a:solidFill>
                  <a:srgbClr val="A32530"/>
                </a:solidFill>
                <a:latin typeface="Calibri"/>
                <a:ea typeface="Calibri"/>
                <a:cs typeface="Calibri"/>
              </a:rPr>
              <a:t>11</a:t>
            </a:r>
          </a:p>
        </p:txBody>
      </p:sp>
      <p:pic>
        <p:nvPicPr>
          <p:cNvPr id="4" name="Picture 3">
            <a:extLst>
              <a:ext uri="{FF2B5EF4-FFF2-40B4-BE49-F238E27FC236}">
                <a16:creationId xmlns:a16="http://schemas.microsoft.com/office/drawing/2014/main" id="{7B139CA4-C99F-46F5-91D4-C8B290F52519}"/>
              </a:ext>
            </a:extLst>
          </p:cNvPr>
          <p:cNvPicPr>
            <a:picLocks noChangeAspect="1"/>
          </p:cNvPicPr>
          <p:nvPr/>
        </p:nvPicPr>
        <p:blipFill>
          <a:blip r:embed="rId4"/>
          <a:stretch/>
        </p:blipFill>
        <p:spPr>
          <a:xfrm>
            <a:off x="1595926" y="2073402"/>
            <a:ext cx="6069202" cy="2918765"/>
          </a:xfrm>
          <a:prstGeom prst="rect">
            <a:avLst/>
          </a:prstGeom>
        </p:spPr>
      </p:pic>
      <p:sp>
        <p:nvSpPr>
          <p:cNvPr id="5" name="Rectangle 4">
            <a:extLst>
              <a:ext uri="{FF2B5EF4-FFF2-40B4-BE49-F238E27FC236}">
                <a16:creationId xmlns:a16="http://schemas.microsoft.com/office/drawing/2014/main" id="{CA89183F-657C-44E4-A3A8-EE5D4262F97D}"/>
              </a:ext>
            </a:extLst>
          </p:cNvPr>
          <p:cNvSpPr>
            <a:spLocks noGrp="1"/>
          </p:cNvSpPr>
          <p:nvPr/>
        </p:nvSpPr>
        <p:spPr>
          <a:xfrm>
            <a:off x="1009650" y="5109210"/>
            <a:ext cx="7285292" cy="277978"/>
          </a:xfrm>
          <a:prstGeom prst="rect">
            <a:avLst/>
          </a:prstGeom>
          <a:noFill/>
          <a:ln w="0">
            <a:noFill/>
          </a:ln>
        </p:spPr>
        <p:txBody>
          <a:bodyPr lIns="0" tIns="0" rIns="0" bIns="0" anchor="t"/>
          <a:lstStyle>
            <a:defPPr>
              <a:defRPr sz="1386" b="0">
                <a:solidFill>
                  <a:srgbClr val="64748B"/>
                </a:solidFill>
                <a:latin typeface="Calibri"/>
                <a:ea typeface="Calibri"/>
                <a:cs typeface="Calibri"/>
              </a:defRPr>
            </a:defPPr>
          </a:lstStyle>
          <a:p>
            <a:pPr>
              <a:buNone/>
              <a:defRPr sz="1386" b="0">
                <a:solidFill>
                  <a:srgbClr val="64748B"/>
                </a:solidFill>
                <a:latin typeface="Calibri"/>
                <a:ea typeface="Calibri"/>
                <a:cs typeface="Calibri"/>
              </a:defRPr>
            </a:pPr>
            <a:r>
              <a:rPr sz="1386" b="0">
                <a:solidFill>
                  <a:srgbClr val="64748B"/>
                </a:solidFill>
                <a:latin typeface="Calibri"/>
                <a:ea typeface="Calibri"/>
                <a:cs typeface="Calibri"/>
              </a:rPr>
              <a:t>Actual report extract using a synthetic patient</a:t>
            </a:r>
          </a:p>
        </p:txBody>
      </p:sp>
      <p:sp>
        <p:nvSpPr>
          <p:cNvPr id="6" name="Rectangle 5">
            <a:extLst>
              <a:ext uri="{FF2B5EF4-FFF2-40B4-BE49-F238E27FC236}">
                <a16:creationId xmlns:a16="http://schemas.microsoft.com/office/drawing/2014/main" id="{25B68281-D4B5-461D-A82B-8E838DC85B9B}"/>
              </a:ext>
            </a:extLst>
          </p:cNvPr>
          <p:cNvSpPr>
            <a:spLocks noGrp="1"/>
          </p:cNvSpPr>
          <p:nvPr/>
        </p:nvSpPr>
        <p:spPr>
          <a:xfrm>
            <a:off x="8600313" y="2139239"/>
            <a:ext cx="2530221" cy="277978"/>
          </a:xfrm>
          <a:prstGeom prst="rect">
            <a:avLst/>
          </a:prstGeom>
          <a:noFill/>
          <a:ln w="0">
            <a:noFill/>
          </a:ln>
        </p:spPr>
        <p:txBody>
          <a:bodyPr lIns="0" tIns="0" rIns="0" bIns="0" anchor="t"/>
          <a:lstStyle>
            <a:defPPr>
              <a:defRPr sz="1848" b="1">
                <a:solidFill>
                  <a:srgbClr val="A32530"/>
                </a:solidFill>
                <a:latin typeface="Calibri"/>
                <a:ea typeface="Calibri"/>
                <a:cs typeface="Calibri"/>
              </a:defRPr>
            </a:defPPr>
          </a:lstStyle>
          <a:p>
            <a:pPr>
              <a:buNone/>
              <a:defRPr sz="1848" b="1">
                <a:solidFill>
                  <a:srgbClr val="A32530"/>
                </a:solidFill>
                <a:latin typeface="Calibri"/>
                <a:ea typeface="Calibri"/>
                <a:cs typeface="Calibri"/>
              </a:defRPr>
            </a:pPr>
            <a:r>
              <a:rPr sz="1848" b="1">
                <a:solidFill>
                  <a:srgbClr val="A32530"/>
                </a:solidFill>
                <a:latin typeface="Calibri"/>
                <a:ea typeface="Calibri"/>
                <a:cs typeface="Calibri"/>
              </a:rPr>
              <a:t>Linked archive</a:t>
            </a:r>
          </a:p>
        </p:txBody>
      </p:sp>
      <p:sp>
        <p:nvSpPr>
          <p:cNvPr id="7" name="Rectangle 6">
            <a:extLst>
              <a:ext uri="{FF2B5EF4-FFF2-40B4-BE49-F238E27FC236}">
                <a16:creationId xmlns:a16="http://schemas.microsoft.com/office/drawing/2014/main" id="{3B7DFC75-ABB1-47F5-A7C6-F9B75D7B34A2}"/>
              </a:ext>
            </a:extLst>
          </p:cNvPr>
          <p:cNvSpPr>
            <a:spLocks noGrp="1"/>
          </p:cNvSpPr>
          <p:nvPr/>
        </p:nvSpPr>
        <p:spPr>
          <a:xfrm>
            <a:off x="8600313" y="2490368"/>
            <a:ext cx="2530221" cy="1097280"/>
          </a:xfrm>
          <a:prstGeom prst="rect">
            <a:avLst/>
          </a:prstGeom>
          <a:noFill/>
          <a:ln w="0">
            <a:noFill/>
          </a:ln>
        </p:spPr>
        <p:txBody>
          <a:bodyPr lIns="0" tIns="0" rIns="0" bIns="0" anchor="t"/>
          <a:lstStyle>
            <a:defPPr>
              <a:defRPr sz="1716" b="0">
                <a:solidFill>
                  <a:srgbClr val="1F2937"/>
                </a:solidFill>
                <a:latin typeface="Calibri"/>
                <a:ea typeface="Calibri"/>
                <a:cs typeface="Calibri"/>
              </a:defRPr>
            </a:defPPr>
          </a:lstStyle>
          <a:p>
            <a:pPr>
              <a:buNone/>
              <a:defRPr sz="1716" b="0">
                <a:solidFill>
                  <a:srgbClr val="1F2937"/>
                </a:solidFill>
                <a:latin typeface="Calibri"/>
                <a:ea typeface="Calibri"/>
                <a:cs typeface="Calibri"/>
              </a:defRPr>
            </a:pPr>
            <a:r>
              <a:rPr sz="1716" b="0">
                <a:solidFill>
                  <a:srgbClr val="1F2937"/>
                </a:solidFill>
                <a:latin typeface="Calibri"/>
                <a:ea typeface="Calibri"/>
                <a:cs typeface="Calibri"/>
              </a:rPr>
              <a:t>Patient, test and report identifiers connect the records.</a:t>
            </a:r>
          </a:p>
        </p:txBody>
      </p:sp>
      <p:sp>
        <p:nvSpPr>
          <p:cNvPr id="8" name="Rectangle 7">
            <a:extLst>
              <a:ext uri="{FF2B5EF4-FFF2-40B4-BE49-F238E27FC236}">
                <a16:creationId xmlns:a16="http://schemas.microsoft.com/office/drawing/2014/main" id="{CC9D2D17-1A64-481E-A698-1C893DD164EE}"/>
              </a:ext>
            </a:extLst>
          </p:cNvPr>
          <p:cNvSpPr>
            <a:spLocks noGrp="1"/>
          </p:cNvSpPr>
          <p:nvPr/>
        </p:nvSpPr>
        <p:spPr>
          <a:xfrm>
            <a:off x="8600313" y="3609594"/>
            <a:ext cx="2530221" cy="277978"/>
          </a:xfrm>
          <a:prstGeom prst="rect">
            <a:avLst/>
          </a:prstGeom>
          <a:noFill/>
          <a:ln w="0">
            <a:noFill/>
          </a:ln>
        </p:spPr>
        <p:txBody>
          <a:bodyPr lIns="0" tIns="0" rIns="0" bIns="0" anchor="t"/>
          <a:lstStyle>
            <a:defPPr>
              <a:defRPr sz="1848" b="1">
                <a:solidFill>
                  <a:srgbClr val="A32530"/>
                </a:solidFill>
                <a:latin typeface="Calibri"/>
                <a:ea typeface="Calibri"/>
                <a:cs typeface="Calibri"/>
              </a:defRPr>
            </a:defPPr>
          </a:lstStyle>
          <a:p>
            <a:pPr>
              <a:buNone/>
              <a:defRPr sz="1848" b="1">
                <a:solidFill>
                  <a:srgbClr val="A32530"/>
                </a:solidFill>
                <a:latin typeface="Calibri"/>
                <a:ea typeface="Calibri"/>
                <a:cs typeface="Calibri"/>
              </a:defRPr>
            </a:pPr>
            <a:r>
              <a:rPr sz="1848" b="1">
                <a:solidFill>
                  <a:srgbClr val="A32530"/>
                </a:solidFill>
                <a:latin typeface="Calibri"/>
                <a:ea typeface="Calibri"/>
                <a:cs typeface="Calibri"/>
              </a:rPr>
              <a:t>Output formats</a:t>
            </a:r>
          </a:p>
        </p:txBody>
      </p:sp>
      <p:sp>
        <p:nvSpPr>
          <p:cNvPr id="9" name="Rectangle 8">
            <a:extLst>
              <a:ext uri="{FF2B5EF4-FFF2-40B4-BE49-F238E27FC236}">
                <a16:creationId xmlns:a16="http://schemas.microsoft.com/office/drawing/2014/main" id="{D533E2A1-5E9E-4D4D-8078-3F5137A1F74D}"/>
              </a:ext>
            </a:extLst>
          </p:cNvPr>
          <p:cNvSpPr>
            <a:spLocks noGrp="1"/>
          </p:cNvSpPr>
          <p:nvPr/>
        </p:nvSpPr>
        <p:spPr>
          <a:xfrm>
            <a:off x="8600313" y="3960724"/>
            <a:ext cx="2530221" cy="1097280"/>
          </a:xfrm>
          <a:prstGeom prst="rect">
            <a:avLst/>
          </a:prstGeom>
          <a:noFill/>
          <a:ln w="0">
            <a:noFill/>
          </a:ln>
        </p:spPr>
        <p:txBody>
          <a:bodyPr lIns="0" tIns="0" rIns="0" bIns="0" anchor="t"/>
          <a:lstStyle>
            <a:defPPr>
              <a:defRPr sz="1716" b="0">
                <a:solidFill>
                  <a:srgbClr val="1F2937"/>
                </a:solidFill>
                <a:latin typeface="Calibri"/>
                <a:ea typeface="Calibri"/>
                <a:cs typeface="Calibri"/>
              </a:defRPr>
            </a:defPPr>
          </a:lstStyle>
          <a:p>
            <a:pPr>
              <a:buNone/>
              <a:defRPr sz="1716" b="0">
                <a:solidFill>
                  <a:srgbClr val="1F2937"/>
                </a:solidFill>
                <a:latin typeface="Calibri"/>
                <a:ea typeface="Calibri"/>
                <a:cs typeface="Calibri"/>
              </a:defRPr>
            </a:pPr>
            <a:r>
              <a:rPr sz="1716" b="0">
                <a:solidFill>
                  <a:srgbClr val="1F2937"/>
                </a:solidFill>
                <a:latin typeface="Calibri"/>
                <a:ea typeface="Calibri"/>
                <a:cs typeface="Calibri"/>
              </a:rPr>
              <a:t>HTML file download and the browser print dialog.</a:t>
            </a:r>
          </a:p>
        </p:txBody>
      </p:sp>
      <p:sp>
        <p:nvSpPr>
          <p:cNvPr id="10" name="Rectangle 9">
            <a:extLst>
              <a:ext uri="{FF2B5EF4-FFF2-40B4-BE49-F238E27FC236}">
                <a16:creationId xmlns:a16="http://schemas.microsoft.com/office/drawing/2014/main" id="{7CE4EB0E-4A48-490E-8BCB-9F1B68E2160A}"/>
              </a:ext>
            </a:extLst>
          </p:cNvPr>
          <p:cNvSpPr>
            <a:spLocks noGrp="1"/>
          </p:cNvSpPr>
          <p:nvPr/>
        </p:nvSpPr>
        <p:spPr>
          <a:xfrm>
            <a:off x="1009650" y="5533492"/>
            <a:ext cx="10033635" cy="329184"/>
          </a:xfrm>
          <a:prstGeom prst="rect">
            <a:avLst/>
          </a:prstGeom>
          <a:noFill/>
          <a:ln w="0">
            <a:noFill/>
          </a:ln>
        </p:spPr>
        <p:txBody>
          <a:bodyPr lIns="0" tIns="0" rIns="0" bIns="0" anchor="t"/>
          <a:lstStyle>
            <a:defPPr>
              <a:defRPr sz="1584" b="1">
                <a:solidFill>
                  <a:srgbClr val="A32530"/>
                </a:solidFill>
                <a:latin typeface="Calibri"/>
                <a:ea typeface="Calibri"/>
                <a:cs typeface="Calibri"/>
              </a:defRPr>
            </a:defPPr>
          </a:lstStyle>
          <a:p>
            <a:pPr>
              <a:buNone/>
              <a:defRPr sz="1584" b="1">
                <a:solidFill>
                  <a:srgbClr val="A32530"/>
                </a:solidFill>
                <a:latin typeface="Calibri"/>
                <a:ea typeface="Calibri"/>
                <a:cs typeface="Calibri"/>
              </a:defRPr>
            </a:pPr>
            <a:r>
              <a:rPr sz="1584" b="1" dirty="0">
                <a:solidFill>
                  <a:srgbClr val="A32530"/>
                </a:solidFill>
                <a:latin typeface="Calibri"/>
                <a:ea typeface="Calibri"/>
                <a:cs typeface="Calibri"/>
              </a:rPr>
              <a:t>The exported report identifies the system as an </a:t>
            </a:r>
            <a:r>
              <a:rPr lang="en-IN" sz="1584" b="1" dirty="0">
                <a:solidFill>
                  <a:srgbClr val="A32530"/>
                </a:solidFill>
                <a:latin typeface="Calibri"/>
                <a:ea typeface="Calibri"/>
                <a:cs typeface="Calibri"/>
              </a:rPr>
              <a:t>Academic prototype</a:t>
            </a:r>
            <a:r>
              <a:rPr sz="1584" b="1" dirty="0">
                <a:solidFill>
                  <a:srgbClr val="A32530"/>
                </a:solidFill>
                <a:latin typeface="Calibri"/>
                <a:ea typeface="Calibri"/>
                <a:cs typeface="Calibri"/>
              </a:rPr>
              <a:t> using simulated data.</a:t>
            </a:r>
          </a:p>
        </p:txBody>
      </p:sp>
    </p:spTree>
    <p:extLst>
      <p:ext uri="{BB962C8B-B14F-4D97-AF65-F5344CB8AC3E}">
        <p14:creationId xmlns:p14="http://schemas.microsoft.com/office/powerpoint/2010/main" val="17644124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440F435C-38BC-40F2-8B3C-1518CC0818D6}"/>
              </a:ext>
            </a:extLst>
          </p:cNvPr>
          <p:cNvPicPr>
            <a:picLocks noChangeAspect="1"/>
          </p:cNvPicPr>
          <p:nvPr/>
        </p:nvPicPr>
        <p:blipFill>
          <a:blip r:embed="rId3"/>
          <a:stretch/>
        </p:blipFill>
        <p:spPr>
          <a:xfrm>
            <a:off x="0" y="0"/>
            <a:ext cx="12192000" cy="6858000"/>
          </a:xfrm>
          <a:prstGeom prst="rect">
            <a:avLst/>
          </a:prstGeom>
        </p:spPr>
      </p:pic>
      <p:sp>
        <p:nvSpPr>
          <p:cNvPr id="10" name="Rectangle 9">
            <a:extLst>
              <a:ext uri="{FF2B5EF4-FFF2-40B4-BE49-F238E27FC236}">
                <a16:creationId xmlns:a16="http://schemas.microsoft.com/office/drawing/2014/main" id="{62A2AD09-387B-4F53-BE86-6FC777EA77BB}"/>
              </a:ext>
            </a:extLst>
          </p:cNvPr>
          <p:cNvSpPr>
            <a:spLocks noGrp="1"/>
          </p:cNvSpPr>
          <p:nvPr/>
        </p:nvSpPr>
        <p:spPr>
          <a:xfrm>
            <a:off x="1009650" y="1190625"/>
            <a:ext cx="10287000" cy="638175"/>
          </a:xfrm>
          <a:prstGeom prst="rect">
            <a:avLst/>
          </a:prstGeom>
          <a:noFill/>
          <a:ln w="0">
            <a:noFill/>
          </a:ln>
        </p:spPr>
        <p:txBody>
          <a:bodyPr lIns="0" tIns="0" rIns="0" bIns="0" anchor="t"/>
          <a:lstStyle>
            <a:defPPr>
              <a:defRPr sz="3400" b="1">
                <a:solidFill>
                  <a:srgbClr val="A32530"/>
                </a:solidFill>
                <a:latin typeface="Cambria"/>
                <a:ea typeface="Cambria"/>
                <a:cs typeface="Cambria"/>
              </a:defRPr>
            </a:defPPr>
          </a:lstStyle>
          <a:p>
            <a:pPr>
              <a:buNone/>
              <a:defRPr sz="3400" b="1">
                <a:solidFill>
                  <a:srgbClr val="A32530"/>
                </a:solidFill>
                <a:latin typeface="Cambria"/>
                <a:ea typeface="Cambria"/>
                <a:cs typeface="Cambria"/>
              </a:defRPr>
            </a:pPr>
            <a:r>
              <a:rPr sz="3400" b="1">
                <a:solidFill>
                  <a:srgbClr val="A32530"/>
                </a:solidFill>
                <a:latin typeface="Cambria"/>
                <a:ea typeface="Cambria"/>
                <a:cs typeface="Cambria"/>
              </a:rPr>
              <a:t>Analytics and device demonstration</a:t>
            </a:r>
          </a:p>
        </p:txBody>
      </p:sp>
      <p:sp>
        <p:nvSpPr>
          <p:cNvPr id="2" name="Rectangle 1">
            <a:extLst>
              <a:ext uri="{FF2B5EF4-FFF2-40B4-BE49-F238E27FC236}">
                <a16:creationId xmlns:a16="http://schemas.microsoft.com/office/drawing/2014/main" id="{FD1D29F7-A43C-46E8-93F9-B9138498900D}"/>
              </a:ext>
            </a:extLst>
          </p:cNvPr>
          <p:cNvSpPr>
            <a:spLocks noGrp="1"/>
          </p:cNvSpPr>
          <p:nvPr/>
        </p:nvSpPr>
        <p:spPr>
          <a:xfrm>
            <a:off x="1009650" y="6086475"/>
            <a:ext cx="9048750" cy="209550"/>
          </a:xfrm>
          <a:prstGeom prst="rect">
            <a:avLst/>
          </a:prstGeom>
          <a:noFill/>
          <a:ln w="0">
            <a:noFill/>
          </a:ln>
        </p:spPr>
        <p:txBody>
          <a:bodyPr lIns="0" tIns="0" rIns="0" bIns="0" anchor="t"/>
          <a:lstStyle>
            <a:defPPr>
              <a:defRPr sz="1050" b="0">
                <a:solidFill>
                  <a:srgbClr val="64748B"/>
                </a:solidFill>
                <a:latin typeface="Calibri"/>
                <a:ea typeface="Calibri"/>
                <a:cs typeface="Calibri"/>
              </a:defRPr>
            </a:defPPr>
          </a:lstStyle>
          <a:p>
            <a:pPr>
              <a:buNone/>
              <a:defRPr sz="1050" b="0">
                <a:solidFill>
                  <a:srgbClr val="64748B"/>
                </a:solidFill>
                <a:latin typeface="Calibri"/>
                <a:ea typeface="Calibri"/>
                <a:cs typeface="Calibri"/>
              </a:defRPr>
            </a:pPr>
            <a:r>
              <a:rPr sz="1050" b="0" dirty="0" err="1">
                <a:solidFill>
                  <a:srgbClr val="64748B"/>
                </a:solidFill>
                <a:latin typeface="Calibri"/>
                <a:ea typeface="Calibri"/>
                <a:cs typeface="Calibri"/>
              </a:rPr>
              <a:t>UroScan</a:t>
            </a:r>
            <a:r>
              <a:rPr sz="1050" b="0" dirty="0">
                <a:solidFill>
                  <a:srgbClr val="64748B"/>
                </a:solidFill>
                <a:latin typeface="Calibri"/>
                <a:ea typeface="Calibri"/>
                <a:cs typeface="Calibri"/>
              </a:rPr>
              <a:t> AI  /  </a:t>
            </a:r>
            <a:r>
              <a:rPr lang="en-IN" sz="1050" b="0" dirty="0">
                <a:solidFill>
                  <a:srgbClr val="64748B"/>
                </a:solidFill>
                <a:latin typeface="Calibri"/>
                <a:ea typeface="Calibri"/>
                <a:cs typeface="Calibri"/>
              </a:rPr>
              <a:t>Healthcare Group 3</a:t>
            </a:r>
            <a:endParaRPr sz="1050" b="0" dirty="0">
              <a:solidFill>
                <a:srgbClr val="64748B"/>
              </a:solidFill>
              <a:latin typeface="Calibri"/>
              <a:ea typeface="Calibri"/>
              <a:cs typeface="Calibri"/>
            </a:endParaRPr>
          </a:p>
        </p:txBody>
      </p:sp>
      <p:sp>
        <p:nvSpPr>
          <p:cNvPr id="3" name="Rectangle 2">
            <a:extLst>
              <a:ext uri="{FF2B5EF4-FFF2-40B4-BE49-F238E27FC236}">
                <a16:creationId xmlns:a16="http://schemas.microsoft.com/office/drawing/2014/main" id="{63D9F4B3-C767-476F-90EF-A72924FCCA75}"/>
              </a:ext>
            </a:extLst>
          </p:cNvPr>
          <p:cNvSpPr>
            <a:spLocks noGrp="1"/>
          </p:cNvSpPr>
          <p:nvPr/>
        </p:nvSpPr>
        <p:spPr>
          <a:xfrm>
            <a:off x="10810875" y="6086475"/>
            <a:ext cx="361950" cy="209550"/>
          </a:xfrm>
          <a:prstGeom prst="rect">
            <a:avLst/>
          </a:prstGeom>
          <a:noFill/>
          <a:ln w="0">
            <a:noFill/>
          </a:ln>
        </p:spPr>
        <p:txBody>
          <a:bodyPr lIns="0" tIns="0" rIns="0" bIns="0" anchor="t"/>
          <a:lstStyle>
            <a:defPPr>
              <a:defRPr sz="1200" b="1">
                <a:solidFill>
                  <a:srgbClr val="A32530"/>
                </a:solidFill>
                <a:latin typeface="Calibri"/>
                <a:ea typeface="Calibri"/>
                <a:cs typeface="Calibri"/>
              </a:defRPr>
            </a:defPPr>
          </a:lstStyle>
          <a:p>
            <a:pPr>
              <a:buNone/>
              <a:defRPr sz="1200" b="1">
                <a:solidFill>
                  <a:srgbClr val="A32530"/>
                </a:solidFill>
                <a:latin typeface="Calibri"/>
                <a:ea typeface="Calibri"/>
                <a:cs typeface="Calibri"/>
              </a:defRPr>
            </a:pPr>
            <a:r>
              <a:rPr sz="1200" b="1">
                <a:solidFill>
                  <a:srgbClr val="A32530"/>
                </a:solidFill>
                <a:latin typeface="Calibri"/>
                <a:ea typeface="Calibri"/>
                <a:cs typeface="Calibri"/>
              </a:rPr>
              <a:t>12</a:t>
            </a:r>
          </a:p>
        </p:txBody>
      </p:sp>
      <p:pic>
        <p:nvPicPr>
          <p:cNvPr id="4" name="Picture 3">
            <a:extLst>
              <a:ext uri="{FF2B5EF4-FFF2-40B4-BE49-F238E27FC236}">
                <a16:creationId xmlns:a16="http://schemas.microsoft.com/office/drawing/2014/main" id="{5B176EC7-08DE-4953-8262-2611F7AF592F}"/>
              </a:ext>
            </a:extLst>
          </p:cNvPr>
          <p:cNvPicPr>
            <a:picLocks noChangeAspect="1"/>
          </p:cNvPicPr>
          <p:nvPr/>
        </p:nvPicPr>
        <p:blipFill>
          <a:blip r:embed="rId4"/>
          <a:stretch/>
        </p:blipFill>
        <p:spPr>
          <a:xfrm>
            <a:off x="1831373" y="2000250"/>
            <a:ext cx="8477439" cy="2794406"/>
          </a:xfrm>
          <a:prstGeom prst="rect">
            <a:avLst/>
          </a:prstGeom>
        </p:spPr>
      </p:pic>
      <p:sp>
        <p:nvSpPr>
          <p:cNvPr id="5" name="Rectangle 4">
            <a:extLst>
              <a:ext uri="{FF2B5EF4-FFF2-40B4-BE49-F238E27FC236}">
                <a16:creationId xmlns:a16="http://schemas.microsoft.com/office/drawing/2014/main" id="{79269638-6E69-42C9-8CB8-61B9B82CF813}"/>
              </a:ext>
            </a:extLst>
          </p:cNvPr>
          <p:cNvSpPr>
            <a:spLocks noGrp="1"/>
          </p:cNvSpPr>
          <p:nvPr/>
        </p:nvSpPr>
        <p:spPr>
          <a:xfrm>
            <a:off x="1009650" y="4875124"/>
            <a:ext cx="10120884" cy="234086"/>
          </a:xfrm>
          <a:prstGeom prst="rect">
            <a:avLst/>
          </a:prstGeom>
          <a:noFill/>
          <a:ln w="0">
            <a:noFill/>
          </a:ln>
        </p:spPr>
        <p:txBody>
          <a:bodyPr lIns="0" tIns="0" rIns="0" bIns="0" anchor="t"/>
          <a:lstStyle>
            <a:defPPr>
              <a:defRPr sz="1386" b="0">
                <a:solidFill>
                  <a:srgbClr val="64748B"/>
                </a:solidFill>
                <a:latin typeface="Calibri"/>
                <a:ea typeface="Calibri"/>
                <a:cs typeface="Calibri"/>
              </a:defRPr>
            </a:defPPr>
          </a:lstStyle>
          <a:p>
            <a:pPr>
              <a:buNone/>
              <a:defRPr sz="1386" b="0">
                <a:solidFill>
                  <a:srgbClr val="64748B"/>
                </a:solidFill>
                <a:latin typeface="Calibri"/>
                <a:ea typeface="Calibri"/>
                <a:cs typeface="Calibri"/>
              </a:defRPr>
            </a:pPr>
            <a:r>
              <a:rPr sz="1386" b="0">
                <a:solidFill>
                  <a:srgbClr val="64748B"/>
                </a:solidFill>
                <a:latin typeface="Calibri"/>
                <a:ea typeface="Calibri"/>
                <a:cs typeface="Calibri"/>
              </a:rPr>
              <a:t>Analytics screenshot: sample visualizations, not clinical performance evidence</a:t>
            </a:r>
          </a:p>
        </p:txBody>
      </p:sp>
      <p:sp>
        <p:nvSpPr>
          <p:cNvPr id="6" name="Rectangle 5">
            <a:extLst>
              <a:ext uri="{FF2B5EF4-FFF2-40B4-BE49-F238E27FC236}">
                <a16:creationId xmlns:a16="http://schemas.microsoft.com/office/drawing/2014/main" id="{E0E8F552-A24E-4ADC-9967-CEEA1B95991F}"/>
              </a:ext>
            </a:extLst>
          </p:cNvPr>
          <p:cNvSpPr>
            <a:spLocks noGrp="1"/>
          </p:cNvSpPr>
          <p:nvPr/>
        </p:nvSpPr>
        <p:spPr>
          <a:xfrm>
            <a:off x="1009650" y="5255514"/>
            <a:ext cx="6107430" cy="277978"/>
          </a:xfrm>
          <a:prstGeom prst="rect">
            <a:avLst/>
          </a:prstGeom>
          <a:noFill/>
          <a:ln w="0">
            <a:noFill/>
          </a:ln>
        </p:spPr>
        <p:txBody>
          <a:bodyPr lIns="0" tIns="0" rIns="0" bIns="0" anchor="t"/>
          <a:lstStyle>
            <a:defPPr>
              <a:defRPr sz="1782" b="1">
                <a:solidFill>
                  <a:srgbClr val="A32530"/>
                </a:solidFill>
                <a:latin typeface="Calibri"/>
                <a:ea typeface="Calibri"/>
                <a:cs typeface="Calibri"/>
              </a:defRPr>
            </a:defPPr>
          </a:lstStyle>
          <a:p>
            <a:pPr>
              <a:buNone/>
              <a:defRPr sz="1782" b="1">
                <a:solidFill>
                  <a:srgbClr val="A32530"/>
                </a:solidFill>
                <a:latin typeface="Calibri"/>
                <a:ea typeface="Calibri"/>
                <a:cs typeface="Calibri"/>
              </a:defRPr>
            </a:pPr>
            <a:r>
              <a:rPr sz="1782" b="1">
                <a:solidFill>
                  <a:srgbClr val="A32530"/>
                </a:solidFill>
                <a:latin typeface="Calibri"/>
                <a:ea typeface="Calibri"/>
                <a:cs typeface="Calibri"/>
              </a:rPr>
              <a:t>Analytics</a:t>
            </a:r>
          </a:p>
        </p:txBody>
      </p:sp>
      <p:sp>
        <p:nvSpPr>
          <p:cNvPr id="7" name="Rectangle 6">
            <a:extLst>
              <a:ext uri="{FF2B5EF4-FFF2-40B4-BE49-F238E27FC236}">
                <a16:creationId xmlns:a16="http://schemas.microsoft.com/office/drawing/2014/main" id="{ACA13230-B724-447E-853F-FFCDE53B2495}"/>
              </a:ext>
            </a:extLst>
          </p:cNvPr>
          <p:cNvSpPr>
            <a:spLocks noGrp="1"/>
          </p:cNvSpPr>
          <p:nvPr/>
        </p:nvSpPr>
        <p:spPr>
          <a:xfrm>
            <a:off x="1009650" y="5555437"/>
            <a:ext cx="6107430" cy="351130"/>
          </a:xfrm>
          <a:prstGeom prst="rect">
            <a:avLst/>
          </a:prstGeom>
          <a:noFill/>
          <a:ln w="0">
            <a:noFill/>
          </a:ln>
        </p:spPr>
        <p:txBody>
          <a:bodyPr lIns="0" tIns="0" rIns="0" bIns="0" anchor="t"/>
          <a:lstStyle>
            <a:defPPr>
              <a:defRPr sz="1518" b="0">
                <a:solidFill>
                  <a:srgbClr val="1F2937"/>
                </a:solidFill>
                <a:latin typeface="Calibri"/>
                <a:ea typeface="Calibri"/>
                <a:cs typeface="Calibri"/>
              </a:defRPr>
            </a:defPPr>
          </a:lstStyle>
          <a:p>
            <a:pPr>
              <a:buNone/>
              <a:defRPr sz="1518" b="0">
                <a:solidFill>
                  <a:srgbClr val="1F2937"/>
                </a:solidFill>
                <a:latin typeface="Calibri"/>
                <a:ea typeface="Calibri"/>
                <a:cs typeface="Calibri"/>
              </a:defRPr>
            </a:pPr>
            <a:r>
              <a:rPr sz="1518" b="0">
                <a:solidFill>
                  <a:srgbClr val="1F2937"/>
                </a:solidFill>
                <a:latin typeface="Calibri"/>
                <a:ea typeface="Calibri"/>
                <a:cs typeface="Calibri"/>
              </a:rPr>
              <a:t>Counts partly computed; date ranges and charts need correction.</a:t>
            </a:r>
          </a:p>
        </p:txBody>
      </p:sp>
      <p:sp>
        <p:nvSpPr>
          <p:cNvPr id="8" name="Rectangle 7">
            <a:extLst>
              <a:ext uri="{FF2B5EF4-FFF2-40B4-BE49-F238E27FC236}">
                <a16:creationId xmlns:a16="http://schemas.microsoft.com/office/drawing/2014/main" id="{DB15DA87-A7C1-400E-90DF-70AEE9884BE7}"/>
              </a:ext>
            </a:extLst>
          </p:cNvPr>
          <p:cNvSpPr>
            <a:spLocks noGrp="1"/>
          </p:cNvSpPr>
          <p:nvPr/>
        </p:nvSpPr>
        <p:spPr>
          <a:xfrm>
            <a:off x="7745273" y="5255514"/>
            <a:ext cx="3385261" cy="277978"/>
          </a:xfrm>
          <a:prstGeom prst="rect">
            <a:avLst/>
          </a:prstGeom>
          <a:noFill/>
          <a:ln w="0">
            <a:noFill/>
          </a:ln>
        </p:spPr>
        <p:txBody>
          <a:bodyPr lIns="0" tIns="0" rIns="0" bIns="0" anchor="t"/>
          <a:lstStyle>
            <a:defPPr>
              <a:defRPr sz="1782" b="1">
                <a:solidFill>
                  <a:srgbClr val="A32530"/>
                </a:solidFill>
                <a:latin typeface="Calibri"/>
                <a:ea typeface="Calibri"/>
                <a:cs typeface="Calibri"/>
              </a:defRPr>
            </a:defPPr>
          </a:lstStyle>
          <a:p>
            <a:pPr>
              <a:buNone/>
              <a:defRPr sz="1782" b="1">
                <a:solidFill>
                  <a:srgbClr val="A32530"/>
                </a:solidFill>
                <a:latin typeface="Calibri"/>
                <a:ea typeface="Calibri"/>
                <a:cs typeface="Calibri"/>
              </a:defRPr>
            </a:pPr>
            <a:r>
              <a:rPr sz="1782" b="1">
                <a:solidFill>
                  <a:srgbClr val="A32530"/>
                </a:solidFill>
                <a:latin typeface="Calibri"/>
                <a:ea typeface="Calibri"/>
                <a:cs typeface="Calibri"/>
              </a:rPr>
              <a:t>Device</a:t>
            </a:r>
          </a:p>
        </p:txBody>
      </p:sp>
      <p:sp>
        <p:nvSpPr>
          <p:cNvPr id="9" name="Rectangle 8">
            <a:extLst>
              <a:ext uri="{FF2B5EF4-FFF2-40B4-BE49-F238E27FC236}">
                <a16:creationId xmlns:a16="http://schemas.microsoft.com/office/drawing/2014/main" id="{A675B417-A1B4-4805-B136-D608D16B4084}"/>
              </a:ext>
            </a:extLst>
          </p:cNvPr>
          <p:cNvSpPr>
            <a:spLocks noGrp="1"/>
          </p:cNvSpPr>
          <p:nvPr/>
        </p:nvSpPr>
        <p:spPr>
          <a:xfrm>
            <a:off x="7745273" y="5555437"/>
            <a:ext cx="3385261" cy="351130"/>
          </a:xfrm>
          <a:prstGeom prst="rect">
            <a:avLst/>
          </a:prstGeom>
          <a:noFill/>
          <a:ln w="0">
            <a:noFill/>
          </a:ln>
        </p:spPr>
        <p:txBody>
          <a:bodyPr lIns="0" tIns="0" rIns="0" bIns="0" anchor="t"/>
          <a:lstStyle>
            <a:defPPr>
              <a:defRPr sz="1518" b="0">
                <a:solidFill>
                  <a:srgbClr val="1F2937"/>
                </a:solidFill>
                <a:latin typeface="Calibri"/>
                <a:ea typeface="Calibri"/>
                <a:cs typeface="Calibri"/>
              </a:defRPr>
            </a:defPPr>
          </a:lstStyle>
          <a:p>
            <a:pPr>
              <a:buNone/>
              <a:defRPr sz="1518" b="0">
                <a:solidFill>
                  <a:srgbClr val="1F2937"/>
                </a:solidFill>
                <a:latin typeface="Calibri"/>
                <a:ea typeface="Calibri"/>
                <a:cs typeface="Calibri"/>
              </a:defRPr>
            </a:pPr>
            <a:r>
              <a:rPr sz="1518" b="0">
                <a:solidFill>
                  <a:srgbClr val="1F2937"/>
                </a:solidFill>
                <a:latin typeface="Calibri"/>
                <a:ea typeface="Calibri"/>
                <a:cs typeface="Calibri"/>
              </a:rPr>
              <a:t>Camera and LED checks are timed UI simulations.</a:t>
            </a:r>
          </a:p>
        </p:txBody>
      </p:sp>
    </p:spTree>
    <p:extLst>
      <p:ext uri="{BB962C8B-B14F-4D97-AF65-F5344CB8AC3E}">
        <p14:creationId xmlns:p14="http://schemas.microsoft.com/office/powerpoint/2010/main" val="9182229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136CF79C-34D2-436E-977E-0BFEE2B2D329}"/>
              </a:ext>
            </a:extLst>
          </p:cNvPr>
          <p:cNvPicPr>
            <a:picLocks noChangeAspect="1"/>
          </p:cNvPicPr>
          <p:nvPr/>
        </p:nvPicPr>
        <p:blipFill>
          <a:blip r:embed="rId3"/>
          <a:stretch/>
        </p:blipFill>
        <p:spPr>
          <a:xfrm>
            <a:off x="0" y="0"/>
            <a:ext cx="12192000" cy="6858000"/>
          </a:xfrm>
          <a:prstGeom prst="rect">
            <a:avLst/>
          </a:prstGeom>
        </p:spPr>
      </p:pic>
      <p:sp>
        <p:nvSpPr>
          <p:cNvPr id="15" name="Rectangle 14">
            <a:extLst>
              <a:ext uri="{FF2B5EF4-FFF2-40B4-BE49-F238E27FC236}">
                <a16:creationId xmlns:a16="http://schemas.microsoft.com/office/drawing/2014/main" id="{9020072E-25CA-4FF5-B7EA-D0EFB51D9B14}"/>
              </a:ext>
            </a:extLst>
          </p:cNvPr>
          <p:cNvSpPr>
            <a:spLocks noGrp="1"/>
          </p:cNvSpPr>
          <p:nvPr/>
        </p:nvSpPr>
        <p:spPr>
          <a:xfrm>
            <a:off x="1009650" y="1190625"/>
            <a:ext cx="10287000" cy="638175"/>
          </a:xfrm>
          <a:prstGeom prst="rect">
            <a:avLst/>
          </a:prstGeom>
          <a:noFill/>
          <a:ln w="0">
            <a:noFill/>
          </a:ln>
        </p:spPr>
        <p:txBody>
          <a:bodyPr lIns="0" tIns="0" rIns="0" bIns="0" anchor="t"/>
          <a:lstStyle>
            <a:defPPr>
              <a:defRPr sz="3400" b="1">
                <a:solidFill>
                  <a:srgbClr val="A32530"/>
                </a:solidFill>
                <a:latin typeface="Cambria"/>
                <a:ea typeface="Cambria"/>
                <a:cs typeface="Cambria"/>
              </a:defRPr>
            </a:defPPr>
          </a:lstStyle>
          <a:p>
            <a:pPr>
              <a:buNone/>
              <a:defRPr sz="3400" b="1">
                <a:solidFill>
                  <a:srgbClr val="A32530"/>
                </a:solidFill>
                <a:latin typeface="Cambria"/>
                <a:ea typeface="Cambria"/>
                <a:cs typeface="Cambria"/>
              </a:defRPr>
            </a:pPr>
            <a:r>
              <a:rPr sz="3400" b="1">
                <a:solidFill>
                  <a:srgbClr val="A32530"/>
                </a:solidFill>
                <a:latin typeface="Cambria"/>
                <a:ea typeface="Cambria"/>
                <a:cs typeface="Cambria"/>
              </a:rPr>
              <a:t>Implementation and verified behaviour</a:t>
            </a:r>
          </a:p>
        </p:txBody>
      </p:sp>
      <p:sp>
        <p:nvSpPr>
          <p:cNvPr id="2" name="Rectangle 1">
            <a:extLst>
              <a:ext uri="{FF2B5EF4-FFF2-40B4-BE49-F238E27FC236}">
                <a16:creationId xmlns:a16="http://schemas.microsoft.com/office/drawing/2014/main" id="{1CEAC318-5C8B-4523-A677-841C645A98A3}"/>
              </a:ext>
            </a:extLst>
          </p:cNvPr>
          <p:cNvSpPr>
            <a:spLocks noGrp="1"/>
          </p:cNvSpPr>
          <p:nvPr/>
        </p:nvSpPr>
        <p:spPr>
          <a:xfrm>
            <a:off x="1009650" y="6086475"/>
            <a:ext cx="9048750" cy="209550"/>
          </a:xfrm>
          <a:prstGeom prst="rect">
            <a:avLst/>
          </a:prstGeom>
          <a:noFill/>
          <a:ln w="0">
            <a:noFill/>
          </a:ln>
        </p:spPr>
        <p:txBody>
          <a:bodyPr lIns="0" tIns="0" rIns="0" bIns="0" anchor="t"/>
          <a:lstStyle>
            <a:defPPr>
              <a:defRPr sz="1050" b="0">
                <a:solidFill>
                  <a:srgbClr val="64748B"/>
                </a:solidFill>
                <a:latin typeface="Calibri"/>
                <a:ea typeface="Calibri"/>
                <a:cs typeface="Calibri"/>
              </a:defRPr>
            </a:defPPr>
          </a:lstStyle>
          <a:p>
            <a:pPr>
              <a:buNone/>
              <a:defRPr sz="1050" b="0">
                <a:solidFill>
                  <a:srgbClr val="64748B"/>
                </a:solidFill>
                <a:latin typeface="Calibri"/>
                <a:ea typeface="Calibri"/>
                <a:cs typeface="Calibri"/>
              </a:defRPr>
            </a:pPr>
            <a:r>
              <a:rPr sz="1050" b="0" dirty="0" err="1">
                <a:solidFill>
                  <a:srgbClr val="64748B"/>
                </a:solidFill>
                <a:latin typeface="Calibri"/>
                <a:ea typeface="Calibri"/>
                <a:cs typeface="Calibri"/>
              </a:rPr>
              <a:t>UroScan</a:t>
            </a:r>
            <a:r>
              <a:rPr sz="1050" b="0" dirty="0">
                <a:solidFill>
                  <a:srgbClr val="64748B"/>
                </a:solidFill>
                <a:latin typeface="Calibri"/>
                <a:ea typeface="Calibri"/>
                <a:cs typeface="Calibri"/>
              </a:rPr>
              <a:t> AI  /  </a:t>
            </a:r>
            <a:r>
              <a:rPr lang="en-IN" sz="1050" b="0" dirty="0">
                <a:solidFill>
                  <a:srgbClr val="64748B"/>
                </a:solidFill>
                <a:latin typeface="Calibri"/>
                <a:ea typeface="Calibri"/>
                <a:cs typeface="Calibri"/>
              </a:rPr>
              <a:t>Healthcare Group 3</a:t>
            </a:r>
            <a:endParaRPr sz="1050" b="0" dirty="0">
              <a:solidFill>
                <a:srgbClr val="64748B"/>
              </a:solidFill>
              <a:latin typeface="Calibri"/>
              <a:ea typeface="Calibri"/>
              <a:cs typeface="Calibri"/>
            </a:endParaRPr>
          </a:p>
        </p:txBody>
      </p:sp>
      <p:sp>
        <p:nvSpPr>
          <p:cNvPr id="3" name="Rectangle 2">
            <a:extLst>
              <a:ext uri="{FF2B5EF4-FFF2-40B4-BE49-F238E27FC236}">
                <a16:creationId xmlns:a16="http://schemas.microsoft.com/office/drawing/2014/main" id="{1340BFBA-2D3A-4CBF-A45E-0AA7837DB19E}"/>
              </a:ext>
            </a:extLst>
          </p:cNvPr>
          <p:cNvSpPr>
            <a:spLocks noGrp="1"/>
          </p:cNvSpPr>
          <p:nvPr/>
        </p:nvSpPr>
        <p:spPr>
          <a:xfrm>
            <a:off x="10810875" y="6086475"/>
            <a:ext cx="361950" cy="209550"/>
          </a:xfrm>
          <a:prstGeom prst="rect">
            <a:avLst/>
          </a:prstGeom>
          <a:noFill/>
          <a:ln w="0">
            <a:noFill/>
          </a:ln>
        </p:spPr>
        <p:txBody>
          <a:bodyPr lIns="0" tIns="0" rIns="0" bIns="0" anchor="t"/>
          <a:lstStyle>
            <a:defPPr>
              <a:defRPr sz="1200" b="1">
                <a:solidFill>
                  <a:srgbClr val="A32530"/>
                </a:solidFill>
                <a:latin typeface="Calibri"/>
                <a:ea typeface="Calibri"/>
                <a:cs typeface="Calibri"/>
              </a:defRPr>
            </a:defPPr>
          </a:lstStyle>
          <a:p>
            <a:pPr>
              <a:buNone/>
              <a:defRPr sz="1200" b="1">
                <a:solidFill>
                  <a:srgbClr val="A32530"/>
                </a:solidFill>
                <a:latin typeface="Calibri"/>
                <a:ea typeface="Calibri"/>
                <a:cs typeface="Calibri"/>
              </a:defRPr>
            </a:pPr>
            <a:r>
              <a:rPr sz="1200" b="1">
                <a:solidFill>
                  <a:srgbClr val="A32530"/>
                </a:solidFill>
                <a:latin typeface="Calibri"/>
                <a:ea typeface="Calibri"/>
                <a:cs typeface="Calibri"/>
              </a:rPr>
              <a:t>13</a:t>
            </a:r>
          </a:p>
        </p:txBody>
      </p:sp>
      <p:sp>
        <p:nvSpPr>
          <p:cNvPr id="4" name="Rectangle 3">
            <a:extLst>
              <a:ext uri="{FF2B5EF4-FFF2-40B4-BE49-F238E27FC236}">
                <a16:creationId xmlns:a16="http://schemas.microsoft.com/office/drawing/2014/main" id="{E914C342-FBCF-4894-90FD-FADA182D5FF0}"/>
              </a:ext>
            </a:extLst>
          </p:cNvPr>
          <p:cNvSpPr>
            <a:spLocks noGrp="1"/>
          </p:cNvSpPr>
          <p:nvPr/>
        </p:nvSpPr>
        <p:spPr>
          <a:xfrm>
            <a:off x="1009650" y="2073402"/>
            <a:ext cx="4406075" cy="277978"/>
          </a:xfrm>
          <a:prstGeom prst="rect">
            <a:avLst/>
          </a:prstGeom>
          <a:noFill/>
          <a:ln w="0">
            <a:noFill/>
          </a:ln>
        </p:spPr>
        <p:txBody>
          <a:bodyPr lIns="0" tIns="0" rIns="0" bIns="0" anchor="t"/>
          <a:lstStyle>
            <a:defPPr>
              <a:defRPr sz="1848" b="1">
                <a:solidFill>
                  <a:srgbClr val="A32530"/>
                </a:solidFill>
                <a:latin typeface="Calibri"/>
                <a:ea typeface="Calibri"/>
                <a:cs typeface="Calibri"/>
              </a:defRPr>
            </a:defPPr>
          </a:lstStyle>
          <a:p>
            <a:pPr>
              <a:buNone/>
              <a:defRPr sz="1848" b="1">
                <a:solidFill>
                  <a:srgbClr val="A32530"/>
                </a:solidFill>
                <a:latin typeface="Calibri"/>
                <a:ea typeface="Calibri"/>
                <a:cs typeface="Calibri"/>
              </a:defRPr>
            </a:pPr>
            <a:r>
              <a:rPr sz="1848" b="1">
                <a:solidFill>
                  <a:srgbClr val="A32530"/>
                </a:solidFill>
                <a:latin typeface="Calibri"/>
                <a:ea typeface="Calibri"/>
                <a:cs typeface="Calibri"/>
              </a:rPr>
              <a:t>Implementation highlights</a:t>
            </a:r>
          </a:p>
        </p:txBody>
      </p:sp>
      <p:sp>
        <p:nvSpPr>
          <p:cNvPr id="5" name="Rectangle 4">
            <a:extLst>
              <a:ext uri="{FF2B5EF4-FFF2-40B4-BE49-F238E27FC236}">
                <a16:creationId xmlns:a16="http://schemas.microsoft.com/office/drawing/2014/main" id="{0B118D5B-DAC5-4436-B4FB-35EE0F7FFDFC}"/>
              </a:ext>
            </a:extLst>
          </p:cNvPr>
          <p:cNvSpPr>
            <a:spLocks noGrp="1"/>
          </p:cNvSpPr>
          <p:nvPr/>
        </p:nvSpPr>
        <p:spPr>
          <a:xfrm>
            <a:off x="1009650" y="2424532"/>
            <a:ext cx="4406075" cy="1097280"/>
          </a:xfrm>
          <a:prstGeom prst="rect">
            <a:avLst/>
          </a:prstGeom>
          <a:noFill/>
          <a:ln w="0">
            <a:noFill/>
          </a:ln>
        </p:spPr>
        <p:txBody>
          <a:bodyPr lIns="0" tIns="0" rIns="0" bIns="0" anchor="t"/>
          <a:lstStyle>
            <a:defPPr>
              <a:defRPr sz="1716" b="0">
                <a:solidFill>
                  <a:srgbClr val="1F2937"/>
                </a:solidFill>
                <a:latin typeface="Calibri"/>
                <a:ea typeface="Calibri"/>
                <a:cs typeface="Calibri"/>
              </a:defRPr>
            </a:defPPr>
          </a:lstStyle>
          <a:p>
            <a:pPr>
              <a:buNone/>
              <a:defRPr sz="1716" b="0">
                <a:solidFill>
                  <a:srgbClr val="1F2937"/>
                </a:solidFill>
                <a:latin typeface="Calibri"/>
                <a:ea typeface="Calibri"/>
                <a:cs typeface="Calibri"/>
              </a:defRPr>
            </a:pPr>
            <a:r>
              <a:rPr sz="1716" b="0">
                <a:solidFill>
                  <a:srgbClr val="1F2937"/>
                </a:solidFill>
                <a:latin typeface="Calibri"/>
                <a:ea typeface="Calibri"/>
                <a:cs typeface="Calibri"/>
              </a:rPr>
              <a:t>Shared data helpers</a:t>
            </a:r>
          </a:p>
          <a:p>
            <a:pPr>
              <a:buNone/>
              <a:defRPr sz="1716" b="0">
                <a:solidFill>
                  <a:srgbClr val="1F2937"/>
                </a:solidFill>
                <a:latin typeface="Calibri"/>
                <a:ea typeface="Calibri"/>
                <a:cs typeface="Calibri"/>
              </a:defRPr>
            </a:pPr>
            <a:r>
              <a:rPr sz="1716" b="0">
                <a:solidFill>
                  <a:srgbClr val="1F2937"/>
                </a:solidFill>
                <a:latin typeface="Calibri"/>
                <a:ea typeface="Calibri"/>
                <a:cs typeface="Calibri"/>
              </a:rPr>
              <a:t>JSON records in localStorage</a:t>
            </a:r>
          </a:p>
          <a:p>
            <a:pPr>
              <a:buNone/>
              <a:defRPr sz="1716" b="0">
                <a:solidFill>
                  <a:srgbClr val="1F2937"/>
                </a:solidFill>
                <a:latin typeface="Calibri"/>
                <a:ea typeface="Calibri"/>
                <a:cs typeface="Calibri"/>
              </a:defRPr>
            </a:pPr>
            <a:r>
              <a:rPr sz="1716" b="0">
                <a:solidFill>
                  <a:srgbClr val="1F2937"/>
                </a:solidFill>
                <a:latin typeface="Calibri"/>
                <a:ea typeface="Calibri"/>
                <a:cs typeface="Calibri"/>
              </a:rPr>
              <a:t>URL IDs link pages</a:t>
            </a:r>
          </a:p>
          <a:p>
            <a:pPr>
              <a:buNone/>
              <a:defRPr sz="1716" b="0">
                <a:solidFill>
                  <a:srgbClr val="1F2937"/>
                </a:solidFill>
                <a:latin typeface="Calibri"/>
                <a:ea typeface="Calibri"/>
                <a:cs typeface="Calibri"/>
              </a:defRPr>
            </a:pPr>
            <a:r>
              <a:rPr sz="1716" b="0">
                <a:solidFill>
                  <a:srgbClr val="1F2937"/>
                </a:solidFill>
                <a:latin typeface="Calibri"/>
                <a:ea typeface="Calibri"/>
                <a:cs typeface="Calibri"/>
              </a:rPr>
              <a:t>jQuery updates page content</a:t>
            </a:r>
          </a:p>
        </p:txBody>
      </p:sp>
      <p:sp>
        <p:nvSpPr>
          <p:cNvPr id="6" name="Rectangle 5">
            <a:extLst>
              <a:ext uri="{FF2B5EF4-FFF2-40B4-BE49-F238E27FC236}">
                <a16:creationId xmlns:a16="http://schemas.microsoft.com/office/drawing/2014/main" id="{2407C004-C932-4E20-BDF0-4E69C26BE744}"/>
              </a:ext>
            </a:extLst>
          </p:cNvPr>
          <p:cNvSpPr>
            <a:spLocks noGrp="1"/>
          </p:cNvSpPr>
          <p:nvPr/>
        </p:nvSpPr>
        <p:spPr>
          <a:xfrm>
            <a:off x="6384188" y="2073402"/>
            <a:ext cx="4711446" cy="292608"/>
          </a:xfrm>
          <a:prstGeom prst="rect">
            <a:avLst/>
          </a:prstGeom>
          <a:noFill/>
          <a:ln w="0">
            <a:noFill/>
          </a:ln>
        </p:spPr>
        <p:txBody>
          <a:bodyPr lIns="0" tIns="0" rIns="0" bIns="0" anchor="t"/>
          <a:lstStyle>
            <a:defPPr>
              <a:defRPr sz="1848" b="1">
                <a:solidFill>
                  <a:srgbClr val="A32530"/>
                </a:solidFill>
                <a:latin typeface="Calibri"/>
                <a:ea typeface="Calibri"/>
                <a:cs typeface="Calibri"/>
              </a:defRPr>
            </a:defPPr>
          </a:lstStyle>
          <a:p>
            <a:pPr>
              <a:buNone/>
              <a:defRPr sz="1848" b="1">
                <a:solidFill>
                  <a:srgbClr val="A32530"/>
                </a:solidFill>
                <a:latin typeface="Calibri"/>
                <a:ea typeface="Calibri"/>
                <a:cs typeface="Calibri"/>
              </a:defRPr>
            </a:pPr>
            <a:r>
              <a:rPr sz="1848" b="1">
                <a:solidFill>
                  <a:srgbClr val="A32530"/>
                </a:solidFill>
                <a:latin typeface="Calibri"/>
                <a:ea typeface="Calibri"/>
                <a:cs typeface="Calibri"/>
              </a:rPr>
              <a:t>Observed in browser checks</a:t>
            </a:r>
          </a:p>
        </p:txBody>
      </p:sp>
      <p:sp>
        <p:nvSpPr>
          <p:cNvPr id="7" name="Rectangle 6">
            <a:extLst>
              <a:ext uri="{FF2B5EF4-FFF2-40B4-BE49-F238E27FC236}">
                <a16:creationId xmlns:a16="http://schemas.microsoft.com/office/drawing/2014/main" id="{D87FA1C0-29C7-434C-9BE0-521CB02DF99D}"/>
              </a:ext>
            </a:extLst>
          </p:cNvPr>
          <p:cNvSpPr>
            <a:spLocks noGrp="1"/>
          </p:cNvSpPr>
          <p:nvPr/>
        </p:nvSpPr>
        <p:spPr>
          <a:xfrm>
            <a:off x="6384188" y="2483053"/>
            <a:ext cx="4711446" cy="329184"/>
          </a:xfrm>
          <a:prstGeom prst="rect">
            <a:avLst/>
          </a:prstGeom>
          <a:noFill/>
          <a:ln w="0">
            <a:noFill/>
          </a:ln>
        </p:spPr>
        <p:txBody>
          <a:bodyPr lIns="0" tIns="0" rIns="0" bIns="0" anchor="t"/>
          <a:lstStyle>
            <a:defPPr>
              <a:defRPr sz="1716" b="0">
                <a:solidFill>
                  <a:srgbClr val="1F2937"/>
                </a:solidFill>
                <a:latin typeface="Calibri"/>
                <a:ea typeface="Calibri"/>
                <a:cs typeface="Calibri"/>
              </a:defRPr>
            </a:defPPr>
          </a:lstStyle>
          <a:p>
            <a:pPr>
              <a:buNone/>
              <a:defRPr sz="1716" b="0">
                <a:solidFill>
                  <a:srgbClr val="1F2937"/>
                </a:solidFill>
                <a:latin typeface="Calibri"/>
                <a:ea typeface="Calibri"/>
                <a:cs typeface="Calibri"/>
              </a:defRPr>
            </a:pPr>
            <a:r>
              <a:rPr sz="1716" b="0">
                <a:solidFill>
                  <a:srgbClr val="1F2937"/>
                </a:solidFill>
                <a:latin typeface="Calibri"/>
                <a:ea typeface="Calibri"/>
                <a:cs typeface="Calibri"/>
              </a:rPr>
              <a:t>✓  Local registration and sign-in</a:t>
            </a:r>
          </a:p>
        </p:txBody>
      </p:sp>
      <p:sp>
        <p:nvSpPr>
          <p:cNvPr id="8" name="Rectangle 7">
            <a:extLst>
              <a:ext uri="{FF2B5EF4-FFF2-40B4-BE49-F238E27FC236}">
                <a16:creationId xmlns:a16="http://schemas.microsoft.com/office/drawing/2014/main" id="{BA874171-A9F5-44A2-A35B-F083AFFC9866}"/>
              </a:ext>
            </a:extLst>
          </p:cNvPr>
          <p:cNvSpPr>
            <a:spLocks noGrp="1"/>
          </p:cNvSpPr>
          <p:nvPr/>
        </p:nvSpPr>
        <p:spPr>
          <a:xfrm>
            <a:off x="6384188" y="2929280"/>
            <a:ext cx="4711446" cy="329184"/>
          </a:xfrm>
          <a:prstGeom prst="rect">
            <a:avLst/>
          </a:prstGeom>
          <a:noFill/>
          <a:ln w="0">
            <a:noFill/>
          </a:ln>
        </p:spPr>
        <p:txBody>
          <a:bodyPr lIns="0" tIns="0" rIns="0" bIns="0" anchor="t"/>
          <a:lstStyle>
            <a:defPPr>
              <a:defRPr sz="1716" b="0">
                <a:solidFill>
                  <a:srgbClr val="1F2937"/>
                </a:solidFill>
                <a:latin typeface="Calibri"/>
                <a:ea typeface="Calibri"/>
                <a:cs typeface="Calibri"/>
              </a:defRPr>
            </a:defPPr>
          </a:lstStyle>
          <a:p>
            <a:pPr>
              <a:buNone/>
              <a:defRPr sz="1716" b="0">
                <a:solidFill>
                  <a:srgbClr val="1F2937"/>
                </a:solidFill>
                <a:latin typeface="Calibri"/>
                <a:ea typeface="Calibri"/>
                <a:cs typeface="Calibri"/>
              </a:defRPr>
            </a:pPr>
            <a:r>
              <a:rPr sz="1716" b="0">
                <a:solidFill>
                  <a:srgbClr val="1F2937"/>
                </a:solidFill>
                <a:latin typeface="Calibri"/>
                <a:ea typeface="Calibri"/>
                <a:cs typeface="Calibri"/>
              </a:rPr>
              <a:t>✓  Patient retained after reload</a:t>
            </a:r>
          </a:p>
        </p:txBody>
      </p:sp>
      <p:sp>
        <p:nvSpPr>
          <p:cNvPr id="9" name="Rectangle 8">
            <a:extLst>
              <a:ext uri="{FF2B5EF4-FFF2-40B4-BE49-F238E27FC236}">
                <a16:creationId xmlns:a16="http://schemas.microsoft.com/office/drawing/2014/main" id="{044E178B-9371-4E5D-BC39-859C4F023D40}"/>
              </a:ext>
            </a:extLst>
          </p:cNvPr>
          <p:cNvSpPr>
            <a:spLocks noGrp="1"/>
          </p:cNvSpPr>
          <p:nvPr/>
        </p:nvSpPr>
        <p:spPr>
          <a:xfrm>
            <a:off x="6384188" y="3375508"/>
            <a:ext cx="4711446" cy="329184"/>
          </a:xfrm>
          <a:prstGeom prst="rect">
            <a:avLst/>
          </a:prstGeom>
          <a:noFill/>
          <a:ln w="0">
            <a:noFill/>
          </a:ln>
        </p:spPr>
        <p:txBody>
          <a:bodyPr lIns="0" tIns="0" rIns="0" bIns="0" anchor="t"/>
          <a:lstStyle>
            <a:defPPr>
              <a:defRPr sz="1716" b="0">
                <a:solidFill>
                  <a:srgbClr val="1F2937"/>
                </a:solidFill>
                <a:latin typeface="Calibri"/>
                <a:ea typeface="Calibri"/>
                <a:cs typeface="Calibri"/>
              </a:defRPr>
            </a:defPPr>
          </a:lstStyle>
          <a:p>
            <a:pPr>
              <a:buNone/>
              <a:defRPr sz="1716" b="0">
                <a:solidFill>
                  <a:srgbClr val="1F2937"/>
                </a:solidFill>
                <a:latin typeface="Calibri"/>
                <a:ea typeface="Calibri"/>
                <a:cs typeface="Calibri"/>
              </a:defRPr>
            </a:pPr>
            <a:r>
              <a:rPr sz="1716" b="0">
                <a:solidFill>
                  <a:srgbClr val="1F2937"/>
                </a:solidFill>
                <a:latin typeface="Calibri"/>
                <a:ea typeface="Calibri"/>
                <a:cs typeface="Calibri"/>
              </a:rPr>
              <a:t>✓  Patient and report searching</a:t>
            </a:r>
          </a:p>
        </p:txBody>
      </p:sp>
      <p:sp>
        <p:nvSpPr>
          <p:cNvPr id="10" name="Rectangle 9">
            <a:extLst>
              <a:ext uri="{FF2B5EF4-FFF2-40B4-BE49-F238E27FC236}">
                <a16:creationId xmlns:a16="http://schemas.microsoft.com/office/drawing/2014/main" id="{5A9A8240-2C32-4C7E-B58D-34A4D0BE4B5F}"/>
              </a:ext>
            </a:extLst>
          </p:cNvPr>
          <p:cNvSpPr>
            <a:spLocks noGrp="1"/>
          </p:cNvSpPr>
          <p:nvPr/>
        </p:nvSpPr>
        <p:spPr>
          <a:xfrm>
            <a:off x="6384188" y="3821735"/>
            <a:ext cx="4711446" cy="329184"/>
          </a:xfrm>
          <a:prstGeom prst="rect">
            <a:avLst/>
          </a:prstGeom>
          <a:noFill/>
          <a:ln w="0">
            <a:noFill/>
          </a:ln>
        </p:spPr>
        <p:txBody>
          <a:bodyPr lIns="0" tIns="0" rIns="0" bIns="0" anchor="t"/>
          <a:lstStyle>
            <a:defPPr>
              <a:defRPr sz="1716" b="0">
                <a:solidFill>
                  <a:srgbClr val="1F2937"/>
                </a:solidFill>
                <a:latin typeface="Calibri"/>
                <a:ea typeface="Calibri"/>
                <a:cs typeface="Calibri"/>
              </a:defRPr>
            </a:defPPr>
          </a:lstStyle>
          <a:p>
            <a:pPr>
              <a:buNone/>
              <a:defRPr sz="1716" b="0">
                <a:solidFill>
                  <a:srgbClr val="1F2937"/>
                </a:solidFill>
                <a:latin typeface="Calibri"/>
                <a:ea typeface="Calibri"/>
                <a:cs typeface="Calibri"/>
              </a:defRPr>
            </a:pPr>
            <a:r>
              <a:rPr sz="1716" b="0">
                <a:solidFill>
                  <a:srgbClr val="1F2937"/>
                </a:solidFill>
                <a:latin typeface="Calibri"/>
                <a:ea typeface="Calibri"/>
                <a:cs typeface="Calibri"/>
              </a:rPr>
              <a:t>✓  Simulation saves 10 analyte rows</a:t>
            </a:r>
          </a:p>
        </p:txBody>
      </p:sp>
      <p:sp>
        <p:nvSpPr>
          <p:cNvPr id="11" name="Rectangle 10">
            <a:extLst>
              <a:ext uri="{FF2B5EF4-FFF2-40B4-BE49-F238E27FC236}">
                <a16:creationId xmlns:a16="http://schemas.microsoft.com/office/drawing/2014/main" id="{6819F3D1-3244-455B-B720-503A63C783D8}"/>
              </a:ext>
            </a:extLst>
          </p:cNvPr>
          <p:cNvSpPr>
            <a:spLocks noGrp="1"/>
          </p:cNvSpPr>
          <p:nvPr/>
        </p:nvSpPr>
        <p:spPr>
          <a:xfrm>
            <a:off x="6384188" y="4267962"/>
            <a:ext cx="4711446" cy="329184"/>
          </a:xfrm>
          <a:prstGeom prst="rect">
            <a:avLst/>
          </a:prstGeom>
          <a:noFill/>
          <a:ln w="0">
            <a:noFill/>
          </a:ln>
        </p:spPr>
        <p:txBody>
          <a:bodyPr lIns="0" tIns="0" rIns="0" bIns="0" anchor="t"/>
          <a:lstStyle>
            <a:defPPr>
              <a:defRPr sz="1716" b="0">
                <a:solidFill>
                  <a:srgbClr val="1F2937"/>
                </a:solidFill>
                <a:latin typeface="Calibri"/>
                <a:ea typeface="Calibri"/>
                <a:cs typeface="Calibri"/>
              </a:defRPr>
            </a:defPPr>
          </a:lstStyle>
          <a:p>
            <a:pPr>
              <a:buNone/>
              <a:defRPr sz="1716" b="0">
                <a:solidFill>
                  <a:srgbClr val="1F2937"/>
                </a:solidFill>
                <a:latin typeface="Calibri"/>
                <a:ea typeface="Calibri"/>
                <a:cs typeface="Calibri"/>
              </a:defRPr>
            </a:pPr>
            <a:r>
              <a:rPr sz="1716" b="0">
                <a:solidFill>
                  <a:srgbClr val="1F2937"/>
                </a:solidFill>
                <a:latin typeface="Calibri"/>
                <a:ea typeface="Calibri"/>
                <a:cs typeface="Calibri"/>
              </a:rPr>
              <a:t>✓  Notes update the linked report</a:t>
            </a:r>
          </a:p>
        </p:txBody>
      </p:sp>
      <p:sp>
        <p:nvSpPr>
          <p:cNvPr id="12" name="Rectangle 11">
            <a:extLst>
              <a:ext uri="{FF2B5EF4-FFF2-40B4-BE49-F238E27FC236}">
                <a16:creationId xmlns:a16="http://schemas.microsoft.com/office/drawing/2014/main" id="{9A069828-148C-4514-A207-41F6EDD8E8C0}"/>
              </a:ext>
            </a:extLst>
          </p:cNvPr>
          <p:cNvSpPr>
            <a:spLocks noGrp="1"/>
          </p:cNvSpPr>
          <p:nvPr/>
        </p:nvSpPr>
        <p:spPr>
          <a:xfrm>
            <a:off x="1009650" y="4158234"/>
            <a:ext cx="4406075" cy="292608"/>
          </a:xfrm>
          <a:prstGeom prst="rect">
            <a:avLst/>
          </a:prstGeom>
          <a:noFill/>
          <a:ln w="0">
            <a:noFill/>
          </a:ln>
        </p:spPr>
        <p:txBody>
          <a:bodyPr lIns="0" tIns="0" rIns="0" bIns="0" anchor="t"/>
          <a:lstStyle>
            <a:defPPr>
              <a:defRPr sz="1848" b="1">
                <a:solidFill>
                  <a:srgbClr val="A32530"/>
                </a:solidFill>
                <a:latin typeface="Calibri"/>
                <a:ea typeface="Calibri"/>
                <a:cs typeface="Calibri"/>
              </a:defRPr>
            </a:defPPr>
          </a:lstStyle>
          <a:p>
            <a:pPr>
              <a:buNone/>
              <a:defRPr sz="1848" b="1">
                <a:solidFill>
                  <a:srgbClr val="A32530"/>
                </a:solidFill>
                <a:latin typeface="Calibri"/>
                <a:ea typeface="Calibri"/>
                <a:cs typeface="Calibri"/>
              </a:defRPr>
            </a:pPr>
            <a:r>
              <a:rPr sz="1848" b="1">
                <a:solidFill>
                  <a:srgbClr val="A32530"/>
                </a:solidFill>
                <a:latin typeface="Calibri"/>
                <a:ea typeface="Calibri"/>
                <a:cs typeface="Calibri"/>
              </a:rPr>
              <a:t>Issues also reproduced</a:t>
            </a:r>
          </a:p>
        </p:txBody>
      </p:sp>
      <p:sp>
        <p:nvSpPr>
          <p:cNvPr id="13" name="Rectangle 12">
            <a:extLst>
              <a:ext uri="{FF2B5EF4-FFF2-40B4-BE49-F238E27FC236}">
                <a16:creationId xmlns:a16="http://schemas.microsoft.com/office/drawing/2014/main" id="{C64EE5B9-A4B8-46BC-878A-C454F654EAD0}"/>
              </a:ext>
            </a:extLst>
          </p:cNvPr>
          <p:cNvSpPr>
            <a:spLocks noGrp="1"/>
          </p:cNvSpPr>
          <p:nvPr/>
        </p:nvSpPr>
        <p:spPr>
          <a:xfrm>
            <a:off x="1009650" y="4560570"/>
            <a:ext cx="4406075" cy="731520"/>
          </a:xfrm>
          <a:prstGeom prst="rect">
            <a:avLst/>
          </a:prstGeom>
          <a:noFill/>
          <a:ln w="0">
            <a:noFill/>
          </a:ln>
        </p:spPr>
        <p:txBody>
          <a:bodyPr lIns="0" tIns="0" rIns="0" bIns="0" anchor="t"/>
          <a:lstStyle>
            <a:defPPr>
              <a:defRPr sz="1782" b="0">
                <a:solidFill>
                  <a:srgbClr val="1F2937"/>
                </a:solidFill>
                <a:latin typeface="Calibri"/>
                <a:ea typeface="Calibri"/>
                <a:cs typeface="Calibri"/>
              </a:defRPr>
            </a:defPPr>
          </a:lstStyle>
          <a:p>
            <a:pPr>
              <a:buNone/>
              <a:defRPr sz="1782" b="0">
                <a:solidFill>
                  <a:srgbClr val="1F2937"/>
                </a:solidFill>
                <a:latin typeface="Calibri"/>
                <a:ea typeface="Calibri"/>
                <a:cs typeface="Calibri"/>
              </a:defRPr>
            </a:pPr>
            <a:r>
              <a:rPr sz="1782" b="0">
                <a:solidFill>
                  <a:srgbClr val="1F2937"/>
                </a:solidFill>
                <a:latin typeface="Calibri"/>
                <a:ea typeface="Calibri"/>
                <a:cs typeface="Calibri"/>
              </a:rPr>
              <a:t>Retest saved as Approved.</a:t>
            </a:r>
          </a:p>
          <a:p>
            <a:pPr>
              <a:buNone/>
              <a:defRPr sz="1782" b="0">
                <a:solidFill>
                  <a:srgbClr val="1F2937"/>
                </a:solidFill>
                <a:latin typeface="Calibri"/>
                <a:ea typeface="Calibri"/>
                <a:cs typeface="Calibri"/>
              </a:defRPr>
            </a:pPr>
            <a:r>
              <a:rPr sz="1782" b="0">
                <a:solidFill>
                  <a:srgbClr val="1F2937"/>
                </a:solidFill>
                <a:latin typeface="Calibri"/>
                <a:ea typeface="Calibri"/>
                <a:cs typeface="Calibri"/>
              </a:rPr>
              <a:t>Analytics raised chart errors.</a:t>
            </a:r>
          </a:p>
        </p:txBody>
      </p:sp>
      <p:sp>
        <p:nvSpPr>
          <p:cNvPr id="14" name="Rectangle 13">
            <a:extLst>
              <a:ext uri="{FF2B5EF4-FFF2-40B4-BE49-F238E27FC236}">
                <a16:creationId xmlns:a16="http://schemas.microsoft.com/office/drawing/2014/main" id="{BDB47C24-29A5-42F9-B722-5BE693601439}"/>
              </a:ext>
            </a:extLst>
          </p:cNvPr>
          <p:cNvSpPr>
            <a:spLocks noGrp="1"/>
          </p:cNvSpPr>
          <p:nvPr/>
        </p:nvSpPr>
        <p:spPr>
          <a:xfrm>
            <a:off x="1009650" y="5526176"/>
            <a:ext cx="10120884" cy="329184"/>
          </a:xfrm>
          <a:prstGeom prst="rect">
            <a:avLst/>
          </a:prstGeom>
          <a:noFill/>
          <a:ln w="0">
            <a:noFill/>
          </a:ln>
        </p:spPr>
        <p:txBody>
          <a:bodyPr lIns="0" tIns="0" rIns="0" bIns="0" anchor="t"/>
          <a:lstStyle>
            <a:defPPr>
              <a:defRPr sz="1584" b="0">
                <a:solidFill>
                  <a:srgbClr val="64748B"/>
                </a:solidFill>
                <a:latin typeface="Calibri"/>
                <a:ea typeface="Calibri"/>
                <a:cs typeface="Calibri"/>
              </a:defRPr>
            </a:defPPr>
          </a:lstStyle>
          <a:p>
            <a:pPr>
              <a:buNone/>
              <a:defRPr sz="1584" b="0">
                <a:solidFill>
                  <a:srgbClr val="64748B"/>
                </a:solidFill>
                <a:latin typeface="Calibri"/>
                <a:ea typeface="Calibri"/>
                <a:cs typeface="Calibri"/>
              </a:defRPr>
            </a:pPr>
            <a:r>
              <a:rPr sz="1584" b="0">
                <a:solidFill>
                  <a:srgbClr val="64748B"/>
                </a:solidFill>
                <a:latin typeface="Calibri"/>
                <a:ea typeface="Calibri"/>
                <a:cs typeface="Calibri"/>
              </a:rPr>
              <a:t>Evidence supports a browser demonstration, not diagnostic accuracy or production readiness.</a:t>
            </a:r>
          </a:p>
        </p:txBody>
      </p:sp>
    </p:spTree>
    <p:extLst>
      <p:ext uri="{BB962C8B-B14F-4D97-AF65-F5344CB8AC3E}">
        <p14:creationId xmlns:p14="http://schemas.microsoft.com/office/powerpoint/2010/main" val="11525087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BE801EB6-37B2-42E0-AEEA-B058B1CD841D}"/>
              </a:ext>
            </a:extLst>
          </p:cNvPr>
          <p:cNvPicPr>
            <a:picLocks noChangeAspect="1"/>
          </p:cNvPicPr>
          <p:nvPr/>
        </p:nvPicPr>
        <p:blipFill>
          <a:blip r:embed="rId3"/>
          <a:stretch/>
        </p:blipFill>
        <p:spPr>
          <a:xfrm>
            <a:off x="0" y="0"/>
            <a:ext cx="12192000" cy="6858000"/>
          </a:xfrm>
          <a:prstGeom prst="rect">
            <a:avLst/>
          </a:prstGeom>
        </p:spPr>
      </p:pic>
      <p:sp>
        <p:nvSpPr>
          <p:cNvPr id="15" name="Rectangle 14">
            <a:extLst>
              <a:ext uri="{FF2B5EF4-FFF2-40B4-BE49-F238E27FC236}">
                <a16:creationId xmlns:a16="http://schemas.microsoft.com/office/drawing/2014/main" id="{010D0858-7D59-4D7B-9042-CEEBF4F162BC}"/>
              </a:ext>
            </a:extLst>
          </p:cNvPr>
          <p:cNvSpPr>
            <a:spLocks noGrp="1"/>
          </p:cNvSpPr>
          <p:nvPr/>
        </p:nvSpPr>
        <p:spPr>
          <a:xfrm>
            <a:off x="1009650" y="1190625"/>
            <a:ext cx="10287000" cy="638175"/>
          </a:xfrm>
          <a:prstGeom prst="rect">
            <a:avLst/>
          </a:prstGeom>
          <a:noFill/>
          <a:ln w="0">
            <a:noFill/>
          </a:ln>
        </p:spPr>
        <p:txBody>
          <a:bodyPr lIns="0" tIns="0" rIns="0" bIns="0" anchor="t"/>
          <a:lstStyle>
            <a:defPPr>
              <a:defRPr sz="3400" b="1">
                <a:solidFill>
                  <a:srgbClr val="A32530"/>
                </a:solidFill>
                <a:latin typeface="Cambria"/>
                <a:ea typeface="Cambria"/>
                <a:cs typeface="Cambria"/>
              </a:defRPr>
            </a:defPPr>
          </a:lstStyle>
          <a:p>
            <a:pPr>
              <a:buNone/>
              <a:defRPr sz="3400" b="1">
                <a:solidFill>
                  <a:srgbClr val="A32530"/>
                </a:solidFill>
                <a:latin typeface="Cambria"/>
                <a:ea typeface="Cambria"/>
                <a:cs typeface="Cambria"/>
              </a:defRPr>
            </a:pPr>
            <a:r>
              <a:rPr sz="3400" b="1">
                <a:solidFill>
                  <a:srgbClr val="A32530"/>
                </a:solidFill>
                <a:latin typeface="Cambria"/>
                <a:ea typeface="Cambria"/>
                <a:cs typeface="Cambria"/>
              </a:rPr>
              <a:t>Limitations and future scope</a:t>
            </a:r>
          </a:p>
        </p:txBody>
      </p:sp>
      <p:sp>
        <p:nvSpPr>
          <p:cNvPr id="2" name="Rectangle 1">
            <a:extLst>
              <a:ext uri="{FF2B5EF4-FFF2-40B4-BE49-F238E27FC236}">
                <a16:creationId xmlns:a16="http://schemas.microsoft.com/office/drawing/2014/main" id="{F1B637E8-7D2B-4A16-8BA5-712223012D2A}"/>
              </a:ext>
            </a:extLst>
          </p:cNvPr>
          <p:cNvSpPr>
            <a:spLocks noGrp="1"/>
          </p:cNvSpPr>
          <p:nvPr/>
        </p:nvSpPr>
        <p:spPr>
          <a:xfrm>
            <a:off x="1009650" y="6086475"/>
            <a:ext cx="9048750" cy="209550"/>
          </a:xfrm>
          <a:prstGeom prst="rect">
            <a:avLst/>
          </a:prstGeom>
          <a:noFill/>
          <a:ln w="0">
            <a:noFill/>
          </a:ln>
        </p:spPr>
        <p:txBody>
          <a:bodyPr lIns="0" tIns="0" rIns="0" bIns="0" anchor="t"/>
          <a:lstStyle>
            <a:defPPr>
              <a:defRPr sz="1050" b="0">
                <a:solidFill>
                  <a:srgbClr val="64748B"/>
                </a:solidFill>
                <a:latin typeface="Calibri"/>
                <a:ea typeface="Calibri"/>
                <a:cs typeface="Calibri"/>
              </a:defRPr>
            </a:defPPr>
          </a:lstStyle>
          <a:p>
            <a:pPr>
              <a:buNone/>
              <a:defRPr sz="1050" b="0">
                <a:solidFill>
                  <a:srgbClr val="64748B"/>
                </a:solidFill>
                <a:latin typeface="Calibri"/>
                <a:ea typeface="Calibri"/>
                <a:cs typeface="Calibri"/>
              </a:defRPr>
            </a:pPr>
            <a:r>
              <a:rPr sz="1050" b="0" dirty="0" err="1">
                <a:solidFill>
                  <a:srgbClr val="64748B"/>
                </a:solidFill>
                <a:latin typeface="Calibri"/>
                <a:ea typeface="Calibri"/>
                <a:cs typeface="Calibri"/>
              </a:rPr>
              <a:t>UroScan</a:t>
            </a:r>
            <a:r>
              <a:rPr sz="1050" b="0" dirty="0">
                <a:solidFill>
                  <a:srgbClr val="64748B"/>
                </a:solidFill>
                <a:latin typeface="Calibri"/>
                <a:ea typeface="Calibri"/>
                <a:cs typeface="Calibri"/>
              </a:rPr>
              <a:t> AI  /  </a:t>
            </a:r>
            <a:r>
              <a:rPr lang="en-IN" sz="1050" b="0" dirty="0">
                <a:solidFill>
                  <a:srgbClr val="64748B"/>
                </a:solidFill>
                <a:latin typeface="Calibri"/>
                <a:ea typeface="Calibri"/>
                <a:cs typeface="Calibri"/>
              </a:rPr>
              <a:t>Healthcare Group 3</a:t>
            </a:r>
            <a:endParaRPr sz="1050" b="0" dirty="0">
              <a:solidFill>
                <a:srgbClr val="64748B"/>
              </a:solidFill>
              <a:latin typeface="Calibri"/>
              <a:ea typeface="Calibri"/>
              <a:cs typeface="Calibri"/>
            </a:endParaRPr>
          </a:p>
        </p:txBody>
      </p:sp>
      <p:sp>
        <p:nvSpPr>
          <p:cNvPr id="3" name="Rectangle 2">
            <a:extLst>
              <a:ext uri="{FF2B5EF4-FFF2-40B4-BE49-F238E27FC236}">
                <a16:creationId xmlns:a16="http://schemas.microsoft.com/office/drawing/2014/main" id="{F3600AD2-2771-4529-BA08-E654804F276F}"/>
              </a:ext>
            </a:extLst>
          </p:cNvPr>
          <p:cNvSpPr>
            <a:spLocks noGrp="1"/>
          </p:cNvSpPr>
          <p:nvPr/>
        </p:nvSpPr>
        <p:spPr>
          <a:xfrm>
            <a:off x="10810875" y="6086475"/>
            <a:ext cx="361950" cy="209550"/>
          </a:xfrm>
          <a:prstGeom prst="rect">
            <a:avLst/>
          </a:prstGeom>
          <a:noFill/>
          <a:ln w="0">
            <a:noFill/>
          </a:ln>
        </p:spPr>
        <p:txBody>
          <a:bodyPr lIns="0" tIns="0" rIns="0" bIns="0" anchor="t"/>
          <a:lstStyle>
            <a:defPPr>
              <a:defRPr sz="1200" b="1">
                <a:solidFill>
                  <a:srgbClr val="A32530"/>
                </a:solidFill>
                <a:latin typeface="Calibri"/>
                <a:ea typeface="Calibri"/>
                <a:cs typeface="Calibri"/>
              </a:defRPr>
            </a:defPPr>
          </a:lstStyle>
          <a:p>
            <a:pPr>
              <a:buNone/>
              <a:defRPr sz="1200" b="1">
                <a:solidFill>
                  <a:srgbClr val="A32530"/>
                </a:solidFill>
                <a:latin typeface="Calibri"/>
                <a:ea typeface="Calibri"/>
                <a:cs typeface="Calibri"/>
              </a:defRPr>
            </a:pPr>
            <a:r>
              <a:rPr sz="1200" b="1">
                <a:solidFill>
                  <a:srgbClr val="A32530"/>
                </a:solidFill>
                <a:latin typeface="Calibri"/>
                <a:ea typeface="Calibri"/>
                <a:cs typeface="Calibri"/>
              </a:rPr>
              <a:t>14</a:t>
            </a:r>
          </a:p>
        </p:txBody>
      </p:sp>
      <p:sp>
        <p:nvSpPr>
          <p:cNvPr id="4" name="Rectangle 3">
            <a:extLst>
              <a:ext uri="{FF2B5EF4-FFF2-40B4-BE49-F238E27FC236}">
                <a16:creationId xmlns:a16="http://schemas.microsoft.com/office/drawing/2014/main" id="{9B30CADD-43C9-4BA4-90A1-352092D62178}"/>
              </a:ext>
            </a:extLst>
          </p:cNvPr>
          <p:cNvSpPr>
            <a:spLocks noGrp="1"/>
          </p:cNvSpPr>
          <p:nvPr/>
        </p:nvSpPr>
        <p:spPr>
          <a:xfrm>
            <a:off x="1009650" y="2073402"/>
            <a:ext cx="4667822" cy="329184"/>
          </a:xfrm>
          <a:prstGeom prst="rect">
            <a:avLst/>
          </a:prstGeom>
          <a:noFill/>
          <a:ln w="0">
            <a:noFill/>
          </a:ln>
        </p:spPr>
        <p:txBody>
          <a:bodyPr lIns="0" tIns="0" rIns="0" bIns="0" anchor="t"/>
          <a:lstStyle>
            <a:defPPr>
              <a:defRPr sz="2046" b="1">
                <a:solidFill>
                  <a:srgbClr val="A32530"/>
                </a:solidFill>
                <a:latin typeface="Calibri"/>
                <a:ea typeface="Calibri"/>
                <a:cs typeface="Calibri"/>
              </a:defRPr>
            </a:defPPr>
          </a:lstStyle>
          <a:p>
            <a:pPr>
              <a:buNone/>
              <a:defRPr sz="2046" b="1">
                <a:solidFill>
                  <a:srgbClr val="A32530"/>
                </a:solidFill>
                <a:latin typeface="Calibri"/>
                <a:ea typeface="Calibri"/>
                <a:cs typeface="Calibri"/>
              </a:defRPr>
            </a:pPr>
            <a:r>
              <a:rPr sz="2046" b="1">
                <a:solidFill>
                  <a:srgbClr val="A32530"/>
                </a:solidFill>
                <a:latin typeface="Calibri"/>
                <a:ea typeface="Calibri"/>
                <a:cs typeface="Calibri"/>
              </a:rPr>
              <a:t>Current limitations</a:t>
            </a:r>
          </a:p>
        </p:txBody>
      </p:sp>
      <p:sp>
        <p:nvSpPr>
          <p:cNvPr id="5" name="Rectangle 4">
            <a:extLst>
              <a:ext uri="{FF2B5EF4-FFF2-40B4-BE49-F238E27FC236}">
                <a16:creationId xmlns:a16="http://schemas.microsoft.com/office/drawing/2014/main" id="{9EEF15BC-6F78-4B16-A04F-1404F6B50CA9}"/>
              </a:ext>
            </a:extLst>
          </p:cNvPr>
          <p:cNvSpPr>
            <a:spLocks noGrp="1"/>
          </p:cNvSpPr>
          <p:nvPr/>
        </p:nvSpPr>
        <p:spPr>
          <a:xfrm>
            <a:off x="6384188" y="2073402"/>
            <a:ext cx="4667822" cy="329184"/>
          </a:xfrm>
          <a:prstGeom prst="rect">
            <a:avLst/>
          </a:prstGeom>
          <a:noFill/>
          <a:ln w="0">
            <a:noFill/>
          </a:ln>
        </p:spPr>
        <p:txBody>
          <a:bodyPr lIns="0" tIns="0" rIns="0" bIns="0" anchor="t"/>
          <a:lstStyle>
            <a:defPPr>
              <a:defRPr sz="2046" b="1">
                <a:solidFill>
                  <a:srgbClr val="A32530"/>
                </a:solidFill>
                <a:latin typeface="Calibri"/>
                <a:ea typeface="Calibri"/>
                <a:cs typeface="Calibri"/>
              </a:defRPr>
            </a:defPPr>
          </a:lstStyle>
          <a:p>
            <a:pPr>
              <a:buNone/>
              <a:defRPr sz="2046" b="1">
                <a:solidFill>
                  <a:srgbClr val="A32530"/>
                </a:solidFill>
                <a:latin typeface="Calibri"/>
                <a:ea typeface="Calibri"/>
                <a:cs typeface="Calibri"/>
              </a:defRPr>
            </a:pPr>
            <a:r>
              <a:rPr sz="2046" b="1">
                <a:solidFill>
                  <a:srgbClr val="A32530"/>
                </a:solidFill>
                <a:latin typeface="Calibri"/>
                <a:ea typeface="Calibri"/>
                <a:cs typeface="Calibri"/>
              </a:rPr>
              <a:t>Next steps</a:t>
            </a:r>
          </a:p>
        </p:txBody>
      </p:sp>
      <p:sp>
        <p:nvSpPr>
          <p:cNvPr id="6" name="Rectangle 5">
            <a:extLst>
              <a:ext uri="{FF2B5EF4-FFF2-40B4-BE49-F238E27FC236}">
                <a16:creationId xmlns:a16="http://schemas.microsoft.com/office/drawing/2014/main" id="{9A0D41F6-0514-4FF7-9F55-1B7481B7DA88}"/>
              </a:ext>
            </a:extLst>
          </p:cNvPr>
          <p:cNvSpPr>
            <a:spLocks noGrp="1"/>
          </p:cNvSpPr>
          <p:nvPr/>
        </p:nvSpPr>
        <p:spPr>
          <a:xfrm>
            <a:off x="1009650" y="2592781"/>
            <a:ext cx="4667822" cy="548640"/>
          </a:xfrm>
          <a:prstGeom prst="rect">
            <a:avLst/>
          </a:prstGeom>
          <a:noFill/>
          <a:ln w="0">
            <a:noFill/>
          </a:ln>
        </p:spPr>
        <p:txBody>
          <a:bodyPr lIns="0" tIns="0" rIns="0" bIns="0" anchor="t"/>
          <a:lstStyle>
            <a:defPPr>
              <a:defRPr sz="1782" b="0">
                <a:solidFill>
                  <a:srgbClr val="1F2937"/>
                </a:solidFill>
                <a:latin typeface="Calibri"/>
                <a:ea typeface="Calibri"/>
                <a:cs typeface="Calibri"/>
              </a:defRPr>
            </a:defPPr>
          </a:lstStyle>
          <a:p>
            <a:pPr>
              <a:buNone/>
              <a:defRPr sz="1782" b="0">
                <a:solidFill>
                  <a:srgbClr val="1F2937"/>
                </a:solidFill>
                <a:latin typeface="Calibri"/>
                <a:ea typeface="Calibri"/>
                <a:cs typeface="Calibri"/>
              </a:defRPr>
            </a:pPr>
            <a:r>
              <a:rPr sz="1782" b="0">
                <a:solidFill>
                  <a:srgbClr val="1F2937"/>
                </a:solidFill>
                <a:latin typeface="Calibri"/>
                <a:ea typeface="Calibri"/>
                <a:cs typeface="Calibri"/>
              </a:rPr>
              <a:t>Local demo login and browser-only records</a:t>
            </a:r>
          </a:p>
        </p:txBody>
      </p:sp>
      <p:sp>
        <p:nvSpPr>
          <p:cNvPr id="7" name="Rectangle 6">
            <a:extLst>
              <a:ext uri="{FF2B5EF4-FFF2-40B4-BE49-F238E27FC236}">
                <a16:creationId xmlns:a16="http://schemas.microsoft.com/office/drawing/2014/main" id="{284AD01A-D143-4076-B159-04CE87D2FDDE}"/>
              </a:ext>
            </a:extLst>
          </p:cNvPr>
          <p:cNvSpPr>
            <a:spLocks noGrp="1"/>
          </p:cNvSpPr>
          <p:nvPr/>
        </p:nvSpPr>
        <p:spPr>
          <a:xfrm>
            <a:off x="1009650" y="3265780"/>
            <a:ext cx="4667822" cy="548640"/>
          </a:xfrm>
          <a:prstGeom prst="rect">
            <a:avLst/>
          </a:prstGeom>
          <a:noFill/>
          <a:ln w="0">
            <a:noFill/>
          </a:ln>
        </p:spPr>
        <p:txBody>
          <a:bodyPr lIns="0" tIns="0" rIns="0" bIns="0" anchor="t"/>
          <a:lstStyle>
            <a:defPPr>
              <a:defRPr sz="1782" b="0">
                <a:solidFill>
                  <a:srgbClr val="1F2937"/>
                </a:solidFill>
                <a:latin typeface="Calibri"/>
                <a:ea typeface="Calibri"/>
                <a:cs typeface="Calibri"/>
              </a:defRPr>
            </a:defPPr>
          </a:lstStyle>
          <a:p>
            <a:pPr>
              <a:buNone/>
              <a:defRPr sz="1782" b="0">
                <a:solidFill>
                  <a:srgbClr val="1F2937"/>
                </a:solidFill>
                <a:latin typeface="Calibri"/>
                <a:ea typeface="Calibri"/>
                <a:cs typeface="Calibri"/>
              </a:defRPr>
            </a:pPr>
            <a:r>
              <a:rPr sz="1782" b="0">
                <a:solidFill>
                  <a:srgbClr val="1F2937"/>
                </a:solidFill>
                <a:latin typeface="Calibri"/>
                <a:ea typeface="Calibri"/>
                <a:cs typeface="Calibri"/>
              </a:rPr>
              <a:t>Preset test values and device status</a:t>
            </a:r>
          </a:p>
        </p:txBody>
      </p:sp>
      <p:sp>
        <p:nvSpPr>
          <p:cNvPr id="8" name="Rectangle 7">
            <a:extLst>
              <a:ext uri="{FF2B5EF4-FFF2-40B4-BE49-F238E27FC236}">
                <a16:creationId xmlns:a16="http://schemas.microsoft.com/office/drawing/2014/main" id="{DD56E5D8-CFEA-4BB8-B4F4-A6BB320F6E41}"/>
              </a:ext>
            </a:extLst>
          </p:cNvPr>
          <p:cNvSpPr>
            <a:spLocks noGrp="1"/>
          </p:cNvSpPr>
          <p:nvPr/>
        </p:nvSpPr>
        <p:spPr>
          <a:xfrm>
            <a:off x="1009650" y="3938778"/>
            <a:ext cx="4667822" cy="548640"/>
          </a:xfrm>
          <a:prstGeom prst="rect">
            <a:avLst/>
          </a:prstGeom>
          <a:noFill/>
          <a:ln w="0">
            <a:noFill/>
          </a:ln>
        </p:spPr>
        <p:txBody>
          <a:bodyPr lIns="0" tIns="0" rIns="0" bIns="0" anchor="t"/>
          <a:lstStyle>
            <a:defPPr>
              <a:defRPr sz="1782" b="0">
                <a:solidFill>
                  <a:srgbClr val="1F2937"/>
                </a:solidFill>
                <a:latin typeface="Calibri"/>
                <a:ea typeface="Calibri"/>
                <a:cs typeface="Calibri"/>
              </a:defRPr>
            </a:defPPr>
          </a:lstStyle>
          <a:p>
            <a:pPr>
              <a:buNone/>
              <a:defRPr sz="1782" b="0">
                <a:solidFill>
                  <a:srgbClr val="1F2937"/>
                </a:solidFill>
                <a:latin typeface="Calibri"/>
                <a:ea typeface="Calibri"/>
                <a:cs typeface="Calibri"/>
              </a:defRPr>
            </a:pPr>
            <a:r>
              <a:rPr sz="1782" b="0">
                <a:solidFill>
                  <a:srgbClr val="1F2937"/>
                </a:solidFill>
                <a:latin typeface="Calibri"/>
                <a:ea typeface="Calibri"/>
                <a:cs typeface="Calibri"/>
              </a:rPr>
              <a:t>Review, chart and test-ID defects</a:t>
            </a:r>
          </a:p>
        </p:txBody>
      </p:sp>
      <p:sp>
        <p:nvSpPr>
          <p:cNvPr id="9" name="Rectangle 8">
            <a:extLst>
              <a:ext uri="{FF2B5EF4-FFF2-40B4-BE49-F238E27FC236}">
                <a16:creationId xmlns:a16="http://schemas.microsoft.com/office/drawing/2014/main" id="{64E2805E-5AFE-4850-983D-5FA2F8FDBCFA}"/>
              </a:ext>
            </a:extLst>
          </p:cNvPr>
          <p:cNvSpPr>
            <a:spLocks noGrp="1"/>
          </p:cNvSpPr>
          <p:nvPr/>
        </p:nvSpPr>
        <p:spPr>
          <a:xfrm>
            <a:off x="1009650" y="4611776"/>
            <a:ext cx="4667822" cy="548640"/>
          </a:xfrm>
          <a:prstGeom prst="rect">
            <a:avLst/>
          </a:prstGeom>
          <a:noFill/>
          <a:ln w="0">
            <a:noFill/>
          </a:ln>
        </p:spPr>
        <p:txBody>
          <a:bodyPr lIns="0" tIns="0" rIns="0" bIns="0" anchor="t"/>
          <a:lstStyle>
            <a:defPPr>
              <a:defRPr sz="1782" b="0">
                <a:solidFill>
                  <a:srgbClr val="1F2937"/>
                </a:solidFill>
                <a:latin typeface="Calibri"/>
                <a:ea typeface="Calibri"/>
                <a:cs typeface="Calibri"/>
              </a:defRPr>
            </a:defPPr>
          </a:lstStyle>
          <a:p>
            <a:pPr>
              <a:buNone/>
              <a:defRPr sz="1782" b="0">
                <a:solidFill>
                  <a:srgbClr val="1F2937"/>
                </a:solidFill>
                <a:latin typeface="Calibri"/>
                <a:ea typeface="Calibri"/>
                <a:cs typeface="Calibri"/>
              </a:defRPr>
            </a:pPr>
            <a:r>
              <a:rPr sz="1782" b="0">
                <a:solidFill>
                  <a:srgbClr val="1F2937"/>
                </a:solidFill>
                <a:latin typeface="Calibri"/>
                <a:ea typeface="Calibri"/>
                <a:cs typeface="Calibri"/>
              </a:rPr>
              <a:t>Sample trends appear for empty histories</a:t>
            </a:r>
          </a:p>
        </p:txBody>
      </p:sp>
      <p:sp>
        <p:nvSpPr>
          <p:cNvPr id="10" name="Rectangle 9">
            <a:extLst>
              <a:ext uri="{FF2B5EF4-FFF2-40B4-BE49-F238E27FC236}">
                <a16:creationId xmlns:a16="http://schemas.microsoft.com/office/drawing/2014/main" id="{33A9D87A-258F-4F69-937F-E2D405A51988}"/>
              </a:ext>
            </a:extLst>
          </p:cNvPr>
          <p:cNvSpPr>
            <a:spLocks noGrp="1"/>
          </p:cNvSpPr>
          <p:nvPr/>
        </p:nvSpPr>
        <p:spPr>
          <a:xfrm>
            <a:off x="6384188" y="2592781"/>
            <a:ext cx="4667822" cy="548640"/>
          </a:xfrm>
          <a:prstGeom prst="rect">
            <a:avLst/>
          </a:prstGeom>
          <a:noFill/>
          <a:ln w="0">
            <a:noFill/>
          </a:ln>
        </p:spPr>
        <p:txBody>
          <a:bodyPr lIns="0" tIns="0" rIns="0" bIns="0" anchor="t"/>
          <a:lstStyle>
            <a:defPPr>
              <a:defRPr sz="1782" b="0">
                <a:solidFill>
                  <a:srgbClr val="1F2937"/>
                </a:solidFill>
                <a:latin typeface="Calibri"/>
                <a:ea typeface="Calibri"/>
                <a:cs typeface="Calibri"/>
              </a:defRPr>
            </a:defPPr>
          </a:lstStyle>
          <a:p>
            <a:pPr>
              <a:buNone/>
              <a:defRPr sz="1782" b="0">
                <a:solidFill>
                  <a:srgbClr val="1F2937"/>
                </a:solidFill>
                <a:latin typeface="Calibri"/>
                <a:ea typeface="Calibri"/>
                <a:cs typeface="Calibri"/>
              </a:defRPr>
            </a:pPr>
            <a:r>
              <a:rPr sz="1782" b="0">
                <a:solidFill>
                  <a:srgbClr val="1F2937"/>
                </a:solidFill>
                <a:latin typeface="Calibri"/>
                <a:ea typeface="Calibri"/>
                <a:cs typeface="Calibri"/>
              </a:rPr>
              <a:t>Add secure backend and database storage</a:t>
            </a:r>
          </a:p>
        </p:txBody>
      </p:sp>
      <p:sp>
        <p:nvSpPr>
          <p:cNvPr id="11" name="Rectangle 10">
            <a:extLst>
              <a:ext uri="{FF2B5EF4-FFF2-40B4-BE49-F238E27FC236}">
                <a16:creationId xmlns:a16="http://schemas.microsoft.com/office/drawing/2014/main" id="{49D359EB-EC2F-4A8C-BE22-15D36A0A63D6}"/>
              </a:ext>
            </a:extLst>
          </p:cNvPr>
          <p:cNvSpPr>
            <a:spLocks noGrp="1"/>
          </p:cNvSpPr>
          <p:nvPr/>
        </p:nvSpPr>
        <p:spPr>
          <a:xfrm>
            <a:off x="6384188" y="3265780"/>
            <a:ext cx="4667822" cy="548640"/>
          </a:xfrm>
          <a:prstGeom prst="rect">
            <a:avLst/>
          </a:prstGeom>
          <a:noFill/>
          <a:ln w="0">
            <a:noFill/>
          </a:ln>
        </p:spPr>
        <p:txBody>
          <a:bodyPr lIns="0" tIns="0" rIns="0" bIns="0" anchor="t"/>
          <a:lstStyle>
            <a:defPPr>
              <a:defRPr sz="1782" b="0">
                <a:solidFill>
                  <a:srgbClr val="1F2937"/>
                </a:solidFill>
                <a:latin typeface="Calibri"/>
                <a:ea typeface="Calibri"/>
                <a:cs typeface="Calibri"/>
              </a:defRPr>
            </a:defPPr>
          </a:lstStyle>
          <a:p>
            <a:pPr>
              <a:buNone/>
              <a:defRPr sz="1782" b="0">
                <a:solidFill>
                  <a:srgbClr val="1F2937"/>
                </a:solidFill>
                <a:latin typeface="Calibri"/>
                <a:ea typeface="Calibri"/>
                <a:cs typeface="Calibri"/>
              </a:defRPr>
            </a:pPr>
            <a:r>
              <a:rPr sz="1782" b="0">
                <a:solidFill>
                  <a:srgbClr val="1F2937"/>
                </a:solidFill>
                <a:latin typeface="Calibri"/>
                <a:ea typeface="Calibri"/>
                <a:cs typeface="Calibri"/>
              </a:rPr>
              <a:t>Integrate real measurements and validation</a:t>
            </a:r>
          </a:p>
        </p:txBody>
      </p:sp>
      <p:sp>
        <p:nvSpPr>
          <p:cNvPr id="12" name="Rectangle 11">
            <a:extLst>
              <a:ext uri="{FF2B5EF4-FFF2-40B4-BE49-F238E27FC236}">
                <a16:creationId xmlns:a16="http://schemas.microsoft.com/office/drawing/2014/main" id="{B3F4528D-1FD0-415C-9789-356B315B867E}"/>
              </a:ext>
            </a:extLst>
          </p:cNvPr>
          <p:cNvSpPr>
            <a:spLocks noGrp="1"/>
          </p:cNvSpPr>
          <p:nvPr/>
        </p:nvSpPr>
        <p:spPr>
          <a:xfrm>
            <a:off x="6384188" y="3938778"/>
            <a:ext cx="4667822" cy="548640"/>
          </a:xfrm>
          <a:prstGeom prst="rect">
            <a:avLst/>
          </a:prstGeom>
          <a:noFill/>
          <a:ln w="0">
            <a:noFill/>
          </a:ln>
        </p:spPr>
        <p:txBody>
          <a:bodyPr lIns="0" tIns="0" rIns="0" bIns="0" anchor="t"/>
          <a:lstStyle>
            <a:defPPr>
              <a:defRPr sz="1782" b="0">
                <a:solidFill>
                  <a:srgbClr val="1F2937"/>
                </a:solidFill>
                <a:latin typeface="Calibri"/>
                <a:ea typeface="Calibri"/>
                <a:cs typeface="Calibri"/>
              </a:defRPr>
            </a:defPPr>
          </a:lstStyle>
          <a:p>
            <a:pPr>
              <a:buNone/>
              <a:defRPr sz="1782" b="0">
                <a:solidFill>
                  <a:srgbClr val="1F2937"/>
                </a:solidFill>
                <a:latin typeface="Calibri"/>
                <a:ea typeface="Calibri"/>
                <a:cs typeface="Calibri"/>
              </a:defRPr>
            </a:pPr>
            <a:r>
              <a:rPr sz="1782" b="0">
                <a:solidFill>
                  <a:srgbClr val="1F2937"/>
                </a:solidFill>
                <a:latin typeface="Calibri"/>
                <a:ea typeface="Calibri"/>
                <a:cs typeface="Calibri"/>
              </a:rPr>
              <a:t>Fix review wiring, charts and unique IDs</a:t>
            </a:r>
          </a:p>
        </p:txBody>
      </p:sp>
      <p:sp>
        <p:nvSpPr>
          <p:cNvPr id="13" name="Rectangle 12">
            <a:extLst>
              <a:ext uri="{FF2B5EF4-FFF2-40B4-BE49-F238E27FC236}">
                <a16:creationId xmlns:a16="http://schemas.microsoft.com/office/drawing/2014/main" id="{82718B70-C0ED-4D6B-9303-7B39D8CED003}"/>
              </a:ext>
            </a:extLst>
          </p:cNvPr>
          <p:cNvSpPr>
            <a:spLocks noGrp="1"/>
          </p:cNvSpPr>
          <p:nvPr/>
        </p:nvSpPr>
        <p:spPr>
          <a:xfrm>
            <a:off x="6384188" y="4611776"/>
            <a:ext cx="4667822" cy="548640"/>
          </a:xfrm>
          <a:prstGeom prst="rect">
            <a:avLst/>
          </a:prstGeom>
          <a:noFill/>
          <a:ln w="0">
            <a:noFill/>
          </a:ln>
        </p:spPr>
        <p:txBody>
          <a:bodyPr lIns="0" tIns="0" rIns="0" bIns="0" anchor="t"/>
          <a:lstStyle>
            <a:defPPr>
              <a:defRPr sz="1782" b="0">
                <a:solidFill>
                  <a:srgbClr val="1F2937"/>
                </a:solidFill>
                <a:latin typeface="Calibri"/>
                <a:ea typeface="Calibri"/>
                <a:cs typeface="Calibri"/>
              </a:defRPr>
            </a:defPPr>
          </a:lstStyle>
          <a:p>
            <a:pPr>
              <a:buNone/>
              <a:defRPr sz="1782" b="0">
                <a:solidFill>
                  <a:srgbClr val="1F2937"/>
                </a:solidFill>
                <a:latin typeface="Calibri"/>
                <a:ea typeface="Calibri"/>
                <a:cs typeface="Calibri"/>
              </a:defRPr>
            </a:pPr>
            <a:r>
              <a:rPr sz="1782" b="0">
                <a:solidFill>
                  <a:srgbClr val="1F2937"/>
                </a:solidFill>
                <a:latin typeface="Calibri"/>
                <a:ea typeface="Calibri"/>
                <a:cs typeface="Calibri"/>
              </a:rPr>
              <a:t>Use truthful empty states and computed metrics</a:t>
            </a:r>
          </a:p>
        </p:txBody>
      </p:sp>
      <p:sp>
        <p:nvSpPr>
          <p:cNvPr id="14" name="Rectangle 13">
            <a:extLst>
              <a:ext uri="{FF2B5EF4-FFF2-40B4-BE49-F238E27FC236}">
                <a16:creationId xmlns:a16="http://schemas.microsoft.com/office/drawing/2014/main" id="{CFB0EF3C-F813-4751-9917-772C071F3936}"/>
              </a:ext>
            </a:extLst>
          </p:cNvPr>
          <p:cNvSpPr>
            <a:spLocks noGrp="1"/>
          </p:cNvSpPr>
          <p:nvPr/>
        </p:nvSpPr>
        <p:spPr>
          <a:xfrm>
            <a:off x="1009650" y="5474970"/>
            <a:ext cx="10120884" cy="365760"/>
          </a:xfrm>
          <a:prstGeom prst="rect">
            <a:avLst/>
          </a:prstGeom>
          <a:noFill/>
          <a:ln w="0">
            <a:noFill/>
          </a:ln>
        </p:spPr>
        <p:txBody>
          <a:bodyPr lIns="0" tIns="0" rIns="0" bIns="0" anchor="t"/>
          <a:lstStyle>
            <a:defPPr>
              <a:defRPr sz="1650" b="0">
                <a:solidFill>
                  <a:srgbClr val="64748B"/>
                </a:solidFill>
                <a:latin typeface="Calibri"/>
                <a:ea typeface="Calibri"/>
                <a:cs typeface="Calibri"/>
              </a:defRPr>
            </a:defPPr>
          </a:lstStyle>
          <a:p>
            <a:pPr>
              <a:buNone/>
              <a:defRPr sz="1650" b="0">
                <a:solidFill>
                  <a:srgbClr val="64748B"/>
                </a:solidFill>
                <a:latin typeface="Calibri"/>
                <a:ea typeface="Calibri"/>
                <a:cs typeface="Calibri"/>
              </a:defRPr>
            </a:pPr>
            <a:r>
              <a:rPr sz="1650" b="0">
                <a:solidFill>
                  <a:srgbClr val="64748B"/>
                </a:solidFill>
                <a:latin typeface="Calibri"/>
                <a:ea typeface="Calibri"/>
                <a:cs typeface="Calibri"/>
              </a:rPr>
              <a:t>Future capabilities require implementation and testing before they can be claimed.</a:t>
            </a:r>
          </a:p>
        </p:txBody>
      </p:sp>
    </p:spTree>
    <p:extLst>
      <p:ext uri="{BB962C8B-B14F-4D97-AF65-F5344CB8AC3E}">
        <p14:creationId xmlns:p14="http://schemas.microsoft.com/office/powerpoint/2010/main" val="9663783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984FE9A-26D3-4700-AD30-F600543E045E}"/>
              </a:ext>
            </a:extLst>
          </p:cNvPr>
          <p:cNvPicPr>
            <a:picLocks noChangeAspect="1"/>
          </p:cNvPicPr>
          <p:nvPr/>
        </p:nvPicPr>
        <p:blipFill>
          <a:blip r:embed="rId3"/>
          <a:stretch/>
        </p:blipFill>
        <p:spPr>
          <a:xfrm>
            <a:off x="0" y="0"/>
            <a:ext cx="12192000" cy="6858000"/>
          </a:xfrm>
          <a:prstGeom prst="rect">
            <a:avLst/>
          </a:prstGeom>
        </p:spPr>
      </p:pic>
      <p:sp>
        <p:nvSpPr>
          <p:cNvPr id="9" name="Rectangle 8">
            <a:extLst>
              <a:ext uri="{FF2B5EF4-FFF2-40B4-BE49-F238E27FC236}">
                <a16:creationId xmlns:a16="http://schemas.microsoft.com/office/drawing/2014/main" id="{234447E4-E55A-4FE6-B81B-5327C8DE217A}"/>
              </a:ext>
            </a:extLst>
          </p:cNvPr>
          <p:cNvSpPr>
            <a:spLocks noGrp="1"/>
          </p:cNvSpPr>
          <p:nvPr/>
        </p:nvSpPr>
        <p:spPr>
          <a:xfrm>
            <a:off x="1009650" y="1190625"/>
            <a:ext cx="10287000" cy="638175"/>
          </a:xfrm>
          <a:prstGeom prst="rect">
            <a:avLst/>
          </a:prstGeom>
          <a:noFill/>
          <a:ln w="0">
            <a:noFill/>
          </a:ln>
        </p:spPr>
        <p:txBody>
          <a:bodyPr lIns="0" tIns="0" rIns="0" bIns="0" anchor="t"/>
          <a:lstStyle>
            <a:defPPr>
              <a:defRPr sz="3400" b="1">
                <a:solidFill>
                  <a:srgbClr val="A32530"/>
                </a:solidFill>
                <a:latin typeface="Cambria"/>
                <a:ea typeface="Cambria"/>
                <a:cs typeface="Cambria"/>
              </a:defRPr>
            </a:defPPr>
          </a:lstStyle>
          <a:p>
            <a:pPr>
              <a:buNone/>
              <a:defRPr sz="3400" b="1">
                <a:solidFill>
                  <a:srgbClr val="A32530"/>
                </a:solidFill>
                <a:latin typeface="Cambria"/>
                <a:ea typeface="Cambria"/>
                <a:cs typeface="Cambria"/>
              </a:defRPr>
            </a:pPr>
            <a:r>
              <a:rPr sz="3400" b="1">
                <a:solidFill>
                  <a:srgbClr val="A32530"/>
                </a:solidFill>
                <a:latin typeface="Cambria"/>
                <a:ea typeface="Cambria"/>
                <a:cs typeface="Cambria"/>
              </a:rPr>
              <a:t>Conclusion</a:t>
            </a:r>
          </a:p>
        </p:txBody>
      </p:sp>
      <p:sp>
        <p:nvSpPr>
          <p:cNvPr id="2" name="Rectangle 1">
            <a:extLst>
              <a:ext uri="{FF2B5EF4-FFF2-40B4-BE49-F238E27FC236}">
                <a16:creationId xmlns:a16="http://schemas.microsoft.com/office/drawing/2014/main" id="{99B5EDA3-9773-41A8-9867-09DC2E10D959}"/>
              </a:ext>
            </a:extLst>
          </p:cNvPr>
          <p:cNvSpPr>
            <a:spLocks noGrp="1"/>
          </p:cNvSpPr>
          <p:nvPr/>
        </p:nvSpPr>
        <p:spPr>
          <a:xfrm>
            <a:off x="1009650" y="6086475"/>
            <a:ext cx="9048750" cy="209550"/>
          </a:xfrm>
          <a:prstGeom prst="rect">
            <a:avLst/>
          </a:prstGeom>
          <a:noFill/>
          <a:ln w="0">
            <a:noFill/>
          </a:ln>
        </p:spPr>
        <p:txBody>
          <a:bodyPr lIns="0" tIns="0" rIns="0" bIns="0" anchor="t"/>
          <a:lstStyle>
            <a:defPPr>
              <a:defRPr sz="1050" b="0">
                <a:solidFill>
                  <a:srgbClr val="64748B"/>
                </a:solidFill>
                <a:latin typeface="Calibri"/>
                <a:ea typeface="Calibri"/>
                <a:cs typeface="Calibri"/>
              </a:defRPr>
            </a:defPPr>
          </a:lstStyle>
          <a:p>
            <a:pPr>
              <a:buNone/>
              <a:defRPr sz="1050" b="0">
                <a:solidFill>
                  <a:srgbClr val="64748B"/>
                </a:solidFill>
                <a:latin typeface="Calibri"/>
                <a:ea typeface="Calibri"/>
                <a:cs typeface="Calibri"/>
              </a:defRPr>
            </a:pPr>
            <a:r>
              <a:rPr sz="1050" b="0" dirty="0" err="1">
                <a:solidFill>
                  <a:srgbClr val="64748B"/>
                </a:solidFill>
                <a:latin typeface="Calibri"/>
                <a:ea typeface="Calibri"/>
                <a:cs typeface="Calibri"/>
              </a:rPr>
              <a:t>UroScan</a:t>
            </a:r>
            <a:r>
              <a:rPr sz="1050" b="0" dirty="0">
                <a:solidFill>
                  <a:srgbClr val="64748B"/>
                </a:solidFill>
                <a:latin typeface="Calibri"/>
                <a:ea typeface="Calibri"/>
                <a:cs typeface="Calibri"/>
              </a:rPr>
              <a:t> AI  /  </a:t>
            </a:r>
            <a:r>
              <a:rPr lang="en-IN" sz="1050" b="0" dirty="0">
                <a:solidFill>
                  <a:srgbClr val="64748B"/>
                </a:solidFill>
                <a:latin typeface="Calibri"/>
                <a:ea typeface="Calibri"/>
                <a:cs typeface="Calibri"/>
              </a:rPr>
              <a:t>Healthcare Group 3</a:t>
            </a:r>
            <a:endParaRPr sz="1050" b="0" dirty="0">
              <a:solidFill>
                <a:srgbClr val="64748B"/>
              </a:solidFill>
              <a:latin typeface="Calibri"/>
              <a:ea typeface="Calibri"/>
              <a:cs typeface="Calibri"/>
            </a:endParaRPr>
          </a:p>
        </p:txBody>
      </p:sp>
      <p:sp>
        <p:nvSpPr>
          <p:cNvPr id="3" name="Rectangle 2">
            <a:extLst>
              <a:ext uri="{FF2B5EF4-FFF2-40B4-BE49-F238E27FC236}">
                <a16:creationId xmlns:a16="http://schemas.microsoft.com/office/drawing/2014/main" id="{90B89D38-F466-477F-9567-559CF0903927}"/>
              </a:ext>
            </a:extLst>
          </p:cNvPr>
          <p:cNvSpPr>
            <a:spLocks noGrp="1"/>
          </p:cNvSpPr>
          <p:nvPr/>
        </p:nvSpPr>
        <p:spPr>
          <a:xfrm>
            <a:off x="10810875" y="6086475"/>
            <a:ext cx="361950" cy="209550"/>
          </a:xfrm>
          <a:prstGeom prst="rect">
            <a:avLst/>
          </a:prstGeom>
          <a:noFill/>
          <a:ln w="0">
            <a:noFill/>
          </a:ln>
        </p:spPr>
        <p:txBody>
          <a:bodyPr lIns="0" tIns="0" rIns="0" bIns="0" anchor="t"/>
          <a:lstStyle>
            <a:defPPr>
              <a:defRPr sz="1200" b="1">
                <a:solidFill>
                  <a:srgbClr val="A32530"/>
                </a:solidFill>
                <a:latin typeface="Calibri"/>
                <a:ea typeface="Calibri"/>
                <a:cs typeface="Calibri"/>
              </a:defRPr>
            </a:defPPr>
          </a:lstStyle>
          <a:p>
            <a:pPr>
              <a:buNone/>
              <a:defRPr sz="1200" b="1">
                <a:solidFill>
                  <a:srgbClr val="A32530"/>
                </a:solidFill>
                <a:latin typeface="Calibri"/>
                <a:ea typeface="Calibri"/>
                <a:cs typeface="Calibri"/>
              </a:defRPr>
            </a:pPr>
            <a:r>
              <a:rPr sz="1200" b="1">
                <a:solidFill>
                  <a:srgbClr val="A32530"/>
                </a:solidFill>
                <a:latin typeface="Calibri"/>
                <a:ea typeface="Calibri"/>
                <a:cs typeface="Calibri"/>
              </a:rPr>
              <a:t>15</a:t>
            </a:r>
          </a:p>
        </p:txBody>
      </p:sp>
      <p:sp>
        <p:nvSpPr>
          <p:cNvPr id="4" name="Rectangle 3">
            <a:extLst>
              <a:ext uri="{FF2B5EF4-FFF2-40B4-BE49-F238E27FC236}">
                <a16:creationId xmlns:a16="http://schemas.microsoft.com/office/drawing/2014/main" id="{35E28E01-30A6-4A72-A169-0FBF9A3F7341}"/>
              </a:ext>
            </a:extLst>
          </p:cNvPr>
          <p:cNvSpPr>
            <a:spLocks noGrp="1"/>
          </p:cNvSpPr>
          <p:nvPr/>
        </p:nvSpPr>
        <p:spPr>
          <a:xfrm>
            <a:off x="1009650" y="2153869"/>
            <a:ext cx="10120884" cy="555955"/>
          </a:xfrm>
          <a:prstGeom prst="rect">
            <a:avLst/>
          </a:prstGeom>
          <a:noFill/>
          <a:ln w="0">
            <a:noFill/>
          </a:ln>
        </p:spPr>
        <p:txBody>
          <a:bodyPr lIns="0" tIns="0" rIns="0" bIns="0" anchor="t"/>
          <a:lstStyle>
            <a:defPPr>
              <a:defRPr sz="2838" b="1">
                <a:solidFill>
                  <a:srgbClr val="A32530"/>
                </a:solidFill>
                <a:latin typeface="Calibri"/>
                <a:ea typeface="Calibri"/>
                <a:cs typeface="Calibri"/>
              </a:defRPr>
            </a:defPPr>
          </a:lstStyle>
          <a:p>
            <a:pPr>
              <a:buNone/>
              <a:defRPr sz="2838" b="1">
                <a:solidFill>
                  <a:srgbClr val="A32530"/>
                </a:solidFill>
                <a:latin typeface="Calibri"/>
                <a:ea typeface="Calibri"/>
                <a:cs typeface="Calibri"/>
              </a:defRPr>
            </a:pPr>
            <a:r>
              <a:rPr sz="2838" b="1">
                <a:solidFill>
                  <a:srgbClr val="A32530"/>
                </a:solidFill>
                <a:latin typeface="Calibri"/>
                <a:ea typeface="Calibri"/>
                <a:cs typeface="Calibri"/>
              </a:rPr>
              <a:t>A connected patient-to-report workflow</a:t>
            </a:r>
          </a:p>
        </p:txBody>
      </p:sp>
      <p:sp>
        <p:nvSpPr>
          <p:cNvPr id="5" name="Rectangle 4">
            <a:extLst>
              <a:ext uri="{FF2B5EF4-FFF2-40B4-BE49-F238E27FC236}">
                <a16:creationId xmlns:a16="http://schemas.microsoft.com/office/drawing/2014/main" id="{C1AA8DA2-F7B1-4580-9AD5-353E8313F46C}"/>
              </a:ext>
            </a:extLst>
          </p:cNvPr>
          <p:cNvSpPr>
            <a:spLocks noGrp="1"/>
          </p:cNvSpPr>
          <p:nvPr/>
        </p:nvSpPr>
        <p:spPr>
          <a:xfrm>
            <a:off x="1009650" y="2958541"/>
            <a:ext cx="9859137" cy="892454"/>
          </a:xfrm>
          <a:prstGeom prst="rect">
            <a:avLst/>
          </a:prstGeom>
          <a:noFill/>
          <a:ln w="0">
            <a:noFill/>
          </a:ln>
        </p:spPr>
        <p:txBody>
          <a:bodyPr lIns="0" tIns="0" rIns="0" bIns="0" anchor="t"/>
          <a:lstStyle>
            <a:defPPr>
              <a:defRPr sz="2244" b="0">
                <a:solidFill>
                  <a:srgbClr val="1F2937"/>
                </a:solidFill>
                <a:latin typeface="Calibri"/>
                <a:ea typeface="Calibri"/>
                <a:cs typeface="Calibri"/>
              </a:defRPr>
            </a:defPPr>
          </a:lstStyle>
          <a:p>
            <a:pPr>
              <a:buNone/>
              <a:defRPr sz="2244" b="0">
                <a:solidFill>
                  <a:srgbClr val="1F2937"/>
                </a:solidFill>
                <a:latin typeface="Calibri"/>
                <a:ea typeface="Calibri"/>
                <a:cs typeface="Calibri"/>
              </a:defRPr>
            </a:pPr>
            <a:r>
              <a:rPr sz="2244" b="0" dirty="0">
                <a:solidFill>
                  <a:srgbClr val="1F2937"/>
                </a:solidFill>
                <a:latin typeface="Calibri"/>
                <a:ea typeface="Calibri"/>
                <a:cs typeface="Calibri"/>
              </a:rPr>
              <a:t>The project demonstrates patient records, test simulation, result display and local reporting in a browser.</a:t>
            </a:r>
          </a:p>
        </p:txBody>
      </p:sp>
      <p:sp>
        <p:nvSpPr>
          <p:cNvPr id="6" name="Rectangle 5">
            <a:extLst>
              <a:ext uri="{FF2B5EF4-FFF2-40B4-BE49-F238E27FC236}">
                <a16:creationId xmlns:a16="http://schemas.microsoft.com/office/drawing/2014/main" id="{981C50DA-CFE6-43ED-AF77-F68D7F4979F7}"/>
              </a:ext>
            </a:extLst>
          </p:cNvPr>
          <p:cNvSpPr>
            <a:spLocks noGrp="1"/>
          </p:cNvSpPr>
          <p:nvPr/>
        </p:nvSpPr>
        <p:spPr>
          <a:xfrm>
            <a:off x="1009650" y="3726637"/>
            <a:ext cx="9597390" cy="329184"/>
          </a:xfrm>
          <a:prstGeom prst="rect">
            <a:avLst/>
          </a:prstGeom>
          <a:noFill/>
          <a:ln w="0">
            <a:noFill/>
          </a:ln>
        </p:spPr>
        <p:txBody>
          <a:bodyPr lIns="0" tIns="0" rIns="0" bIns="0" anchor="t"/>
          <a:lstStyle>
            <a:defPPr>
              <a:defRPr sz="1914" b="1">
                <a:solidFill>
                  <a:srgbClr val="A32530"/>
                </a:solidFill>
                <a:latin typeface="Calibri"/>
                <a:ea typeface="Calibri"/>
                <a:cs typeface="Calibri"/>
              </a:defRPr>
            </a:defPPr>
          </a:lstStyle>
          <a:p>
            <a:pPr>
              <a:buNone/>
              <a:defRPr sz="1914" b="1">
                <a:solidFill>
                  <a:srgbClr val="A32530"/>
                </a:solidFill>
                <a:latin typeface="Calibri"/>
                <a:ea typeface="Calibri"/>
                <a:cs typeface="Calibri"/>
              </a:defRPr>
            </a:pPr>
            <a:r>
              <a:rPr sz="1914" b="1" dirty="0">
                <a:solidFill>
                  <a:srgbClr val="A32530"/>
                </a:solidFill>
                <a:latin typeface="Calibri"/>
                <a:ea typeface="Calibri"/>
                <a:cs typeface="Calibri"/>
              </a:rPr>
              <a:t>The technical learning</a:t>
            </a:r>
          </a:p>
        </p:txBody>
      </p:sp>
      <p:sp>
        <p:nvSpPr>
          <p:cNvPr id="7" name="Rectangle 6">
            <a:extLst>
              <a:ext uri="{FF2B5EF4-FFF2-40B4-BE49-F238E27FC236}">
                <a16:creationId xmlns:a16="http://schemas.microsoft.com/office/drawing/2014/main" id="{F2971A05-4F9F-413A-9C77-C318EB370074}"/>
              </a:ext>
            </a:extLst>
          </p:cNvPr>
          <p:cNvSpPr>
            <a:spLocks noGrp="1"/>
          </p:cNvSpPr>
          <p:nvPr/>
        </p:nvSpPr>
        <p:spPr>
          <a:xfrm>
            <a:off x="1009650" y="4015588"/>
            <a:ext cx="9859137" cy="621792"/>
          </a:xfrm>
          <a:prstGeom prst="rect">
            <a:avLst/>
          </a:prstGeom>
          <a:noFill/>
          <a:ln w="0">
            <a:noFill/>
          </a:ln>
        </p:spPr>
        <p:txBody>
          <a:bodyPr lIns="0" tIns="0" rIns="0" bIns="0" anchor="t"/>
          <a:lstStyle>
            <a:defPPr>
              <a:defRPr sz="1980" b="0">
                <a:solidFill>
                  <a:srgbClr val="1F2937"/>
                </a:solidFill>
                <a:latin typeface="Calibri"/>
                <a:ea typeface="Calibri"/>
                <a:cs typeface="Calibri"/>
              </a:defRPr>
            </a:defPPr>
          </a:lstStyle>
          <a:p>
            <a:pPr>
              <a:buNone/>
              <a:defRPr sz="1980" b="0">
                <a:solidFill>
                  <a:srgbClr val="1F2937"/>
                </a:solidFill>
                <a:latin typeface="Calibri"/>
                <a:ea typeface="Calibri"/>
                <a:cs typeface="Calibri"/>
              </a:defRPr>
            </a:pPr>
            <a:r>
              <a:rPr sz="1980" b="0" dirty="0">
                <a:solidFill>
                  <a:srgbClr val="1F2937"/>
                </a:solidFill>
                <a:latin typeface="Calibri"/>
                <a:ea typeface="Calibri"/>
                <a:cs typeface="Calibri"/>
              </a:rPr>
              <a:t>Page structure, interface styling, event handling and persistent local data</a:t>
            </a:r>
          </a:p>
        </p:txBody>
      </p:sp>
      <p:grpSp>
        <p:nvGrpSpPr>
          <p:cNvPr id="13" name="Group 12">
            <a:extLst>
              <a:ext uri="{FF2B5EF4-FFF2-40B4-BE49-F238E27FC236}">
                <a16:creationId xmlns:a16="http://schemas.microsoft.com/office/drawing/2014/main" id="{CB09FB87-7DF1-2F29-3D60-80E7E359EACB}"/>
              </a:ext>
            </a:extLst>
          </p:cNvPr>
          <p:cNvGrpSpPr/>
          <p:nvPr/>
        </p:nvGrpSpPr>
        <p:grpSpPr>
          <a:xfrm>
            <a:off x="3073401" y="5155168"/>
            <a:ext cx="6473866" cy="369332"/>
            <a:chOff x="880534" y="4681270"/>
            <a:chExt cx="6473866" cy="369332"/>
          </a:xfrm>
        </p:grpSpPr>
        <p:sp>
          <p:nvSpPr>
            <p:cNvPr id="11" name="TextBox 10">
              <a:extLst>
                <a:ext uri="{FF2B5EF4-FFF2-40B4-BE49-F238E27FC236}">
                  <a16:creationId xmlns:a16="http://schemas.microsoft.com/office/drawing/2014/main" id="{C0FE6155-F751-8341-4DCC-CFE234353FCB}"/>
                </a:ext>
              </a:extLst>
            </p:cNvPr>
            <p:cNvSpPr txBox="1"/>
            <p:nvPr/>
          </p:nvSpPr>
          <p:spPr>
            <a:xfrm>
              <a:off x="1998133" y="4681270"/>
              <a:ext cx="5356267" cy="369332"/>
            </a:xfrm>
            <a:prstGeom prst="rect">
              <a:avLst/>
            </a:prstGeom>
            <a:noFill/>
          </p:spPr>
          <p:txBody>
            <a:bodyPr wrap="square" rtlCol="0">
              <a:spAutoFit/>
            </a:bodyPr>
            <a:lstStyle/>
            <a:p>
              <a:r>
                <a:rPr lang="en-IN" dirty="0">
                  <a:hlinkClick r:id="rId4"/>
                </a:rPr>
                <a:t>https://github.com/Asmit-64bit/Healthcare_grp_3</a:t>
              </a:r>
              <a:endParaRPr lang="en-IN" dirty="0"/>
            </a:p>
          </p:txBody>
        </p:sp>
        <p:sp>
          <p:nvSpPr>
            <p:cNvPr id="12" name="TextBox 11">
              <a:extLst>
                <a:ext uri="{FF2B5EF4-FFF2-40B4-BE49-F238E27FC236}">
                  <a16:creationId xmlns:a16="http://schemas.microsoft.com/office/drawing/2014/main" id="{D58703EC-07D7-D649-D47D-25C49561C43B}"/>
                </a:ext>
              </a:extLst>
            </p:cNvPr>
            <p:cNvSpPr txBox="1"/>
            <p:nvPr/>
          </p:nvSpPr>
          <p:spPr>
            <a:xfrm>
              <a:off x="880534" y="4681270"/>
              <a:ext cx="1223412" cy="369332"/>
            </a:xfrm>
            <a:prstGeom prst="rect">
              <a:avLst/>
            </a:prstGeom>
            <a:noFill/>
          </p:spPr>
          <p:txBody>
            <a:bodyPr wrap="none" rtlCol="0">
              <a:spAutoFit/>
            </a:bodyPr>
            <a:lstStyle/>
            <a:p>
              <a:r>
                <a:rPr lang="en-US" dirty="0"/>
                <a:t>Repo Link:</a:t>
              </a:r>
              <a:endParaRPr lang="en-IN" dirty="0"/>
            </a:p>
          </p:txBody>
        </p:sp>
      </p:grpSp>
    </p:spTree>
    <p:extLst>
      <p:ext uri="{BB962C8B-B14F-4D97-AF65-F5344CB8AC3E}">
        <p14:creationId xmlns:p14="http://schemas.microsoft.com/office/powerpoint/2010/main" val="283595227"/>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150</TotalTime>
  <Words>2571</Words>
  <Application>Microsoft Office PowerPoint</Application>
  <DocSecurity>0</DocSecurity>
  <PresentationFormat>Widescreen</PresentationFormat>
  <Paragraphs>221</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Aptos</vt:lpstr>
      <vt:lpstr>Calibri</vt:lpstr>
      <vt:lpstr>Cambria</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Asmit Samanta</cp:lastModifiedBy>
  <cp:revision>2</cp:revision>
  <dcterms:created xsi:type="dcterms:W3CDTF">2026-10-14T02:38:05Z</dcterms:created>
  <dcterms:modified xsi:type="dcterms:W3CDTF">2026-10-14T06:13:23Z</dcterms:modified>
</cp:coreProperties>
</file>